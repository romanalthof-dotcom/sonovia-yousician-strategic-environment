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971a269d9f4f1f" /><Relationship Type="http://schemas.openxmlformats.org/officeDocument/2006/relationships/extended-properties" Target="/docProps/app.xml" Id="Rbdf2b64232af4a54" /><Relationship Type="http://schemas.openxmlformats.org/officeDocument/2006/relationships/officeDocument" Target="/ppt/presentation.xml" Id="R8a68ce205e364a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82361f9f0c40eb"/>
  </p:sldMasterIdLst>
  <p:notesMasterIdLst>
    <p:notesMasterId xmlns:r="http://schemas.openxmlformats.org/officeDocument/2006/relationships" r:id="Rb565b70026994a2e"/>
  </p:notesMasterIdLst>
  <p:sldIdLst>
    <p:sldId xmlns:r="http://schemas.openxmlformats.org/officeDocument/2006/relationships" id="256" r:id="Re4df76fefe824dae"/>
    <p:sldId xmlns:r="http://schemas.openxmlformats.org/officeDocument/2006/relationships" id="257" r:id="R88ec7a7916444759"/>
    <p:sldId xmlns:r="http://schemas.openxmlformats.org/officeDocument/2006/relationships" id="258" r:id="Rc881b6363d794b8b"/>
    <p:sldId xmlns:r="http://schemas.openxmlformats.org/officeDocument/2006/relationships" id="259" r:id="R4e3670811ab948dc"/>
    <p:sldId xmlns:r="http://schemas.openxmlformats.org/officeDocument/2006/relationships" id="260" r:id="Ra021c7edf5f44be9"/>
    <p:sldId xmlns:r="http://schemas.openxmlformats.org/officeDocument/2006/relationships" id="261" r:id="Rc1bab60755b34383"/>
    <p:sldId xmlns:r="http://schemas.openxmlformats.org/officeDocument/2006/relationships" id="262" r:id="Rb2d149d517fe44ba"/>
    <p:sldId xmlns:r="http://schemas.openxmlformats.org/officeDocument/2006/relationships" id="263" r:id="R0cabe78d0c604b42"/>
    <p:sldId xmlns:r="http://schemas.openxmlformats.org/officeDocument/2006/relationships" id="264" r:id="R77116540815142ca"/>
    <p:sldId xmlns:r="http://schemas.openxmlformats.org/officeDocument/2006/relationships" id="265" r:id="R2f1c94786b1b4836"/>
    <p:sldId xmlns:r="http://schemas.openxmlformats.org/officeDocument/2006/relationships" id="266" r:id="Rb883f300c1f24d61"/>
    <p:sldId xmlns:r="http://schemas.openxmlformats.org/officeDocument/2006/relationships" id="267" r:id="Ra1267822986248e3"/>
    <p:sldId xmlns:r="http://schemas.openxmlformats.org/officeDocument/2006/relationships" id="268" r:id="Rf5ffd8f9a05848c2"/>
    <p:sldId xmlns:r="http://schemas.openxmlformats.org/officeDocument/2006/relationships" id="269" r:id="R9d225f7fb80b49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1a681ba134470f" /><Relationship Type="http://schemas.openxmlformats.org/officeDocument/2006/relationships/slideMaster" Target="/ppt/slideMasters/slideMaster1.xml" Id="R7482361f9f0c40eb" /><Relationship Type="http://schemas.openxmlformats.org/officeDocument/2006/relationships/notesMaster" Target="/ppt/notesMasters/notesMaster1.xml" Id="Rb565b70026994a2e" /><Relationship Type="http://schemas.openxmlformats.org/officeDocument/2006/relationships/presProps" Target="/ppt/presProps.xml" Id="R1ecb7a9bf1b54b4c" /><Relationship Type="http://schemas.openxmlformats.org/officeDocument/2006/relationships/viewProps" Target="/ppt/viewProps.xml" Id="R1dc6123f8d654401" /><Relationship Type="http://schemas.openxmlformats.org/officeDocument/2006/relationships/tableStyles" Target="/ppt/tableStyles.xml" Id="R56d19f2d81b9448f" /><Relationship Type="http://schemas.openxmlformats.org/officeDocument/2006/relationships/slide" Target="/ppt/slides/slide1.xml" Id="Re4df76fefe824dae" /><Relationship Type="http://schemas.openxmlformats.org/officeDocument/2006/relationships/slide" Target="/ppt/slides/slide2.xml" Id="R88ec7a7916444759" /><Relationship Type="http://schemas.openxmlformats.org/officeDocument/2006/relationships/slide" Target="/ppt/slides/slide3.xml" Id="Rc881b6363d794b8b" /><Relationship Type="http://schemas.openxmlformats.org/officeDocument/2006/relationships/slide" Target="/ppt/slides/slide4.xml" Id="R4e3670811ab948dc" /><Relationship Type="http://schemas.openxmlformats.org/officeDocument/2006/relationships/slide" Target="/ppt/slides/slide5.xml" Id="Ra021c7edf5f44be9" /><Relationship Type="http://schemas.openxmlformats.org/officeDocument/2006/relationships/slide" Target="/ppt/slides/slide6.xml" Id="Rc1bab60755b34383" /><Relationship Type="http://schemas.openxmlformats.org/officeDocument/2006/relationships/slide" Target="/ppt/slides/slide7.xml" Id="Rb2d149d517fe44ba" /><Relationship Type="http://schemas.openxmlformats.org/officeDocument/2006/relationships/slide" Target="/ppt/slides/slide8.xml" Id="R0cabe78d0c604b42" /><Relationship Type="http://schemas.openxmlformats.org/officeDocument/2006/relationships/slide" Target="/ppt/slides/slide9.xml" Id="R77116540815142ca" /><Relationship Type="http://schemas.openxmlformats.org/officeDocument/2006/relationships/slide" Target="/ppt/slides/slide10.xml" Id="R2f1c94786b1b4836" /><Relationship Type="http://schemas.openxmlformats.org/officeDocument/2006/relationships/slide" Target="/ppt/slides/slide11.xml" Id="Rb883f300c1f24d61" /><Relationship Type="http://schemas.openxmlformats.org/officeDocument/2006/relationships/slide" Target="/ppt/slides/slide12.xml" Id="Ra1267822986248e3" /><Relationship Type="http://schemas.openxmlformats.org/officeDocument/2006/relationships/slide" Target="/ppt/slides/slide13.xml" Id="Rf5ffd8f9a05848c2" /><Relationship Type="http://schemas.openxmlformats.org/officeDocument/2006/relationships/slide" Target="/ppt/slides/slide14.xml" Id="R9d225f7fb80b49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a75280020548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f8af116cda4d6f" /><Relationship Type="http://schemas.openxmlformats.org/officeDocument/2006/relationships/notesMaster" Target="/ppt/notesMasters/notesMaster1.xml" Id="R332046ce327f47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380b649af34671" /><Relationship Type="http://schemas.openxmlformats.org/officeDocument/2006/relationships/notesMaster" Target="/ppt/notesMasters/notesMaster1.xml" Id="Rc54a8584413745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8c8e4d21fd4a31" /><Relationship Type="http://schemas.openxmlformats.org/officeDocument/2006/relationships/notesMaster" Target="/ppt/notesMasters/notesMaster1.xml" Id="R455e40b195d349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eacf1780744226" /><Relationship Type="http://schemas.openxmlformats.org/officeDocument/2006/relationships/notesMaster" Target="/ppt/notesMasters/notesMaster1.xml" Id="R8326a263ddeb4a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4b9958141640dc" /><Relationship Type="http://schemas.openxmlformats.org/officeDocument/2006/relationships/notesMaster" Target="/ppt/notesMasters/notesMaster1.xml" Id="Rd92ff2752ac049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54d10d06084d1b" /><Relationship Type="http://schemas.openxmlformats.org/officeDocument/2006/relationships/notesMaster" Target="/ppt/notesMasters/notesMaster1.xml" Id="R7ddb6e8ac7d643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030a6114424e1d" /><Relationship Type="http://schemas.openxmlformats.org/officeDocument/2006/relationships/notesMaster" Target="/ppt/notesMasters/notesMaster1.xml" Id="R2fbacfa107d642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6c547b136f4083" /><Relationship Type="http://schemas.openxmlformats.org/officeDocument/2006/relationships/notesMaster" Target="/ppt/notesMasters/notesMaster1.xml" Id="R91de84637c3d45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ca418ea60b42a8" /><Relationship Type="http://schemas.openxmlformats.org/officeDocument/2006/relationships/notesMaster" Target="/ppt/notesMasters/notesMaster1.xml" Id="R88397ae8776848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351265b2324bda" /><Relationship Type="http://schemas.openxmlformats.org/officeDocument/2006/relationships/notesMaster" Target="/ppt/notesMasters/notesMaster1.xml" Id="Rd209b3c2613047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6a5f7d786c435d" /><Relationship Type="http://schemas.openxmlformats.org/officeDocument/2006/relationships/notesMaster" Target="/ppt/notesMasters/notesMaster1.xml" Id="R38a76f7c0f2243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2e7e459b5c43c3" /><Relationship Type="http://schemas.openxmlformats.org/officeDocument/2006/relationships/notesMaster" Target="/ppt/notesMasters/notesMaster1.xml" Id="R71ea68e2ac7746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e97bb82a0d4370" /><Relationship Type="http://schemas.openxmlformats.org/officeDocument/2006/relationships/notesMaster" Target="/ppt/notesMasters/notesMaster1.xml" Id="Rbdaa5555740a4a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ab684110bc424d" /><Relationship Type="http://schemas.openxmlformats.org/officeDocument/2006/relationships/notesMaster" Target="/ppt/notesMasters/notesMaster1.xml" Id="R8c18a4bf897a4d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64edcfbc7b45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90a29710ed45db" /><Relationship Type="http://schemas.openxmlformats.org/officeDocument/2006/relationships/slideLayout" Target="/ppt/slideLayouts/slideLayout1.xml" Id="R00a474c7b9b544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a474c7b9b544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0c00382464edf" /><Relationship Type="http://schemas.openxmlformats.org/officeDocument/2006/relationships/notesSlide" Target="/ppt/notesSlides/notesSlide1.xml" Id="R2c680f2ac5bc43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31c0964db4dde" /><Relationship Type="http://schemas.openxmlformats.org/officeDocument/2006/relationships/notesSlide" Target="/ppt/notesSlides/notesSlide2.xml" Id="R3274e4b4b9b24d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bbaf0ef6f44a3" /><Relationship Type="http://schemas.openxmlformats.org/officeDocument/2006/relationships/notesSlide" Target="/ppt/notesSlides/notesSlide3.xml" Id="R881075ac1bbc4d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e788c1b834c63" /><Relationship Type="http://schemas.openxmlformats.org/officeDocument/2006/relationships/notesSlide" Target="/ppt/notesSlides/notesSlide4.xml" Id="R879510f196bd46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2888241bd422c" /><Relationship Type="http://schemas.openxmlformats.org/officeDocument/2006/relationships/notesSlide" Target="/ppt/notesSlides/notesSlide5.xml" Id="Rffa77504753f40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13a2b77154e5d" /><Relationship Type="http://schemas.openxmlformats.org/officeDocument/2006/relationships/notesSlide" Target="/ppt/notesSlides/notesSlide6.xml" Id="Rcad3be011dad45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a41b6c7dd4c94" /><Relationship Type="http://schemas.openxmlformats.org/officeDocument/2006/relationships/notesSlide" Target="/ppt/notesSlides/notesSlide7.xml" Id="R8954a2f7836940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be32e33a64d07" /><Relationship Type="http://schemas.openxmlformats.org/officeDocument/2006/relationships/notesSlide" Target="/ppt/notesSlides/notesSlide8.xml" Id="R0da74d828acf43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b017fb50d4a88" /><Relationship Type="http://schemas.openxmlformats.org/officeDocument/2006/relationships/notesSlide" Target="/ppt/notesSlides/notesSlide9.xml" Id="R670d3084307a47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98da2d08e49e0" /><Relationship Type="http://schemas.openxmlformats.org/officeDocument/2006/relationships/notesSlide" Target="/ppt/notesSlides/notesSlide10.xml" Id="R8a4cc3b9b6ba43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4a89d504b43d9" /><Relationship Type="http://schemas.openxmlformats.org/officeDocument/2006/relationships/notesSlide" Target="/ppt/notesSlides/notesSlide11.xml" Id="Rc2562730360c49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4d5cd899d4289" /><Relationship Type="http://schemas.openxmlformats.org/officeDocument/2006/relationships/notesSlide" Target="/ppt/notesSlides/notesSlide12.xml" Id="Rd786c84d5c8449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42f5aafdf4619" /><Relationship Type="http://schemas.openxmlformats.org/officeDocument/2006/relationships/notesSlide" Target="/ppt/notesSlides/notesSlide13.xml" Id="R4f2fd886bc5e41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34de8017e4c4f" /><Relationship Type="http://schemas.openxmlformats.org/officeDocument/2006/relationships/notesSlide" Target="/ppt/notesSlides/notesSlide14.xml" Id="Rc69d02ea62ba4b8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5D7CC4-B43C-4778-AE33-C242064A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5DCF6-F00A-420D-A95B-E9068D86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9C087-D86E-4609-B308-737FA722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F713D-2C10-4F25-BE00-AC678F7C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ADF9D-0230-4F06-8D51-6CCD1D9A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DEF38-DD20-441D-B343-7021B182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B868F-16FA-4EBD-9B04-46626730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B7E47-2614-4C3E-A881-CC649BC9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65349-5445-4CA5-BF58-5D661E53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E6754-1BC1-44A4-94FD-BF0A0152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7C95E-6F7D-44B6-BC50-83485068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E360D-C9B4-4A51-84AE-AA6825C7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9E89F-1A73-4F88-8E3B-59F2C9EF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EXECUTIVE 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899DA-A481-48F9-A5A7-6CA3AF86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96587D-2695-401A-8208-67D6FE10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1619250"/>
            <a:ext cx="6000750" cy="600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A3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4DAFD-10ED-4A10-86CD-121FCD15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594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FAA4A-B00E-474A-8383-EC852447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77B6F-86D4-48EB-ACE6-0EC42CCB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1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BRIEF 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4DEBD-EB0C-4EC7-B411-2028C7F3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Strategic Environment Mapping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1A354-66C7-41E3-B96D-7A08071D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A sharper executive deck: who shapes music learning, who shapes music as a hobby, and which evidence gates still block Board-safe conclusions.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83A30C-53AE-4EEE-81F1-F81D4D0B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333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0D49A"/>
                </a:solidFill>
                <a:latin typeface="Aptos Display"/>
                <a:ea typeface="Aptos Display"/>
                <a:cs typeface="Aptos Display"/>
              </a:rPr>
              <a:t>Not a competitor list.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8F8B8-3C39-477B-8A86-FEBA23D4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An ecosystem view around Yousician.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124A99-BB2C-40D8-9EBD-DE631619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19CD7-E624-49A9-9AC8-B4F5AB14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C28D1-F140-4F6E-AC73-BA564C7D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tracked records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528E0-B2C5-410D-A03C-7823F253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1C0C78-64F0-422A-AC5B-0B2537B3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7EB594-DE71-4B81-9BA7-7FC09BF7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key-player profiles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CA4E3-96D1-46EA-8F48-BC7C44F2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E7FC5-EE3D-4BFE-B7F8-513A482A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C2D33D-0A96-499C-B205-344AED16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board-grade market moves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B4B2D0-5107-4F59-90F2-0D8589AA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815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AA2F65-73D5-4569-9284-BE121863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958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4A0206-4A87-475C-AD61-C2808897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387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4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 rows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7546C3-987B-4E25-8D67-89A2EE83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21717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513"/>
          </a:solidFill>
          <a:ln xmlns:a="http://schemas.openxmlformats.org/drawingml/2006/main" w="9525">
            <a:solidFill>
              <a:srgbClr val="3A62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F04B12-67E5-44CB-A060-6FDAA07E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727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Open the slides first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254ED0-92DB-431E-BE08-93F784E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0D7671-CEF0-4677-85B3-7F196937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6573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4D5C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C4D5CF"/>
                </a:solidFill>
                <a:latin typeface="Aptos"/>
                <a:ea typeface="Aptos"/>
                <a:cs typeface="Aptos"/>
              </a:rPr>
              <a:t>The report and workbook support the story; the slide deck should be the first experience.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89A687-B9ED-48C9-9DE0-E1440752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283B1D-A35A-4F1B-9652-992EA602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Prepared 2026-06-11. Appfigures, relationships and hard claims remain visible gates.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E0FBA6-3C4F-4E90-A4FB-573A24FA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8287882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A43FF3-5402-4775-8E22-63DF6B58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D48AA-45EB-4952-8FFB-340F8E2B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D0481-BBB3-4623-883C-1FFCCA54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6D530-0D9E-47D0-93DA-EB351A02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09D0B-20E6-4C1E-9112-8D8F3B64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78E33-6269-4FF6-B4D6-2797ACF2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5E0E8-6E47-419C-B501-023919E2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03625-542C-4D97-A6F1-D0AB6D3F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D077B-A593-4F57-805A-571281AE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1D708-88D9-4DF8-82DA-8A989F4D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3E5BB-E5C3-4793-AE32-90D481FB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36178-05BC-4B49-BDAB-C9ED7970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7DFF8-B7F6-46A7-A2C0-D08A9141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GUIDING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8D074-09CE-452C-990A-C55BC5A5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6ACFD-9416-429B-8245-8E899753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Answer the brief in three lines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3858C-9813-43C4-92E9-984B2FF0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Everything else should support these answers, not compete with them.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D156D-2861-49AD-BFBA-CAB8B9F6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9B3D9-DAC4-412A-BD06-927CC359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6E5D9-6D62-4AC9-97DB-D35C749E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D5B2E-6586-4364-9169-319C2B5D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8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331EE-7A72-4ADB-85ED-46345041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Direct learning apps, hardware-backed ecosystems, song/practice systems, AI feedback utilities, creator educators and education benchmarks.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F0AC2-EC08-447B-8D40-1A5C8AF3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46FEB-0FEA-42AB-8601-9D606D8E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0F716-D009-4C88-99AE-5D276EB8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2B79D1-C371-4E80-AA91-EDD60343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22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Future of music as a hobby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FF5BF-7E9F-44A1-973A-BF2B214A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song libraries, creator tools, artists/cultural moments, retailers and AI generation tools.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4F5CCD-5EEA-42D2-9593-2D3CED9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245C22-67BA-4E3F-9501-431932FD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086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9AE51-C7D7-4363-9C1E-2B829D05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5F78F2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5F78F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470331-9C30-4D16-94F8-07629949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Yousician's strategic environment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4F9EE-3EF6-4698-AD1C-264A749E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AI companies, rights owners, direct competitors, hardware brands, creators, publishers, investors, awards and education bodies.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6535F1-1BEA-4E1D-A354-B077EC4D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0DB76-586B-4C10-B2F8-0192A5D4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D8A4A8-BC59-4F61-B188-C0548BB5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853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Executive rule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05D17F-7924-4F96-AC1E-CA6F050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734050"/>
            <a:ext cx="853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Every slide after this should either answer one of these questions, prove the answer, or mark a validation gate.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296E03-C4AF-4EB3-9B5A-B56501AD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19AA7D-F93A-407F-A585-0AB52F89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brief requirements and executive synthesis layer.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9AF955-9632-4A7E-B548-1C7B2979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20533129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647391-92D6-4D4D-971D-99413524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4A50A-75D7-400D-8254-F9A3A3D4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9375A-AFF9-480A-B764-9F6C329A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2AE0C-4D0B-4566-B63B-EEA4C255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A19DE-1C47-42F4-83CB-D255874E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064E6-87FC-4E2A-9E43-1D0276D1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0965F-1689-4AD3-B796-30633EA9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D0D34-9BA0-42C2-8C02-21077413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EB747-D2D2-4245-8F00-17F93915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DFF45-06CC-4E3F-B575-61DFD909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FEED3-34BF-43BD-9115-BFC1DECB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72197-71D6-4239-8557-495FA1D4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7BD93-A3C6-4327-AF00-825EE024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ECOSYSTEM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1F8F6-2ABB-443F-B64F-8E131BFF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0E32F-67B2-453E-812D-04AF7164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learner is surrounded by influence layers before any app choice happens.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8E15B-786F-49C8-AFF0-0F7FAD9D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This is why the map must include creators, songs, hardware, education, AI, rights and funding.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627B5-78FF-4494-AD32-2C9F056F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375D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9A973-20EB-453E-A219-C48D4F36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2412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B25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ACDA7-8999-4651-B8A2-5C8B6B76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765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9525">
            <a:solidFill>
              <a:srgbClr val="284B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FA6CA-5571-40D3-B3CE-378A50C7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81400"/>
            <a:ext cx="1219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Yousician</a:t>
            </a:r>
          </a:p>
          <a:p xmlns:a="http://schemas.openxmlformats.org/drawingml/2006/main">
            <a:pPr algn="ctr">
              <a:defRPr sz="13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58052-F1F2-437A-98D5-7244FC3E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668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764A8-A24D-489D-B231-CF81E079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859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Direct learning and practice apps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5DE26-9BE6-4A1A-9936-E9AABBC6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ABF4D4-D3A4-48BF-8975-3603D126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Song and repertoire ownership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2760C-CAE9-462A-8D00-218911BB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E7FDCF-123E-4966-ACD7-17994B2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Hardware-backed beginner funnels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84549-4975-41F4-B4EA-9F94958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4F01FC-A45F-4F3F-9D17-B853977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practice utility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FCBBA7-D823-4D07-80DA-4C8ADC3A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6864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518723-EC8B-47C4-B843-793C7B02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054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and production tools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9D227C-47B6-4D79-9D54-9D717506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71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2D6205-49E6-424C-8A02-F216DF07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Creator educators and media demand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EC8DA1-F290-4C15-B409-B5FA0F70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C1FFE2-5F50-4D38-9025-B20468A4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7172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Formal education and teacher netw...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3D83A3-AB54-463D-AB1D-AB613E70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62103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ED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3E1255-5B28-41EC-81DA-1BA7C8AC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2293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AI creation, rights and platform...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7BDC60-EC8B-440E-B262-BED7CACD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57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8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67A3FF-50DB-435B-BC4B-4BE8C351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076575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6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Capital, awards and public funding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C8D611-CFD3-4A59-9BCF-AE593DF1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048932-1715-4E05-8BB4-811F6CDE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CF7C4F-22ED-48F0-BB8F-152E626C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9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Inner ring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273DF7-BE78-4652-9783-7DA75FB7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76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Learning apps, repertoire, hardware funnels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11FA8D-FCA8-469E-92EB-56B1E100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EEE739-9FE4-4A75-9DE8-186D6D65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29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77E06D-0C28-443C-AA98-A84BE377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623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Middle ring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23FBC8-E458-4845-BB07-4D6553F4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290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Creators, education, AI practice utilities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537DFD-9ADB-4189-8B37-6B77574B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64762B-02BA-4620-9AF3-20322F93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26044B-DB51-4919-8C9D-84AA3E90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148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Outer ring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A402FD-AA68-4346-9969-BF1D4BE8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81550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Rights, investors, media, funding, culture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282B06-EDBE-4FDF-8574-D46F8DB2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AC5452-2381-42E8-9938-3387DBF6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ecosystem_map_2_0_v3_2_2.csv. Positioning is a strategic synthesis from proximity, influence and momentum.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3A70E0-4677-42A4-B4DF-8C0FAA06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3401471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8F4D01-B1AA-4A6C-A9AD-6B94475F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66A80-E8D8-421F-B1AB-5679CDD7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6FFA1-B0B6-4736-B46E-87550809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16FA7-9406-4AF0-A591-EE63421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C9BB5-8383-4553-A4B0-81DEA564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69CD9-AB13-4D5D-8408-FDBFB7A0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F4B97-0E15-41E0-823A-B22E6B89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0F77C-5F43-41A0-A3E9-5D3D3BA6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DFF8A-99EF-4437-8063-94DC6618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F6E4B-87CD-4845-AEEE-2ED18766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1B498-1B84-4077-A52B-1D162FA2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6905D-EF2D-4709-A743-9F20E537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B4BB2-C7E2-4572-8C01-47094624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PRIORITY ACTORS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20E20-DF2A-422E-A31C-937D977B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C3B3B-0A05-49BB-8621-B9E83481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top actors matter for different reasons, not the same score.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D866A-4E1E-408E-8D57-B9F455EF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is an influence ranking, not a revenue/download ranking.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FAE29-35B0-4C3E-B2DE-859709D7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4C307-04BC-4B4A-897D-DBBB0ED2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145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8E0DF7-A2AB-4136-8FD5-E02D5975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70850-6B73-4FBB-A100-159E3453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Suno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66C83-D4DD-4B63-A5A3-43C5133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33575"/>
            <a:ext cx="3619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creation and rights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ACF7E-B763-43F7-9E5E-3955192A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11B908-AE4A-4BE4-A9D5-BDE57F06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54A46-BC75-4793-99AB-18A8649D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57425"/>
            <a:ext cx="586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D7F98-4D06-4531-B003-A71E4F37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Music.AI / Moises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80D96E-B8BF-4C4F-9FF2-476354E6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3295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practice utility and creator tooling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7ABE67-9058-48C1-88E8-77B2B7B5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CEA1AE-D3EC-4927-A17F-6BEE509C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336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DB5B24-B409-4386-9540-2A717123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5543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6D110D-F9A8-4772-8D5F-4618B81E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 / JoyTunes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00E1E3-6718-4AA2-A6F7-F537437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52725"/>
            <a:ext cx="2971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Direct app-based learning benchmark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ED925E-63B1-4B71-89A8-48CBE19E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51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C9EFE-F5E3-403A-BA82-AD927D30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179C53-4EED-4D02-85C7-7EB6FFAE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521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1B427E-96E6-47F4-89CB-D0810B4D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527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Ultimate Guitar / Muse Group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4F0CF1-E790-406E-B2DF-ACB69B33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62300"/>
            <a:ext cx="2647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Song-practice habit and repertoire ownership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B1C8E6-473E-4415-908C-A4F189E9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68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519ED9-F64D-4296-8439-2ED41FF6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28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BD7138-2F3A-4423-9ABC-FFBC57B5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86150"/>
            <a:ext cx="4895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2B25BC-3281-493D-A770-91FE21FD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623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BandLab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8F7026-2449-4531-A4BA-01F734A7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71875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Creation community and hobby expansion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B0CE19-1C62-4D5D-8761-AE5B6EED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1B3355-63ED-4E57-A926-B3163ABB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EE7196-C762-40E3-9987-DF5D0268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95725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A980B2-730A-46A5-9A4C-784CDA8C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719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TikTok / YouTube music discovery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453394-0BE5-44F5-957A-79C747EF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Discovery, demand creation and creator trust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47FA36-B22B-44CC-A7C9-949C2CC7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102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124D8E-1B7E-42D6-9A57-CFD079D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D6A7BB-F99A-445C-A8DA-A4C0EAA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05300"/>
            <a:ext cx="424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42A7B5-7952-4E2C-BC91-1B7E6DD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8150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524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/ Gibson / Yamaha hardware ecosystems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ACA336-2652-4FD2-BE38-383CC7D6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91025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984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Instrument access, bundles and branded learning funnels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592FFA-EE9D-4411-AC56-F3638F40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120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693954-E7B8-4144-8C0B-AA120AA9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FE18BC-9E36-493A-9C00-43A81C0E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14875"/>
            <a:ext cx="3924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E10B5F-B864-47C9-9057-7EF11707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Splice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0C1619-0261-4ABA-89A3-2911E0D7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0060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727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Paid creator tools and rights-aware workflow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6F8F6E-2335-4232-AD40-0E18DDC8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371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915234-585D-4B4D-8802-73DEB8D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BFFF563-20A5-49C8-BB48-5DDA9C3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24450"/>
            <a:ext cx="3600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79CA67-4B2F-48E8-9DB9-62ED70AE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00650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793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ABRSM / Trinity / School of Rock education layer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8A2FC2-9464-4D22-8E2E-2B08841C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017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203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Trust, curriculum, certification and teacher/parent influence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C0BA15-362C-4ABE-91BD-80A4F1DD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543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FEA981-C7A9-4173-81EB-54AA9655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B8AE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B8AE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999675-98E5-4CC1-BD85-511A7E74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34025"/>
            <a:ext cx="3276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C751E1-499A-49A4-BB2F-96787131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1022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8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Spotify / labels / rights infrastructure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41B781-FA30-4915-92A9-F6393F4D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197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331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Rights, artist data, repertoire and AI governance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07429D-1101-474A-83ED-50AE1D12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62150"/>
            <a:ext cx="2724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B121CF-57A5-4CB5-9D8B-D9842AAA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04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How to read the ladder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EBA65C-EA7F-4795-AC50-F4773BB4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095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Suno changes hobby creation.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Moises changes practice utility.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Simply remains the closest performance benchmark, but Appfigures is missing.</a:t>
            </a:r>
          </a:p>
          <a:p xmlns:a="http://schemas.openxmlformats.org/drawingml/2006/main">
            <a:pPr algn="l">
              <a:defRPr sz="975" b="0" i="0">
                <a:solidFill>
                  <a:srgbClr val="D3E0DA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D3E0DA"/>
                </a:solidFill>
                <a:latin typeface="Aptos"/>
                <a:ea typeface="Aptos"/>
                <a:cs typeface="Aptos"/>
              </a:rPr>
              <a:t>- Ultimate Guitar owns repertoire habit.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4968D1-A542-4626-B10B-2E9FAC38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7F00BEF-8060-4B3E-8F4F-49279330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57700"/>
            <a:ext cx="1295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 REVENUE-RANKED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8083B5-E515-419F-B6C7-7AD26C6C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AA7876C-F8F4-49BE-8F84-E9EBE710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executive_top_10_actor_ranked_v3_4.csv.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3DD618A-47CA-4075-A0FC-070F20C1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6000437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DA436A-15FF-47D5-BCD8-66D5CBF4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F38F1-1062-4209-B199-3EC33658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0F02F-9A58-482C-8566-87FA3536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CE77A-8CB1-4C91-9EBD-5863B73D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47723-B57F-49BD-B700-B1826ED7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47F25-3795-4B0A-BD3C-271CEB6C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32933-14D6-4A74-9B06-BAC3136D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49100-8A92-4D18-922C-7D103302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51A6E-AB2D-48E2-A81B-BCBDD037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7CEB5-FB42-4CBB-9946-C06BB897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C3145-A911-41B6-806B-28A6C26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8BDBC-13A0-4B88-ADB8-9A6738E9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8C824-7C15-4E35-89C0-79BBD611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WHO IS SUCCESSFUL?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E8FAC-6F4E-4EDF-9FF9-11DA6FF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E626C-C7CE-496F-A01E-BC15CA83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Success cannot be reduced to app revenue until Appfigures is populated.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6251F-3B57-4C79-92F6-6DB5016E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current deck should define success as a set of proof surfaces with Appfigures marked as the missing surface.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12DF4-B70D-4B76-8D12-781A3206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718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ADB97-8955-45B4-93CD-61DD6198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28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Success</a:t>
            </a:r>
          </a:p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40E4E-F4E9-4CDE-9FB6-8D4C834F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EFD154-ACCB-4F07-BCA6-C655414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145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7DFA3-BD95-4EDA-B2A2-7CE39703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Habit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A54C5-5793-4618-B5B2-C74D803B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practice recurrence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7B9BE2-0B3E-4D75-9526-D7E95FAF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2DDE1-C356-42D4-9055-1338E331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9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6B86E-5BFC-4D01-BC9C-D0F81F6A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74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Repertoire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E2392-F56F-41A5-A14B-43692183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9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song/tab 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51E41-1E0C-41A8-A564-2891A7EB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648D17-5CB3-4B26-BB62-AA8F426B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583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D9BC1-43BD-4934-A258-BA09B223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733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92AA64-740B-4F9F-BBAB-2147AD52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683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creator / teacher authority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012C1C-61BB-4B99-A7C9-0055BB6F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941E55-6864-4F67-AEB5-E6BEF67A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618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C625C5-7B43-401C-9039-97344EFC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768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0B255C-1E2A-4063-8D8D-D3DFF3A2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718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hardware and retail distribution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448EE4-C5D0-41BD-9625-F6D3DCDC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332" y="3810000"/>
            <a:ext cx="1157168" cy="1527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4102CF-6493-41A6-A2D4-35F35661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282" y="4937498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05F824-1AA6-4BBA-9495-AE326C18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432" y="5185148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Utility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B3C798-17AC-430B-B808-4AC235CE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382" y="5385173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AI-assisted practice adoption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1ADCCB-EF25-4B91-98B1-E053B18B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367" y="3810000"/>
            <a:ext cx="2600133" cy="3772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4A91FB-0D3A-41B9-88E9-D37096B2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317" y="3787223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783665-FABA-4240-896C-63EC7962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467" y="4034873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Momentum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785F07-71AD-45C3-86AE-DE416B52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417" y="4234898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funding, launches, partnerships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C211FC-02EF-41F7-A248-4EDD29A9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355" y="2752904"/>
            <a:ext cx="2085145" cy="10570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3A5CF9-ABC7-486C-AA38-FAD4A6D7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305" y="2352854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8291E5-1E20-4342-BBA5-8BD5ADA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455" y="2600504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01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6376C3-E9B5-425E-B06F-6D2126B3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405" y="2800529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55" b="0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0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downloads, revenue, ranks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665836-85E6-4CBC-B6BF-832C8CAC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A43E2E-3C7E-4950-B095-4FD5080E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7FDEA2-BB1B-4BFC-8D06-69AF035B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Appfigures caveat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375FF1-B391-4FC2-9FA4-9F437F16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2247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 of 16 app-performance rows are credentialed. Revenue, downloads, ranks, country mix and trends remain blocked.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F17296-346F-482C-839A-76526C69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63A2CE-DC3E-44D4-BDAC-A9F75A52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Appfigures request pack, public proxy status and executive synthesis.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B0352A-7B00-4226-93C6-935D6192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8693306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F6345B-F038-4BDC-A9EF-274DA4A1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3E72A-F69D-4BAD-8BBD-25BB7F13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0B1A0-AE95-4FCF-BFB6-45B24C6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C1D71-FF28-45D5-B707-94C34D64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FF81A-0154-42C3-AE2C-AD2EC7B7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6FA8E-E902-4F7E-A093-A46149C3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EF4A3-471F-412E-A7E9-9DF95004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BC916-7E0F-43E0-A2CD-8F7D7C6F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A83A3-3C95-4B32-B15D-B31CE6B3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4B663-06CA-42D9-9DCB-0F40E0CF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05D7D-2C05-4EF3-9C0C-CFAC90E2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771B7-8B02-4EE8-99B3-36460B2C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8DC41-D7AD-4AD5-9E71-BA5C539F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APPFIGURES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2ADBF-E65D-45CB-9FE1-5A02F62A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FACAC-44C5-4ABE-8507-9B225133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performance section should look like a gate, not an empty 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A1E95-4AC1-46C4-8DEE-C5C6FDA5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brief asks for Appfigures where possible. The correct visual answer is: ready to import, not populated.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BDC54D-F671-4A7F-9985-83D52953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32766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2E908-DD5E-4B7D-A77B-75F22BC7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104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197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58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E5C95-42E6-47DB-928B-020C1EB4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47950"/>
            <a:ext cx="1314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10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credentialed</a:t>
            </a:r>
          </a:p>
          <a:p xmlns:a="http://schemas.openxmlformats.org/drawingml/2006/main">
            <a:pPr algn="l">
              <a:defRPr sz="135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Appfigures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000AE-AE9A-40B8-9D40-8206646A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AA0E3-147D-4D83-8C7D-5E87E522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2362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Do not rank app companies by revenue, downloads or country mix until the authorized export is imported.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064EB-0D9E-45A5-8059-B0D5249B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18429-9D77-4FB1-ACB0-53DE993A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4187B-7B5A-440E-B1CA-D1229E45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45118-CF60-44C4-AB0F-E3CF4B38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56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Simply Guitar - Learn Guitar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997CD8-ECBD-4810-8D93-5F95DD19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FEE872-6308-45A6-8646-C7704FA6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B5D1F0-4CF4-4A09-B44C-7F0C02CD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F6B2DC-0691-40F4-92AC-98793501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Simply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8978B2-7E04-49A2-B98F-7FBE4B66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Simply Piano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BACADB-DBD9-4B6E-88DE-BE4DE195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D5BAAF-7D30-450D-BFC6-2ABC3BDD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5E941D-A658-4B78-BEA5-B2669805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D2B447-AF33-436D-9980-99316CCA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812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Flowkey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96935C-D420-4176-816B-00EA7260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812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09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flowkey - Learn to Play Piano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03C865-8E04-4CC0-9FF0-D31A9102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211EF1-5FA5-4649-917F-DBCD3CA5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19DC4B-F398-4F2E-848B-F45D67C1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F24EC7-F1B8-4602-B3BE-FD6A154D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Skoove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CE6D79-753E-40D8-918E-EF170921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Skoove: Learn Piano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28B975-8A74-4A51-81A5-A1238B28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CA7810-00DD-4E62-B4AD-545741E4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C1A8CA-9980-4AC6-9241-65541130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6E815F-9AA5-47C2-9FE1-D400F116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Fender Play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C31862-9568-46D9-A77A-093242E5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6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Fender Play: Learn Guitar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50BCD8-8667-4295-A14C-8DD7321F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19B045-64B7-4EEA-827C-65D8F9B0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BB92EF-FD87-48C2-8E70-33C2FF79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82C762-189F-4550-B127-5D9D4EA4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289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Gibson App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6C93F1-E2D5-4700-9EF2-A7A900E8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289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44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Gibson: Learn &amp; Play Guitar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6E5539-DFA8-466B-8C14-0800B075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D8DA00-7B26-4A52-9D3B-7128CD23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F24086-EBD0-4F47-8155-E620312A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06EA18-983F-42BD-A665-3B9A03CA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Moises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B8DF84-07D5-4D0D-911C-2F14091D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022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Moises: The Musician's App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14E7C6E-1616-4E81-9050-AFDC0585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26E406-5DE6-47F8-8CFE-C1D4220E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E9776B-2689-4BFB-9B83-9A0F1139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4F7623-FCDE-47E9-B4C7-A0A86FA8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Ultimate Guitar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E2D5CB-C2A5-499E-A205-3500282C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61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Ultimate Guitar: Chords &amp; Tabs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906EAA-EAAE-454A-9E52-D9889014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BAE401-19AD-4822-9D28-C35C7CDC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88D46EF-CE9E-4FD6-B3F9-C04686BD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44A894-D929-42A3-9963-8CD72B59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766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MuseScore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663715-F795-4878-A191-02E9CCB8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3529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MuseScore - Sheet Music &amp; Chor...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F9E3FF-EB68-4CD2-AAD7-2248D829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576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4EC776-5D76-48B9-8E2F-0B273492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55D492-5D48-4ACE-9D2D-563418C8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533389-C4D8-4A96-9257-70360A04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Songsterr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78CE858-2E8F-47B9-89A6-1DCF2F52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654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Songsterr Tabs &amp; Chords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991450B-DCF8-48D7-A8B7-114059B6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FCA5BCB-C0F3-4C3D-95B8-3116DAF2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60BCD3-4C39-464A-88A6-C5736890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C699A57-9A68-4763-9F5C-A8C51C77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Chordify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30E1102-320B-40A6-8A22-4D0A0CAF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Chordify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3FBF7F-8EB1-419D-BC21-EB9FFDDB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D95038-6117-4538-AB65-FA7889DE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167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358DEA2-5786-40DA-964E-DA2C16ED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386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6696C9E-E8EB-453E-9831-E3954DEF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24325"/>
            <a:ext cx="666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7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Chord ai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876FFCE-8946-41DF-8A27-69F665E5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24325"/>
            <a:ext cx="685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1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Chord ai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E89CBB6-E555-47D4-BEBD-F4A46738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1238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49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credentialed export missing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CA7E596-2DE6-48C7-8359-5B120ABE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575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4CC0087-0096-4735-A1A5-87A707A0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959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3294D00-43F9-4F85-97F2-9C8AE747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292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Import path exists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E5BF2D-09D7-4380-9608-8962418C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69595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request pack has 16 app rows and exact fields. Use the backend import/API path before calling performance findings complete.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565C41E-B7A6-4E7B-8DB1-0AB9C365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300BABE-D334-4B68-AD91-736EB10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appfigures_request_pack_v3_2.csv and appfigures-performance-export-integrated-v3.csv.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DDC752-B539-4450-8598-339A10CF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2914376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E1612E-7454-4B1C-BD0F-5DE8AB3A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6E736-8D85-4722-81E0-C4717E48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7029F-5A31-474D-9D2E-2516717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C9DBB-9258-4D25-9A6C-0642EA94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C56FD-C05D-4CEA-BE39-47CCACC4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162DA-F4AC-4AEB-BCF2-FAC01C2F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CF431-8B33-481A-9A23-E71F6676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4F62B-2231-4D8C-A4F3-67387E9D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EB3EB-DBB6-4D77-85B2-F321BBE5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C54AD-8914-4E7C-9A5A-762C7139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D9640-E65B-47AC-8004-81BD9B8E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2057B-6572-4B71-8459-A9DE8D6C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04B44-6843-4751-8B60-9BFBEB2D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LAST 24 MONTHS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4E76A-9322-45AB-9F64-8B8EB0C5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711A4-A341-46E5-A658-CFEF01B2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market-move story is curated for board reading.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CF1ED-77A6-45EC-8741-C64FA907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main deck shows the shape of recent news, while static context stays out of the board timeline.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6E64E-5407-4567-9CF8-D4354887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AI companies and AI initiatives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40917-916D-4137-BEC4-C233DFB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19F2F-5840-49C5-8BCC-FED300E3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0399E9-5F4B-451E-8CF8-34E65C5A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526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1304F-FFD6-400F-AD4D-2C707D40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Media, publishers and cultural drivers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2BDA5-FF59-405A-86BA-F6C65E4B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BA7811-72F0-4BD4-B724-E427B329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3762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95CD0-97A9-416A-9EB0-AB8C69D0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B0075-3980-4318-9EBF-5A71BF1C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Awards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91A0EE-E29C-4B38-8B51-C02F51F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8B266-D2E5-4D44-9A4D-B86F452F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2924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49FFC4-04CB-4D66-86FA-BBCFA6D2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717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53FCB-3550-4495-AA4F-A6D1B83D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Funding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BB9FE0-D574-4992-927C-5098916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76680E-3663-4A6C-B8B3-D0863462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52775"/>
            <a:ext cx="2505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73FD73-BD0D-49C2-91CB-A841091E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813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EBEB4-795E-44A5-8C63-F5680553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Teachers, schools and music education organizations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0BA8C-0B7A-4FEE-8905-EBD83986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2C0AD7-846E-4F89-92F3-4B32F6FC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2085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9841EA-ECAA-40D5-92E4-45254DDE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09C0FF-0CAF-4D8D-8005-A69E7D66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 hobby software ecosystem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953436-E9EC-4C9D-A444-9ECEC09C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335220-B70C-49E1-BC61-4C1C05D9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7192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A2276D-7D1B-40F5-899C-E28F63B7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0050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FB0FFF-A269-4472-A386-3AC665F2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Wider education and self-improvement ecosystem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08C20B-F519-4828-8329-E8CE262C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D07188-CDF0-44D6-A584-DE9D6181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815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FF9798-BCB2-410B-9825-90DCF3F5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10075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3DC0DB-EF28-4D4C-9424-0068683D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2686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0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Music learning apps and platforms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B54BF4-FAC3-4496-A108-69DFF8D5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542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0C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B0BDC1-8F8D-4729-BEFB-1813E2A6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91075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2A442E-87E9-4B43-A4F0-9EFB2257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19650"/>
            <a:ext cx="247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61A06F-54AE-4EFB-98F6-F412CB6A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1524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DDE365-CFA4-451A-8C55-5151C87C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90750"/>
            <a:ext cx="914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40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E0A2F4-BBC3-434D-BBDE-384CFB5C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194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board-grade moves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EC8C26-417C-46FD-9A00-A989D1FB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861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Static product facts stay appendix-only.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5796D1-6DB7-4DDB-A8A4-4FE5C9CE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4005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2FFB1C-CCE6-497A-868B-5DF97EBE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57700"/>
            <a:ext cx="118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WHO MADE NEWS FOR WHAT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7CB49F-98E3-49F5-8649-E3611C08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44DE1E-B5DF-4FE9-B464-49AA1D0E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96DC4F-CD2C-4020-B51D-9D312553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815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Curation rule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A22FAB-A257-43DE-9ABB-B9120505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Use this as the 'what changed recently' proof object. Grade A/B events carry the main story; Grade C context remains appendix-only.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512BBB-6296-4B03-859A-92D4AF8F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69620C-B705-4128-AD79-F50C8F58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market_moves_24m_curated_v3_2.csv.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9F56F4-C30A-4F67-A666-2665C117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1429738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2A491-3D1F-44EF-B99C-50F9E2FC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759AB-64DD-47A1-87BD-447A2CAE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86D96-7FFB-4C2F-B0F9-EF4F3C31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BF3EC-68F5-4973-9E7E-84338390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AF9F5-8062-41B3-A76B-2B1B1771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B9263-9B5A-4DCC-A405-8A88517D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6EC25-F5F7-4D51-B6BE-572B25B8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DE095-CCE4-4418-ACED-8EAA594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D78DC-F250-4255-AC22-1E17FCA5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61F35-35F3-4F5B-ABAF-49BDDD85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2C41C-0E3A-452D-895E-AAAEB634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4EDC8-DA20-4EC7-99B0-9B5CF92A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DCE180-3F80-423A-A01A-65A587A9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AI 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62FC5-3639-4D93-AD6E-2443DD3A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E2678-10FD-4FCF-B90E-E3273A41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AI has become a market structure issue, not a feature checklist.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2DFF0-BF6B-443D-B8CB-AD65B5FD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ecosystem now splits into creation disruption, practice utility and rights governance.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C66F6-1904-41C8-BFD8-63CF0120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460D3-4174-469C-8986-78A50EDF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55AA6-3D80-4E2D-B409-60019EFC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Creation disruption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A90EE-FC54-468E-940B-3B3CE1F2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Suno, Udio and BandLab change what participation can mean before instrument learning starts.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04CBE5-53CC-4BC6-A647-D37076A1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289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57AA1-6EE4-4D3E-BC79-DCD2A36D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2900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F99E4-3501-401D-BC5B-4D65AE64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Practice utility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B7BD0-0FED-4D3E-ABF0-6FEB5A39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910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Moises, Chord ai and transcription tools attach AI directly to songs and practice.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D4956F-A851-4F01-BE97-965E5D8B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E971A6-3EB1-40EF-B187-0A7BBDFF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819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D66CFA-0C3E-41CF-A974-5C4BC174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Rights governance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54801-BA36-49AA-9AB1-4B0CBBD1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Labels, publishers, AI litigation and policy decide what is safe to build and license.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6290AF-9DFB-45A4-8FDD-EE8B533A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E3FDC2-2D1D-4332-93DB-21842108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290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7046B-5322-4351-990D-2BE5A3B3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526F53-80BE-4FF4-8627-3CA4E2A1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62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6328E0-5C98-4E80-B65D-5D8B150B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695950"/>
            <a:ext cx="7105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Executive implication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8651E-C9C9-4C4A-9909-66205854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962650"/>
            <a:ext cx="7105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BFD1CB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BFD1CB"/>
                </a:solidFill>
                <a:latin typeface="Aptos"/>
                <a:ea typeface="Aptos"/>
                <a:cs typeface="Aptos"/>
              </a:rPr>
              <a:t>AI belongs in the map because it changes the learner's alternatives, utilities and constraints around Yousician.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AD3807-AEEC-485A-AE86-9F114710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AB5E8B-EBC0-4605-9414-41AB4786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AI-related rows in market_moves_24m_curated_v3_2.csv and source audit.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835806-5A4F-4F0F-A9B6-64C0FCFA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834850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5957B8-A797-448D-913B-477379CE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1F30B-BFA7-47DE-ACD2-E41962D7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0414F-66F5-419E-BCE7-9615D4C6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89570-EC15-4AD2-8468-8471C5BD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42038-E8D4-4CD4-BF02-CB02EADB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F4EB1-0A93-4B48-8FD4-255C6E9F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44555-A1B9-4B12-9000-C335F042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5ECB8-9CB6-4D24-B393-EF3978DE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670D8-F5B5-4401-AE19-B5866990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91AF4-1217-4D04-8595-FA409326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C2A47-518C-45C7-BB50-7ACDC363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D3EEF-9749-4C0A-8D98-BA754C1B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CE7BA-F303-4C15-93B8-FC103228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MUSIC AS A HOBBY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E3D03-376D-438C-A5A6-F39F4FCF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7E3F4-D366-44FB-B8AD-9006026C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749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The hobby journey is broader than lesson completion.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8215A-7FAC-4AC7-AB5E-E10E9557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This slide answers the second guiding question directly: who shapes music as a hobby?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72F07-1776-45C7-AB34-1FF9E278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09508-F893-4609-8D00-89021FF0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26FB1-B06B-49AA-8CD3-F3D4970C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49919-497D-4B7F-8DE8-C1CC4CF2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Discover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46DD2-180A-42B9-9E9B-AE03897D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TikTok, YouTube, Spotify, artists, cultural moments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F1614D-BD57-4907-8D4B-8E59ADE1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B7BDE-1335-432B-97D9-4B2617E7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0F23BE-8213-4F15-A2AE-7C25211E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4BF7E2-7E03-4E69-8601-10D7471C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Choose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D165B-178F-41BA-89F8-8A1C7444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Instrument brands, retailers, hardware bundles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DFDEC7-ECB0-4CE6-A4FE-D36D6139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78F2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C3B5C1-CD2B-4C8F-9EBF-5F157488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8BC1CB-6F31-4E00-BC75-D70DE1D9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3D7AE-1AF6-436E-88CF-46ED7B04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Learn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EC069-2C82-428A-95BA-2363200A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Apps, teachers, schools, curricula, feedback tools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358FA9-8C7D-448D-ABC4-D828D34F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E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F5E345-B703-4E53-A603-2B3A6231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7C04C3-0C90-4E41-A1E2-FC9D1807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263FE3-FB92-4772-ADE6-5F0A324B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Play songs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569C69-06D5-45B3-93B0-650DEC84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Ultimate Guitar, Songsterr, MuseScore, Chordify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139E90-983E-455C-BA4D-E820F856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479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4D2E91-D874-46DB-865B-76CAADE2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57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1D954F-5F7D-4518-8A3B-FCF6B366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0003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BB21E7-9241-4B98-9B4F-F165AB18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Create/share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CEC269-F470-47C6-806E-92188F02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624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BandLab, GarageBand, Ableton, Splice, AI generation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81205D-FF36-4AB9-9D04-FA15272A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528ACF-7504-46F0-A080-A3809214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E24582-0916-4FEA-8147-2B6219F7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2E0AC7-60F0-4730-811D-5262A5D8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7772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Yousician's environment is shaped by demand before the app, repertoire during practice and creation/community after the lesson.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7C38FD-C3AE-476D-BB4F-C1C5C5B3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7ACC94-0C20-4DC2-82F5-E6685561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media/cultural drivers, music hobby software ecosystem and executive synthesis.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1187BD-A66F-4A00-A60A-10BCEA46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6807948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BCF87-60A2-429A-8842-ACBAC4B1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CA448-9F54-4940-9A6A-802DCA00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BD42B-1AE1-4C9B-A68E-1DD10B29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FF527-255B-4AFE-9D91-1658AB3F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2225B-9B61-410C-9E6E-36C08848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EDFAA-7871-4AA1-9F25-058A566C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ADD8C-8F98-43AC-99B8-228BAB3F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0A2A2-E183-4E3A-81B0-2AE319E3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AAAF0-5CA4-42F9-AD7D-4400C6E7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A94FA-E052-41D7-A6D5-7C697285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E8BA4-F78D-40C4-83A5-26BE9EBB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A8838-9546-487C-90BC-40FA018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549AC-F459-4022-96F4-29B0A29A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TRUST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65580-63F3-4A1A-8DEE-FAE15719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2899B-E3FF-47C9-A619-7A60213C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17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Teachers, creators and education bodies are not appendix material.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35768D-BDA5-4192-8AF3-1AD7EB16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They influence beginner trust, parent confidence and method legitimacy.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1AE6D-C248-4074-A064-188154BE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E7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0C891-EAC9-4EC7-8744-5D755B48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CE4C4-67F9-4238-865B-130379A3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Education bodies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8AEA2-D4AA-447A-9BF6-B91E7A46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ABRSM, Trinity, RSL/Rockschool and similar benchmarks shape progression language.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5735F6-4A00-47EB-BB2C-F0FCFC13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D2CA3-B427-4182-A080-ECD0936C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0432A-DEC9-448B-B096-EB781D72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Creator educators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5CD6F-2BC9-4B8D-9661-8E59AB3E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YouTube-led teaching creates demand before app comparison and trust after 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C410BB-2B7A-4C04-B6CE-F77D863D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3A79EB-5B30-40A0-82B8-A2FE5721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670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6CE23-6681-4406-8FFE-1E70AA6D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Internal relationship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A6984-7343-41C2-A963-04695FCC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Relationship owner/status fields are prepared but must be completed by Yousician.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1CD5CA-A796-445D-9EFD-7A17EDF3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51660D-E7E7-4DA0-9202-0A8C8A45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673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8BE31B-8839-4577-83FC-7914035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00700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Reach caveat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C6B65-2532-4922-8D10-7A65F4E7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67400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JustinGuitar / Marty Music / Rick Beato / Paul Davids. TikTok, Instagram and average-view reach still need platform validation before partnership planning.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CBCE96-1FBC-4257-9C00-EE187E7F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3E6D53-4DC9-47DB-85D9-8265B597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teachers_schools_education_v3.csv, influencers_creators_v3.csv and relationships_template_v3.csv.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166674-487F-4AFD-86C0-1A6F64D7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7270665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4C1782-5FBA-4CA7-B20F-6A1C78F9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DDD59-1CF1-4E72-AAD1-32F71D14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911C8-FFDD-4F54-9ED1-61B1EE18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101B2-1DF7-411F-B6C6-AF80F910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CAE38-D2D1-4335-BBE7-A4B064DF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98D3E-BCB5-4516-AD87-93C3FB20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D53CB-A5D0-42BC-88E1-24C96543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1A7B3-C4BF-4723-A718-6D714CA4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FD8F8-0050-45BD-803C-5535FE9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43C92-7779-4456-B8EC-54F0E914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14CDA-9A3F-4956-B24B-D8D4388B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CFE98-02BE-4711-B7BD-38813595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1682D-EA83-4472-A5F8-82B1426C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RELATIONSHIPS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33A8E-D291-4DD8-94E2-319A3530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BBCCE-B8EB-4298-AE41-F37A20E6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The relationship layer should look intentionally incomplete.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C8AEC-52B8-4A61-B0C9-DAEA620E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It is a Yousician completion layer, not an external market claim.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722D6-1F15-44BA-B3CE-EF4FCC2C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6EB25-CC02-424E-9931-1901E197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B5301-D971-4D04-ABD2-017E20C3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D79DF-2594-46F9-84A6-BFDDE1A6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D77E3-A143-495A-B955-3D29D4D8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9C595-6B9B-48B9-A75B-49F9934A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confirmed relationship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65ED6-09F0-4E8E-924B-F64D6112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3B5FE0-E7A7-4A16-8417-412608C6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C4DBF-3683-49DA-87D6-A41B1A3E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relationship 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7643DE-C3CA-4B03-AB5F-E49CD67A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3565F8-0F62-4819-90BC-9A98629A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13600B-0BEA-4CA0-9CB7-96308FE8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B325AF-3710-4E2F-B0B5-6EF60907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8CCB90-D5FE-4687-A394-646ABAD1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FC3FD3-062A-4E33-A783-DCBD84B4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last contact 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4C4D58-2878-4202-85D8-ACC3BD27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C3983C-7BC6-443F-B227-B702CD50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225E8A-BB76-489A-B9A0-8F2B56BB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suggested next step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1DCCCA-BD5C-4BF1-945E-D1E4CAA0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3938A9-9F65-42EB-AF31-741E6587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242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695DF4-4E98-418B-AB91-3814C6FF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7737D4-2283-4BBF-AE21-6C00ACCD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0C5D9E-240B-4F7B-916E-C6ECAD6B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578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Standard wording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2F8327-4C53-43DC-A5B1-758E3FA1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5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Internal relationship status not yet captured in this dataset. To be completed by Yousician.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C992D85-B84F-4633-8E17-1F49CF63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4ED138-D79C-4E86-B80B-5904797C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relationship-validation-template.csv and relationships_template_v3.csv. No external inference of relationship status.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26763F-5C5B-4439-B5DE-5B64B4C0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20041429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153758-7F90-4A40-A94B-BA1F468E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86E9C-C3B8-407E-83C9-54750190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36FF6-3118-481D-A095-741E531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5E573-CDBE-4F4C-AE2F-843AACA9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58DFC-CCCD-4538-8D21-53C32B4D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B78BE-AD96-4A49-BF9C-094D4F28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0EA1F-9622-421D-AFFF-C2534807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43D17-772C-4AD4-B83B-335EF529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DCAE8-16EF-49AD-81AF-44703BEA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EAF42-9F7D-4E60-A14D-C544E424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D5D8A-7015-4D95-8360-29A518DA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C0B48-5CC2-448E-A5C1-ED8D4966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0AD51-682B-427B-8B34-3AF28201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EVIDENCE QA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14DBC-C8B0-4822-AF48-A829C2E9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47A44-56EA-4819-B356-29820E16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Data quality should be visible, not buried in the appendix.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DAA62-6330-47C6-9355-F8379349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package is stronger because it separates passed checks, review work and true blockers.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E18E6-2081-427C-81A1-C520A992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E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5EA2E-2CCF-4959-8C22-C8ACA6E3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4C7D5-11EC-4C39-816A-B1A3B832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Passed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F870A8-639F-423F-AD62-6CF797A4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key players, timeline depth, request pack, duplicates, proxy notes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445EF-4159-47CE-B7DD-2790686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7A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734EE7-FEB1-4CAC-8F94-098CED46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2B8B1-A7ED-46C9-A1A4-282CA0DD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29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Needs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43EB3C-D956-40E8-BA55-86008A6A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refresh queue, hard claims, source 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F0F0C-E28D-4398-97C5-4E0EFE6D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2686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D5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B101CC-5A87-4B2F-86DC-67DAE734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812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C6AF0-8B88-49DA-A7A6-8BBC3FF5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1162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Blocked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4312F9-EA3D-4982-B569-F3120EAD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2152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credentialed Appfigures and relationships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3F8B8-C47A-4E76-AE50-11E16A22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C7523-33DB-4256-9F01-C701AE64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ABB4CA-CB9F-4618-ADD6-0A76CC76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Market move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B23BFF-DBEA-467B-8108-4945958F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520F79-2375-4AE6-A9BB-A5C789AB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622128-DA80-4FF3-8CB0-B6323E84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BCCB9E-AD64-4176-A761-229574F0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Key-player relevance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705766-88F6-4634-A3EC-F202271C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5A01F7-CD85-4BA1-81F0-CA40EBB8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9A7FDA-D491-4738-B7DE-1DDB0F38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7C8C62-6270-4FD5-8F03-475F1725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Ownership / investors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8C6CF0-264D-4C9D-B8CE-619DA901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0678B2-99B1-41A0-97A2-9C46DBF4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375E14-7445-43A9-8302-FE5AB27A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3EAC3F-BAB3-4102-8B4C-A9234A12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Creator reach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ABCCD0-6BF2-441D-BA43-192EED65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45A4BD-A384-48AF-A71D-11F0EB95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10B211-3CAF-49BC-A356-2B4D60C9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A37E5D-EE91-419B-A3C8-0AD51793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Investor / deal relev...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4C9347-A9BC-4AFC-8544-F6C05879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2A231E-A1A9-4E50-9191-BDC6D368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2435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2C6554-A63F-4CE0-8C13-6E598D14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3865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4F4337-DEEC-476F-A78B-193793A6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5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Education reach / role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99396E-4292-4E7F-B772-084D283C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91050"/>
            <a:ext cx="685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49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claim rows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051E26-9255-40D3-896A-AFFF0CE8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054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8F0759-B4BE-479B-AFC3-82944233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054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6ED6FB-9A4A-4BF4-B242-78F00254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38800"/>
            <a:ext cx="834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Current review risk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0E259B8-A2AF-4EE9-903A-90DC5866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05500"/>
            <a:ext cx="834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6340"/>
          </a:bodyPr>
          <a:lstStyle xmlns:a="http://schemas.openxmlformats.org/drawingml/2006/main"/>
          <a:p xmlns:a="http://schemas.openxmlformats.org/drawingml/2006/main">
            <a:pPr algn="l">
              <a:defRPr sz="76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76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12 source-change review items, 78 refresh retry/access rows, 33 hard-claim confidence gaps and 42 Low/Pending source-audit rows remain visible.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333BA9-5BB9-4A08-B85C-71D2BB4E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213F1E-42B6-4987-8F30-6EB9B270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Source: data_quality_check_v3_2_5.csv and claim_source_matrix_v3_2.csv.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C6F1AA-8A4F-475C-A57F-1CB97A0F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1089752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02DC5-711B-4F40-9C59-DFF6D773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4EFE2-DE4C-4AC0-B825-A91E650B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67F30-C020-4326-9D6B-031AE4FD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80339-47D1-486F-97AE-183F3D2E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D7D0D-2CCD-46DB-854D-271627B5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99CBE-CBEF-4677-BFA6-C4905FF6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E0A19-E4E3-491E-8831-6C45A761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E05E0-2D0B-469C-AF04-7D58C97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98868-C857-4BD4-AA85-578606B8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D8A22-F2A5-4C96-B561-2AAFAADE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35B6E-A32C-4E7C-92F2-A5FF9B0E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01364-A8F3-4C7B-BCF2-1D333A8C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2BC8E-921E-4A32-A5CD-00A77F26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LIVING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7933C1-BCBD-415C-9ABD-12249022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B8CCC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B8CCC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F967E-36BF-4CA3-A7AD-5F8E7CC8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DF7"/>
                </a:solidFill>
                <a:latin typeface="Aptos Display"/>
                <a:ea typeface="Aptos Display"/>
                <a:cs typeface="Aptos Display"/>
              </a:rPr>
              <a:t>Self-updating should mean review-gated, not auto-published.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D76AE-3211-4B85-B01E-689C551C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ED1C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ED1CA"/>
                </a:solidFill>
                <a:latin typeface="Aptos"/>
                <a:ea typeface="Aptos"/>
                <a:cs typeface="Aptos"/>
              </a:rPr>
              <a:t>The backend now supports a living database path while keeping executive and Board outputs behind approval gates.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4AF0E-5F46-4C42-A77A-B335CF1C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22DFF-7E90-4F65-A1D2-16A93D7A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15C18-D213-456A-9271-FDC08BEF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058F8-AFD4-4221-AA1E-B36F17DF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Refresh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E64A9-63B7-4943-8CFF-219D58B6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watch public sources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9AE7F-8A34-4888-812F-A9056BBE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B45CD-C919-4ED8-BB20-7E17E037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F1D6FA-B95E-4027-820E-E1CDE1F9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11282-3E7D-4CD1-8D2C-9B3741F6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59F63-3193-45D6-9B1F-583D77CE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FAEA4D-2E25-49E1-A429-2E389626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log changed signals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899460-078E-482D-9148-FFDA4EAF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1ED592-238C-477C-9BB2-94423CE0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8E3F67-2890-43CD-A1AF-9923A636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6E808-8420-4629-A2D0-585ECC6D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D87843-6BD1-4E4F-9321-85F2FBEE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5FD40E-4020-4AF3-9163-735B6E65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accept/reject claims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B30DCD-3D39-4863-875F-0BC16B5E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CECD7F-EA0B-4221-9924-886C81A8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B7646-CBBB-4D80-95BF-4570A7AE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B0B4F5-10D4-4D37-85E8-7C9B6C81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052F7-E8CA-4BA8-A60D-3CB180FB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Import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E1EBAA-9FAF-4F35-8881-F245C315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1876D1-8941-4BAA-A97C-A77E0365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23FEF5-0094-4753-B596-1E7C4C75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F34681-EF5F-49B1-826D-230E12A7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0CBA6F-9A4C-4FDC-89B4-AE363BD2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6CE734-B042-4C01-A600-CB2532FF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Rebuild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B51E4B-820D-4E01-A05E-D0C483D9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deck/report/workbook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37E658-19E5-4785-8FAD-8A38D44D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05125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1B44EE-62F2-4350-AC14-5F78F715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33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A5C155-5954-4F72-9A0A-719A578E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0035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07BF67-25AA-4768-85C1-86E014CA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48050"/>
            <a:ext cx="1466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1E"/>
          </a:solidFill>
          <a:ln xmlns:a="http://schemas.openxmlformats.org/drawingml/2006/main" w="9525">
            <a:solidFill>
              <a:srgbClr val="3157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3E6091-2233-470C-AEA5-A1825DC4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7665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D9480B-CF8A-4ECD-A682-EE353E5D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8145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45" b="0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Board-safe output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5D10FB-5598-4391-8EEA-B1F18A13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78C848-725D-4934-BF02-C08DF9D2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7BD43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7BD4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213208-114E-49D6-8CE2-738BC6A7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source-review items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F4593C-2E42-4317-8468-DC0F873F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DCF5D1-8B8D-46D9-BEBE-7F0A705E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400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0EC2B3-5EEA-4FBF-8C47-B106E885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refresh checks logged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C53BB3-49E9-4DD9-8E00-D6475331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FB92BD-192E-4E22-A1DB-367CC05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B939CE-FA18-494B-BA60-56E178B6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relationship rows pending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C8BC0EC-A91D-45E6-8AE7-8581C5D9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625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24"/>
          </a:solidFill>
          <a:ln xmlns:a="http://schemas.openxmlformats.org/drawingml/2006/main" w="9525">
            <a:solidFill>
              <a:srgbClr val="2A524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89AFB3-9891-4621-99A5-80187F77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768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6156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F06156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9047B0-A4E6-4E84-9C43-87FE2D8E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197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 i="0">
                <a:solidFill>
                  <a:srgbClr val="C9D8D2"/>
                </a:solidFill>
                <a:latin typeface="Aptos"/>
                <a:ea typeface="Aptos"/>
                <a:cs typeface="Aptos"/>
              </a:defRPr>
            </a:pPr>
            <a:r>
              <a:rPr sz="660" b="1" i="0">
                <a:solidFill>
                  <a:srgbClr val="C9D8D2"/>
                </a:solidFill>
                <a:latin typeface="Aptos"/>
                <a:ea typeface="Aptos"/>
                <a:cs typeface="Aptos"/>
              </a:rPr>
              <a:t>credentialed Appfigures rows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8827CEE-6200-42AD-857B-7509E40A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79F7116-A18B-4553-AB51-03A2F67D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Source: local backend status, review queue and Appfigures import path. Backend is local and review-gated.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2A08BBC-607D-48E4-AA28-8C1F878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9BB5AC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9BB5AC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07462961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22980B-243F-4C4D-B18A-3D59A385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4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6EACE-ABC4-4E1A-8901-9A8EB1D1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3E692-7492-4F2C-9295-DDE28579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AFCD2-A099-4598-B7A0-224F9AF0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8DBBC-D388-4BAC-A0F5-12FC90E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AD97E-54F3-43AB-BA1F-57B5F1C9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15C9E-2089-4CD0-AA4C-B0AD9AD5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D669E-D024-42FB-BDEF-FDD30034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C4118-F939-4B04-9479-519B7E03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EFC26-4E02-407A-83C2-6C1FBC4A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38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1B584-56E7-44FF-A50E-25BF9BB9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D7C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6FB66-2BEE-4C42-A17F-AC1F878A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F7DDF-F84D-42BF-9F0A-9A5F0796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168E7D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168E7D"/>
                </a:solidFill>
                <a:latin typeface="Aptos"/>
                <a:ea typeface="Aptos"/>
                <a:cs typeface="Aptos"/>
              </a:rPr>
              <a:t>SEND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ADEC2-ECCF-4FD2-88AC-BC33794C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5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1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A5252-EFA8-41AD-800A-B4E6391F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Use a slide-led executive package, not a dashboard tour.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E4D82-B16B-4158-B2DF-F3B14FF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The slide deck carries the answer; the report and database carry the audit trail.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0C39E-FDD8-4272-9DA2-F5CF858B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0DC1D-A2CF-40D9-9ABE-0201F38E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A49DD-E169-4F93-BFD6-45BD31BD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9A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FF4DB-25E4-40A0-A37A-5908D9DC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SEND FIRST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61BAB-7BA5-415E-9E44-FCBB386F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66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Executive Summary PPTX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122C0-9953-4FE3-A173-D064F62C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Primary meeting read. Opens with the brief answers and validation gates.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72025-7A80-409C-8DA0-C63F95BA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8BBCD-020D-4A80-87AF-E290171A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AFB92-8876-4910-B97A-FA53C4A2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43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5FC097-C4E7-464F-8996-CCBFAF7A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071B18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071B18"/>
                </a:solidFill>
                <a:latin typeface="Aptos"/>
                <a:ea typeface="Aptos"/>
                <a:cs typeface="Aptos"/>
              </a:rPr>
              <a:t>USE AS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A3EFE9-3A37-4CA3-B2E0-429D4645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5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Final report + database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DCDFD-E764-4CE8-BB0E-135DE1E8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Full market landscape, player rows, claim matrix, sources and appendices.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BC632E-ABAA-407D-BCEB-A6566CDA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781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CFB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AAFA37-9B0E-4C46-93CC-B270E46D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2781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834959-059E-47BB-8EB7-D67B482C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156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E7785A-B42F-409D-A9A7-7CE3C05D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914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STILL BLOCKED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4D08FB-6F71-4DB1-979A-F1DFB837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74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 i="0">
                <a:solidFill>
                  <a:srgbClr val="071B18"/>
                </a:solidFill>
                <a:latin typeface="Aptos Display"/>
                <a:ea typeface="Aptos Display"/>
                <a:cs typeface="Aptos Display"/>
              </a:rPr>
              <a:t>Appfigures + relationships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9002E0-98DA-484F-AB30-2212AC4C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81400"/>
            <a:ext cx="2152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85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Do not claim performance ranking or relationship status until populated.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A3395A-B637-42AE-B868-E0F6C968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8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9011B-7FE1-43DE-82C8-606A0C43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D49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0D49A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86F5DC-B5C4-4B33-A62F-07FA290C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57800"/>
            <a:ext cx="590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DF7"/>
                </a:solidFill>
                <a:latin typeface="Aptos"/>
                <a:ea typeface="Aptos"/>
                <a:cs typeface="Aptos"/>
              </a:rPr>
              <a:t>The deck is brief-led and recipient-ready. The remaining approval gates stay visible where they affect claims.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8059D1-3B2C-4D19-8110-F76A2B8B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BD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15E49E-89B4-45AE-B416-E8A015DC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Recommended order: PPTX first, PDF second, workbook/database for audit questions.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9563B7-07F2-4953-955D-94A873E4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341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585" b="0" i="0">
                <a:solidFill>
                  <a:srgbClr val="687A72"/>
                </a:solidFill>
                <a:latin typeface="Aptos"/>
                <a:ea typeface="Aptos"/>
                <a:cs typeface="Aptos"/>
              </a:defRPr>
            </a:pPr>
            <a:r>
              <a:rPr sz="585" b="0" i="0">
                <a:solidFill>
                  <a:srgbClr val="687A72"/>
                </a:solidFill>
                <a:latin typeface="Aptos"/>
                <a:ea typeface="Aptos"/>
                <a:cs typeface="Aptos"/>
              </a:rPr>
              <a:t>Yousician Strategic Environment Mapping v3.4</a:t>
            </a:r>
          </a:p>
        </p:txBody>
      </p:sp>
    </p:spTree>
    <p:extLst>
      <p:ext uri="{BB962C8B-B14F-4D97-AF65-F5344CB8AC3E}">
        <p14:creationId xmlns:p14="http://schemas.microsoft.com/office/powerpoint/2010/main" val="1782438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2026-06-11T18:38:27.2140000Z</dcterms:created>
  <dcterms:modified xsi:type="dcterms:W3CDTF">2026-06-11T18:38:27.2140000Z</dcterms:modified>
</coreProperties>
</file>