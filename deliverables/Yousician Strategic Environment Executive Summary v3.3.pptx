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97f73dec7e847f4" /><Relationship Type="http://schemas.openxmlformats.org/officeDocument/2006/relationships/extended-properties" Target="/docProps/app.xml" Id="R3950f0cebd7f416f" /><Relationship Type="http://schemas.openxmlformats.org/officeDocument/2006/relationships/officeDocument" Target="/ppt/presentation.xml" Id="R681aa95583fa44a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576b539c052460a"/>
  </p:sldMasterIdLst>
  <p:notesMasterIdLst>
    <p:notesMasterId xmlns:r="http://schemas.openxmlformats.org/officeDocument/2006/relationships" r:id="Rb31647f502f24227"/>
  </p:notesMasterIdLst>
  <p:sldIdLst>
    <p:sldId xmlns:r="http://schemas.openxmlformats.org/officeDocument/2006/relationships" id="256" r:id="R49eecd20cc304d37"/>
    <p:sldId xmlns:r="http://schemas.openxmlformats.org/officeDocument/2006/relationships" id="257" r:id="Rca0cedf13059404e"/>
    <p:sldId xmlns:r="http://schemas.openxmlformats.org/officeDocument/2006/relationships" id="258" r:id="Rb1e2505944454e5b"/>
    <p:sldId xmlns:r="http://schemas.openxmlformats.org/officeDocument/2006/relationships" id="259" r:id="R5d3b26fe7680456a"/>
    <p:sldId xmlns:r="http://schemas.openxmlformats.org/officeDocument/2006/relationships" id="260" r:id="Rb9ce6dd401694371"/>
    <p:sldId xmlns:r="http://schemas.openxmlformats.org/officeDocument/2006/relationships" id="261" r:id="R59e2dd2ea1594439"/>
    <p:sldId xmlns:r="http://schemas.openxmlformats.org/officeDocument/2006/relationships" id="262" r:id="Rcf638beb80284916"/>
    <p:sldId xmlns:r="http://schemas.openxmlformats.org/officeDocument/2006/relationships" id="263" r:id="Rfbe23774ba0b4916"/>
    <p:sldId xmlns:r="http://schemas.openxmlformats.org/officeDocument/2006/relationships" id="264" r:id="R59f2a6aac5604d29"/>
    <p:sldId xmlns:r="http://schemas.openxmlformats.org/officeDocument/2006/relationships" id="265" r:id="R38bbb626e29c4dd0"/>
    <p:sldId xmlns:r="http://schemas.openxmlformats.org/officeDocument/2006/relationships" id="266" r:id="R9cdac577bf0b46f3"/>
    <p:sldId xmlns:r="http://schemas.openxmlformats.org/officeDocument/2006/relationships" id="267" r:id="R92c38ea4e1d24a5e"/>
    <p:sldId xmlns:r="http://schemas.openxmlformats.org/officeDocument/2006/relationships" id="268" r:id="Rf11f33e0b27947c4"/>
    <p:sldId xmlns:r="http://schemas.openxmlformats.org/officeDocument/2006/relationships" id="269" r:id="Re97acd934d6d439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8cbe77d61f94ca2" /><Relationship Type="http://schemas.openxmlformats.org/officeDocument/2006/relationships/slideMaster" Target="/ppt/slideMasters/slideMaster1.xml" Id="R3576b539c052460a" /><Relationship Type="http://schemas.openxmlformats.org/officeDocument/2006/relationships/notesMaster" Target="/ppt/notesMasters/notesMaster1.xml" Id="Rb31647f502f24227" /><Relationship Type="http://schemas.openxmlformats.org/officeDocument/2006/relationships/presProps" Target="/ppt/presProps.xml" Id="R4450c90686844406" /><Relationship Type="http://schemas.openxmlformats.org/officeDocument/2006/relationships/viewProps" Target="/ppt/viewProps.xml" Id="R2c8dd9337684482f" /><Relationship Type="http://schemas.openxmlformats.org/officeDocument/2006/relationships/tableStyles" Target="/ppt/tableStyles.xml" Id="Rfd44d4b894ff49d3" /><Relationship Type="http://schemas.openxmlformats.org/officeDocument/2006/relationships/slide" Target="/ppt/slides/slide1.xml" Id="R49eecd20cc304d37" /><Relationship Type="http://schemas.openxmlformats.org/officeDocument/2006/relationships/slide" Target="/ppt/slides/slide2.xml" Id="Rca0cedf13059404e" /><Relationship Type="http://schemas.openxmlformats.org/officeDocument/2006/relationships/slide" Target="/ppt/slides/slide3.xml" Id="Rb1e2505944454e5b" /><Relationship Type="http://schemas.openxmlformats.org/officeDocument/2006/relationships/slide" Target="/ppt/slides/slide4.xml" Id="R5d3b26fe7680456a" /><Relationship Type="http://schemas.openxmlformats.org/officeDocument/2006/relationships/slide" Target="/ppt/slides/slide5.xml" Id="Rb9ce6dd401694371" /><Relationship Type="http://schemas.openxmlformats.org/officeDocument/2006/relationships/slide" Target="/ppt/slides/slide6.xml" Id="R59e2dd2ea1594439" /><Relationship Type="http://schemas.openxmlformats.org/officeDocument/2006/relationships/slide" Target="/ppt/slides/slide7.xml" Id="Rcf638beb80284916" /><Relationship Type="http://schemas.openxmlformats.org/officeDocument/2006/relationships/slide" Target="/ppt/slides/slide8.xml" Id="Rfbe23774ba0b4916" /><Relationship Type="http://schemas.openxmlformats.org/officeDocument/2006/relationships/slide" Target="/ppt/slides/slide9.xml" Id="R59f2a6aac5604d29" /><Relationship Type="http://schemas.openxmlformats.org/officeDocument/2006/relationships/slide" Target="/ppt/slides/slide10.xml" Id="R38bbb626e29c4dd0" /><Relationship Type="http://schemas.openxmlformats.org/officeDocument/2006/relationships/slide" Target="/ppt/slides/slide11.xml" Id="R9cdac577bf0b46f3" /><Relationship Type="http://schemas.openxmlformats.org/officeDocument/2006/relationships/slide" Target="/ppt/slides/slide12.xml" Id="R92c38ea4e1d24a5e" /><Relationship Type="http://schemas.openxmlformats.org/officeDocument/2006/relationships/slide" Target="/ppt/slides/slide13.xml" Id="Rf11f33e0b27947c4" /><Relationship Type="http://schemas.openxmlformats.org/officeDocument/2006/relationships/slide" Target="/ppt/slides/slide14.xml" Id="Re97acd934d6d439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1e8666bcd70402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712dc4cbdc14ea1" /><Relationship Type="http://schemas.openxmlformats.org/officeDocument/2006/relationships/notesMaster" Target="/ppt/notesMasters/notesMaster1.xml" Id="R99a98d81ad4e475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2acd4cfaf2d46b9" /><Relationship Type="http://schemas.openxmlformats.org/officeDocument/2006/relationships/notesMaster" Target="/ppt/notesMasters/notesMaster1.xml" Id="R453197b2ba9247b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f6a2d89f08e4daf" /><Relationship Type="http://schemas.openxmlformats.org/officeDocument/2006/relationships/notesMaster" Target="/ppt/notesMasters/notesMaster1.xml" Id="R253a13a18d8a404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1419f9a81d34be8" /><Relationship Type="http://schemas.openxmlformats.org/officeDocument/2006/relationships/notesMaster" Target="/ppt/notesMasters/notesMaster1.xml" Id="Ra2cd9c789f5244c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04ee7f4b93645ff" /><Relationship Type="http://schemas.openxmlformats.org/officeDocument/2006/relationships/notesMaster" Target="/ppt/notesMasters/notesMaster1.xml" Id="R4de56e02d63141f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ec16b424b6540ab" /><Relationship Type="http://schemas.openxmlformats.org/officeDocument/2006/relationships/notesMaster" Target="/ppt/notesMasters/notesMaster1.xml" Id="Rfd52462df9bc4eb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b84547c894b4c49" /><Relationship Type="http://schemas.openxmlformats.org/officeDocument/2006/relationships/notesMaster" Target="/ppt/notesMasters/notesMaster1.xml" Id="R2923abf4083a4c0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dc7636396d24d7a" /><Relationship Type="http://schemas.openxmlformats.org/officeDocument/2006/relationships/notesMaster" Target="/ppt/notesMasters/notesMaster1.xml" Id="Ra12dfb430aa6403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2a88872332748f1" /><Relationship Type="http://schemas.openxmlformats.org/officeDocument/2006/relationships/notesMaster" Target="/ppt/notesMasters/notesMaster1.xml" Id="Rb3429ebb949a4e5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fd491abb76a4491" /><Relationship Type="http://schemas.openxmlformats.org/officeDocument/2006/relationships/notesMaster" Target="/ppt/notesMasters/notesMaster1.xml" Id="R9e3b710feb2646c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4bfbb3533104414" /><Relationship Type="http://schemas.openxmlformats.org/officeDocument/2006/relationships/notesMaster" Target="/ppt/notesMasters/notesMaster1.xml" Id="Rc9414508decd41e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4886f17450e46e6" /><Relationship Type="http://schemas.openxmlformats.org/officeDocument/2006/relationships/notesMaster" Target="/ppt/notesMasters/notesMaster1.xml" Id="R3d5f5acbf707447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94b8c1c72864adf" /><Relationship Type="http://schemas.openxmlformats.org/officeDocument/2006/relationships/notesMaster" Target="/ppt/notesMasters/notesMaster1.xml" Id="R817574e6520e414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d9bebeb983443c1" /><Relationship Type="http://schemas.openxmlformats.org/officeDocument/2006/relationships/notesMaster" Target="/ppt/notesMasters/notesMaster1.xml" Id="R198f09ad82ae406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958759bccc4a8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bf1066f2291483d" /><Relationship Type="http://schemas.openxmlformats.org/officeDocument/2006/relationships/slideLayout" Target="/ppt/slideLayouts/slideLayout1.xml" Id="R745cb4a0df4a441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45cb4a0df4a441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794b7a7a994f31" /><Relationship Type="http://schemas.openxmlformats.org/officeDocument/2006/relationships/notesSlide" Target="/ppt/notesSlides/notesSlide1.xml" Id="R6f497cd78b5f434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acea95f0bc48ae" /><Relationship Type="http://schemas.openxmlformats.org/officeDocument/2006/relationships/notesSlide" Target="/ppt/notesSlides/notesSlide2.xml" Id="R8a35c32c722942d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d1b1b1dd2d4307" /><Relationship Type="http://schemas.openxmlformats.org/officeDocument/2006/relationships/notesSlide" Target="/ppt/notesSlides/notesSlide3.xml" Id="Rad25dcc761dd4f7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5a5848c85f4f6e" /><Relationship Type="http://schemas.openxmlformats.org/officeDocument/2006/relationships/notesSlide" Target="/ppt/notesSlides/notesSlide4.xml" Id="Rb6bc242e01ce45f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c4281531354c4f" /><Relationship Type="http://schemas.openxmlformats.org/officeDocument/2006/relationships/notesSlide" Target="/ppt/notesSlides/notesSlide5.xml" Id="R840e4168a1d44c0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eac6c1267b46c4" /><Relationship Type="http://schemas.openxmlformats.org/officeDocument/2006/relationships/notesSlide" Target="/ppt/notesSlides/notesSlide6.xml" Id="Rfea2fe7e8f1b472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b09b87663c4060" /><Relationship Type="http://schemas.openxmlformats.org/officeDocument/2006/relationships/notesSlide" Target="/ppt/notesSlides/notesSlide7.xml" Id="Rfedd1d089aa7475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b1969533734fcb" /><Relationship Type="http://schemas.openxmlformats.org/officeDocument/2006/relationships/notesSlide" Target="/ppt/notesSlides/notesSlide8.xml" Id="R92625caba7cd4bb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7212f6796f4bd9" /><Relationship Type="http://schemas.openxmlformats.org/officeDocument/2006/relationships/notesSlide" Target="/ppt/notesSlides/notesSlide9.xml" Id="R3728460a1986461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19721469d14d15" /><Relationship Type="http://schemas.openxmlformats.org/officeDocument/2006/relationships/notesSlide" Target="/ppt/notesSlides/notesSlide10.xml" Id="R71a72b1d837d44e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a39b4f743148f1" /><Relationship Type="http://schemas.openxmlformats.org/officeDocument/2006/relationships/notesSlide" Target="/ppt/notesSlides/notesSlide11.xml" Id="R96b491d8041a486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a1bc1275c64c1b" /><Relationship Type="http://schemas.openxmlformats.org/officeDocument/2006/relationships/notesSlide" Target="/ppt/notesSlides/notesSlide12.xml" Id="R096d8b5b16764a0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557af7aa434ed9" /><Relationship Type="http://schemas.openxmlformats.org/officeDocument/2006/relationships/notesSlide" Target="/ppt/notesSlides/notesSlide13.xml" Id="R5e591f73f8fe453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c85a134d094e87" /><Relationship Type="http://schemas.openxmlformats.org/officeDocument/2006/relationships/notesSlide" Target="/ppt/notesSlides/notesSlide14.xml" Id="Red1cf1a13a3142a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7CB65CF-80E5-4866-8775-24E1C8B1B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18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D3E620-A548-4A80-8234-E8C925A4F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953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83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2B239C-F400-4053-8542-D61FDF173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83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B29609-38B3-45B2-9D9B-E4127A71F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83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155079-3D4E-4DA6-AEFA-495DB4A49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83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EF25F0-0323-4C6D-B79D-AADDE7B37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83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4473EC-16E2-4219-A753-7841FD80D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816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83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12D17A-537E-46FA-909C-343ABD2BB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340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83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13C690-B826-4EE1-8BB5-D71816654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864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83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7CD85B-EFDC-436E-B5C5-23F42C7DA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388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83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A7E535-5574-4E07-8D44-AC1F2C789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83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AFE809-55EE-4924-8BDD-C1763F9F7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9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6F11C8-43E8-4011-B63B-C2FBB611A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2425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00D49A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00D49A"/>
                </a:solidFill>
                <a:latin typeface="Aptos"/>
                <a:ea typeface="Aptos"/>
                <a:cs typeface="Aptos"/>
              </a:rPr>
              <a:t>EXECUTIVE DECK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92868D-006D-4BF6-9D08-90A697168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35242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1" i="0">
                <a:solidFill>
                  <a:srgbClr val="B8CCC5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B8CCC5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D19338-06A4-47BE-AEDE-DF01B9E93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-1619250"/>
            <a:ext cx="6000750" cy="600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3A3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05252F-2FCD-4E25-90DA-8C4338D02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09875"/>
            <a:ext cx="2000250" cy="200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594E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04BD20-94F0-4207-8556-F9D0BEBF3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19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49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03358F-A5B5-4731-B74E-1B2CB3AB3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1000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15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615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EXECUTIVE BRIEF READ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9284EE-8573-4809-A96F-5C5DBAFD2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7239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FFFDF7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 i="0">
                <a:solidFill>
                  <a:srgbClr val="FFFDF7"/>
                </a:solidFill>
                <a:latin typeface="Aptos Display"/>
                <a:ea typeface="Aptos Display"/>
                <a:cs typeface="Aptos Display"/>
              </a:rPr>
              <a:t>Strategic Environment Mapping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A2795B-FD6F-4E65-B8A8-55B89C7EF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619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BED1CA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BED1CA"/>
                </a:solidFill>
                <a:latin typeface="Aptos"/>
                <a:ea typeface="Aptos"/>
                <a:cs typeface="Aptos"/>
              </a:rPr>
              <a:t>A sharper executive deck: who shapes music learning, who shapes music as a hobby, and which evidence gates still block Board-safe conclusions.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5B4596-9091-4868-9599-D8EFEA074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433387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0D49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i="0">
                <a:solidFill>
                  <a:srgbClr val="00D49A"/>
                </a:solidFill>
                <a:latin typeface="Aptos Display"/>
                <a:ea typeface="Aptos Display"/>
                <a:cs typeface="Aptos Display"/>
              </a:rPr>
              <a:t>Not a competitor list.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DAE005-3877-4301-BAE3-35F9BF91A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57575"/>
            <a:ext cx="4476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An ecosystem view around Yousician.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0A31DB9-9C35-4AA6-87D7-7A4E467CC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14478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A24"/>
          </a:solidFill>
          <a:ln xmlns:a="http://schemas.openxmlformats.org/drawingml/2006/main" w="9525">
            <a:solidFill>
              <a:srgbClr val="2A524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32DF48-C6FE-4AFC-B746-AFD4FC747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9585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1398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00D49A"/>
                </a:solidFill>
                <a:latin typeface="Aptos"/>
                <a:ea typeface="Aptos"/>
                <a:cs typeface="Aptos"/>
              </a:defRPr>
            </a:pPr>
            <a:r>
              <a:rPr sz="2325" b="1" i="0">
                <a:solidFill>
                  <a:srgbClr val="00D49A"/>
                </a:solidFill>
                <a:latin typeface="Aptos"/>
                <a:ea typeface="Aptos"/>
                <a:cs typeface="Aptos"/>
              </a:rPr>
              <a:t>96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B8DCA10-4757-4B31-8471-6920EBA3B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38750"/>
            <a:ext cx="1104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60" b="1" i="0">
                <a:solidFill>
                  <a:srgbClr val="C9D8D2"/>
                </a:solidFill>
                <a:latin typeface="Aptos"/>
                <a:ea typeface="Aptos"/>
                <a:cs typeface="Aptos"/>
              </a:defRPr>
            </a:pPr>
            <a:r>
              <a:rPr sz="660" b="1" i="0">
                <a:solidFill>
                  <a:srgbClr val="C9D8D2"/>
                </a:solidFill>
                <a:latin typeface="Aptos"/>
                <a:ea typeface="Aptos"/>
                <a:cs typeface="Aptos"/>
              </a:rPr>
              <a:t>tracked records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DC8C616-A1A5-4B75-80FA-DCE8DC94E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781550"/>
            <a:ext cx="14478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A24"/>
          </a:solidFill>
          <a:ln xmlns:a="http://schemas.openxmlformats.org/drawingml/2006/main" w="9525">
            <a:solidFill>
              <a:srgbClr val="2A524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D04499D-A45A-4E40-961D-EB0E7CF8C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89585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1398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00D49A"/>
                </a:solidFill>
                <a:latin typeface="Aptos"/>
                <a:ea typeface="Aptos"/>
                <a:cs typeface="Aptos"/>
              </a:defRPr>
            </a:pPr>
            <a:r>
              <a:rPr sz="2325" b="1" i="0">
                <a:solidFill>
                  <a:srgbClr val="00D49A"/>
                </a:solidFill>
                <a:latin typeface="Aptos"/>
                <a:ea typeface="Aptos"/>
                <a:cs typeface="Aptos"/>
              </a:rPr>
              <a:t>28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46BA89D-5EF3-4F63-8CF6-0DED9BBB4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238750"/>
            <a:ext cx="1104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60" b="1" i="0">
                <a:solidFill>
                  <a:srgbClr val="C9D8D2"/>
                </a:solidFill>
                <a:latin typeface="Aptos"/>
                <a:ea typeface="Aptos"/>
                <a:cs typeface="Aptos"/>
              </a:defRPr>
            </a:pPr>
            <a:r>
              <a:rPr sz="660" b="1" i="0">
                <a:solidFill>
                  <a:srgbClr val="C9D8D2"/>
                </a:solidFill>
                <a:latin typeface="Aptos"/>
                <a:ea typeface="Aptos"/>
                <a:cs typeface="Aptos"/>
              </a:rPr>
              <a:t>key-player profiles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4F7F143-5D9D-47DC-A527-0A9622E5E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781550"/>
            <a:ext cx="14478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A24"/>
          </a:solidFill>
          <a:ln xmlns:a="http://schemas.openxmlformats.org/drawingml/2006/main" w="9525">
            <a:solidFill>
              <a:srgbClr val="2A524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B3D3A94-90AD-4A08-8085-0F57C8CC7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89585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1398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00D49A"/>
                </a:solidFill>
                <a:latin typeface="Aptos"/>
                <a:ea typeface="Aptos"/>
                <a:cs typeface="Aptos"/>
              </a:defRPr>
            </a:pPr>
            <a:r>
              <a:rPr sz="2325" b="1" i="0">
                <a:solidFill>
                  <a:srgbClr val="00D49A"/>
                </a:solidFill>
                <a:latin typeface="Aptos"/>
                <a:ea typeface="Aptos"/>
                <a:cs typeface="Aptos"/>
              </a:rPr>
              <a:t>48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3D3583B-B082-411D-AE9A-42172F20D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238750"/>
            <a:ext cx="1104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60" b="1" i="0">
                <a:solidFill>
                  <a:srgbClr val="C9D8D2"/>
                </a:solidFill>
                <a:latin typeface="Aptos"/>
                <a:ea typeface="Aptos"/>
                <a:cs typeface="Aptos"/>
              </a:defRPr>
            </a:pPr>
            <a:r>
              <a:rPr sz="660" b="1" i="0">
                <a:solidFill>
                  <a:srgbClr val="C9D8D2"/>
                </a:solidFill>
                <a:latin typeface="Aptos"/>
                <a:ea typeface="Aptos"/>
                <a:cs typeface="Aptos"/>
              </a:rPr>
              <a:t>board-grade market moves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821767C-10DB-4359-87A6-3FF4F96EE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781550"/>
            <a:ext cx="14478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A24"/>
          </a:solidFill>
          <a:ln xmlns:a="http://schemas.openxmlformats.org/drawingml/2006/main" w="9525">
            <a:solidFill>
              <a:srgbClr val="2A524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89A03E2-A7EB-458A-A374-5F7C19AE4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89585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1398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F06156"/>
                </a:solidFill>
                <a:latin typeface="Aptos"/>
                <a:ea typeface="Aptos"/>
                <a:cs typeface="Aptos"/>
              </a:defRPr>
            </a:pPr>
            <a:r>
              <a:rPr sz="2325" b="1" i="0">
                <a:solidFill>
                  <a:srgbClr val="F06156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BE25DE4-53E7-4D44-BF74-C0A957E31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5238750"/>
            <a:ext cx="1104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040"/>
          </a:bodyPr>
          <a:lstStyle xmlns:a="http://schemas.openxmlformats.org/drawingml/2006/main"/>
          <a:p xmlns:a="http://schemas.openxmlformats.org/drawingml/2006/main">
            <a:pPr algn="l">
              <a:defRPr sz="660" b="1" i="0">
                <a:solidFill>
                  <a:srgbClr val="C9D8D2"/>
                </a:solidFill>
                <a:latin typeface="Aptos"/>
                <a:ea typeface="Aptos"/>
                <a:cs typeface="Aptos"/>
              </a:defRPr>
            </a:pPr>
            <a:r>
              <a:rPr sz="660" b="1" i="0">
                <a:solidFill>
                  <a:srgbClr val="C9D8D2"/>
                </a:solidFill>
                <a:latin typeface="Aptos"/>
                <a:ea typeface="Aptos"/>
                <a:cs typeface="Aptos"/>
              </a:rPr>
              <a:t>credentialed Appfigures rows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2E71A87-029F-4B62-A5FF-1DE3A48B0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428750"/>
            <a:ext cx="2171700" cy="2686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513"/>
          </a:solidFill>
          <a:ln xmlns:a="http://schemas.openxmlformats.org/drawingml/2006/main" w="9525">
            <a:solidFill>
              <a:srgbClr val="3A625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AF9AA4F-2BCF-4670-AB0D-73308EC4C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809750"/>
            <a:ext cx="1657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75727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FFDF7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 i="0">
                <a:solidFill>
                  <a:srgbClr val="FFFDF7"/>
                </a:solidFill>
                <a:latin typeface="Aptos Display"/>
                <a:ea typeface="Aptos Display"/>
                <a:cs typeface="Aptos Display"/>
              </a:rPr>
              <a:t>Open the slides first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F8B270D-4204-440F-96A7-6A39DF42E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36220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9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31898FE-CD64-40A3-8C8B-0746D2832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647950"/>
            <a:ext cx="16573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C4D5CF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C4D5CF"/>
                </a:solidFill>
                <a:latin typeface="Aptos"/>
                <a:ea typeface="Aptos"/>
                <a:cs typeface="Aptos"/>
              </a:rPr>
              <a:t>The report and workbook support the story; the slide deck should be the first experience.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73A7849-9664-49DA-979C-992BBBEB4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4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70C8014-5ACB-4DA6-8795-B332701E9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838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5" b="0" i="0">
                <a:solidFill>
                  <a:srgbClr val="9BB5AC"/>
                </a:solidFill>
                <a:latin typeface="Aptos"/>
                <a:ea typeface="Aptos"/>
                <a:cs typeface="Aptos"/>
              </a:defRPr>
            </a:pPr>
            <a:r>
              <a:rPr sz="585" b="0" i="0">
                <a:solidFill>
                  <a:srgbClr val="9BB5AC"/>
                </a:solidFill>
                <a:latin typeface="Aptos"/>
                <a:ea typeface="Aptos"/>
                <a:cs typeface="Aptos"/>
              </a:rPr>
              <a:t>Prepared 2026-06-11. Appfigures, relationships and hard claims remain visible gates.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9E00BE3-5D26-4035-B191-717D561DE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534150"/>
            <a:ext cx="2133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585" b="0" i="0">
                <a:solidFill>
                  <a:srgbClr val="9BB5AC"/>
                </a:solidFill>
                <a:latin typeface="Aptos"/>
                <a:ea typeface="Aptos"/>
                <a:cs typeface="Aptos"/>
              </a:defRPr>
            </a:pPr>
            <a:r>
              <a:rPr sz="585" b="0" i="0">
                <a:solidFill>
                  <a:srgbClr val="9BB5AC"/>
                </a:solidFill>
                <a:latin typeface="Aptos"/>
                <a:ea typeface="Aptos"/>
                <a:cs typeface="Aptos"/>
              </a:rPr>
              <a:t>Yousician Strategic Environment Mapping v3.4</a:t>
            </a:r>
          </a:p>
        </p:txBody>
      </p:sp>
    </p:spTree>
    <p:extLst>
      <p:ext uri="{BB962C8B-B14F-4D97-AF65-F5344CB8AC3E}">
        <p14:creationId xmlns:p14="http://schemas.microsoft.com/office/powerpoint/2010/main" val="124728523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11CAFF7-A5B8-430F-BE7D-14F1D99DA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4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859244-547E-40D8-B327-B9AF79BE8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953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D7C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FC8C88-2F4F-4DBF-A83B-7C35B5F45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D7C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68EDE6-15B9-4281-9E94-7F146D029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D7C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A3B9FC-B27F-4BF0-B4AA-C6BD41889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D7C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630DDE-B765-4E43-9D70-C8EDE82E9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D7C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F63E88-B559-43EC-B22B-EBC9F6CD6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816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D7C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4657D2-CC8A-4AB9-9DBF-3512306FB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340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D7C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48D77F-155C-4013-AA06-8EB46B020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864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D7C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521C8D-E12F-4719-82AA-50C97AD62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388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D7C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CB5664-01E3-46A3-8E8A-698EE4D4A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D7C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028821-4AC5-47CD-A1BD-CDCE59E5B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18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E0994F-39EB-47CC-96D2-34AB321B6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2425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168E7D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168E7D"/>
                </a:solidFill>
                <a:latin typeface="Aptos"/>
                <a:ea typeface="Aptos"/>
                <a:cs typeface="Aptos"/>
              </a:rPr>
              <a:t>GUIDING QUESTIONS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40023E-687E-4506-89BF-0520CCED8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35242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1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6AF593-CFC0-437D-A77D-DDEA877BC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8763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rPr>
              <a:t>Answer the brief in three lines first.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AF18DE-D494-4EB3-A85C-54F34633B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7810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Everything else should support these answers, not compete with them.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DFFE61-6F30-4162-94EB-0163955EE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30861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CFB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2F8D03-BE18-4F72-B32A-404CABF8C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30861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9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38928B-1E7A-485F-8900-46F34E1AF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19350"/>
            <a:ext cx="666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00D49A"/>
                </a:solidFill>
                <a:latin typeface="Aptos"/>
                <a:ea typeface="Aptos"/>
                <a:cs typeface="Aptos"/>
              </a:defRPr>
            </a:pPr>
            <a:r>
              <a:rPr sz="3150" b="1" i="0">
                <a:solidFill>
                  <a:srgbClr val="00D49A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6EB0B6-865F-4946-85EE-7E9AA3049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05150"/>
            <a:ext cx="23812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3789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rPr>
              <a:t>Future of music learning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5ED987-A684-4179-B964-0E866E83B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3380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Direct learning apps, hardware-backed ecosystems, song/practice systems, AI feedback utilities, creator educators and education benchmarks.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69513D-640C-4C92-8755-C548A51D3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133600"/>
            <a:ext cx="30861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CFB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BCD69B-E173-4D92-9B70-678218BB8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133600"/>
            <a:ext cx="30861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BD4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BB85A63-16E2-4061-8A62-C074837B4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419350"/>
            <a:ext cx="666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7BD43"/>
                </a:solidFill>
                <a:latin typeface="Aptos"/>
                <a:ea typeface="Aptos"/>
                <a:cs typeface="Aptos"/>
              </a:defRPr>
            </a:pPr>
            <a:r>
              <a:rPr sz="3150" b="1" i="0">
                <a:solidFill>
                  <a:srgbClr val="F7BD43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D2312F2-0A6B-4037-9E06-EB9F32FC9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105150"/>
            <a:ext cx="23812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422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rPr>
              <a:t>Future of music as a hobby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F481F04-AF2B-45CE-85F2-91686BEFD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73380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TikTok, YouTube, Spotify, song libraries, creator tools, artists/cultural moments, retailers and AI generation tools.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26FD32E-2B7B-4A9D-8812-E046264DB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33600"/>
            <a:ext cx="30861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CFB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0804A46-A214-402D-AD75-EB3F7D6F0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33600"/>
            <a:ext cx="30861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78F2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57F9ABF-337D-4E6C-A29E-B27546B39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19350"/>
            <a:ext cx="666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5F78F2"/>
                </a:solidFill>
                <a:latin typeface="Aptos"/>
                <a:ea typeface="Aptos"/>
                <a:cs typeface="Aptos"/>
              </a:defRPr>
            </a:pPr>
            <a:r>
              <a:rPr sz="3150" b="1" i="0">
                <a:solidFill>
                  <a:srgbClr val="5F78F2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25BF5CF-9960-4FBC-852E-640C18E60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105150"/>
            <a:ext cx="23812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1522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rPr>
              <a:t>Yousician's strategic environment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F0B7C6D-3D10-4BAA-AC28-B10AF73E1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73380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AI companies, rights owners, direct competitors, hardware brands, creators, publishers, investors, awards and education bodies.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14C9611-DD07-48DB-889B-0C0C83258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34000"/>
            <a:ext cx="8953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CFBD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15CF386-E362-4D5C-9538-63A30B1EF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34000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E7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64A73B9-313D-4BAB-874D-B4D9AC061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467350"/>
            <a:ext cx="8534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Executive rule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0FF8E76-F475-4948-9183-1FA77A2A8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734050"/>
            <a:ext cx="85344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defRPr sz="765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765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Every slide after this should either answer one of these questions, prove the answer, or mark a validation gate.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DD2035C-514E-4045-A00A-71D260365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B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AA490AC-7E2F-4A4E-ABAB-8986BA41E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838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5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585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Source: brief requirements and executive synthesis layer.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DE43F66-21A6-40B2-91FE-E7E837933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534150"/>
            <a:ext cx="2133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585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585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Yousician Strategic Environment Mapping v3.4</a:t>
            </a:r>
          </a:p>
        </p:txBody>
      </p:sp>
    </p:spTree>
    <p:extLst>
      <p:ext uri="{BB962C8B-B14F-4D97-AF65-F5344CB8AC3E}">
        <p14:creationId xmlns:p14="http://schemas.microsoft.com/office/powerpoint/2010/main" val="99841101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5662049-4E6C-4FEC-9EBF-5D4E284B4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18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A48932-C9C1-4078-8EA7-2130EE654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953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83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0AE836-3662-403F-B853-905F2EB3E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83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029CE4-BD76-449F-B318-62C1A2B57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83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FBF4F4-7183-4750-A20A-0ADFD2F4D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83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629F29-9753-4CA6-896B-D6F95EF74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83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FDB97B-33C2-4BA2-ACDD-BCF51A891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816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83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6E1222-7E3A-4C52-BA0A-E340FD8ED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340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83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CCACCC-7BFB-4BBA-AE71-22FDE5D5A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864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83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65EDE1-C13E-4F73-83CF-B3BFDABB9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388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83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31D828-C8F7-4F94-A2E1-46F946B41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83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82C979-34BD-41DE-9CFB-C6CF4B161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9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640794-A935-4134-B141-CC94EA5F7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2425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00D49A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00D49A"/>
                </a:solidFill>
                <a:latin typeface="Aptos"/>
                <a:ea typeface="Aptos"/>
                <a:cs typeface="Aptos"/>
              </a:rPr>
              <a:t>ECOSYSTEM MAP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CF43C7-C86E-47E0-81F9-E37A81E91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35242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1" i="0">
                <a:solidFill>
                  <a:srgbClr val="B8CCC5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B8CCC5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E5B04C-83DE-4EB9-A73B-06D877983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9334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FFDF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i="0">
                <a:solidFill>
                  <a:srgbClr val="FFFDF7"/>
                </a:solidFill>
                <a:latin typeface="Aptos Display"/>
                <a:ea typeface="Aptos Display"/>
                <a:cs typeface="Aptos Display"/>
              </a:rPr>
              <a:t>The learner is surrounded by influence layers before any app choice happens.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82FACB-6986-40C5-8E7D-5183D34F2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81150"/>
            <a:ext cx="8191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BED1CA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BED1CA"/>
                </a:solidFill>
                <a:latin typeface="Aptos"/>
                <a:ea typeface="Aptos"/>
                <a:cs typeface="Aptos"/>
              </a:rPr>
              <a:t>This is why the map must include creators, songs, hardware, education, AI, rights and funding.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6E4717-523D-40EC-95EF-A67D9F90A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98120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B25"/>
          </a:solidFill>
          <a:ln xmlns:a="http://schemas.openxmlformats.org/drawingml/2006/main" w="9525">
            <a:solidFill>
              <a:srgbClr val="375D5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02857D-A78C-4F61-8AF5-2031D81F6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2524125"/>
            <a:ext cx="2914650" cy="2914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B25"/>
          </a:solidFill>
          <a:ln xmlns:a="http://schemas.openxmlformats.org/drawingml/2006/main" w="9525">
            <a:solidFill>
              <a:srgbClr val="284B4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67C9FD-5C86-4829-BF27-086258398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076575"/>
            <a:ext cx="1809750" cy="1809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4"/>
          </a:solidFill>
          <a:ln xmlns:a="http://schemas.openxmlformats.org/drawingml/2006/main" w="9525">
            <a:solidFill>
              <a:srgbClr val="284B4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CE0FA4-65A6-454A-9EE6-77BE929D3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581400"/>
            <a:ext cx="1219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Yousician</a:t>
            </a:r>
          </a:p>
          <a:p xmlns:a="http://schemas.openxmlformats.org/drawingml/2006/main">
            <a:pPr algn="ctr">
              <a:defRPr sz="135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practice core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43D28F-0096-42B7-80CC-C647B1DD8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16668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49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7C38D5-EBC9-41D5-BBF2-798AE2B2A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685925"/>
            <a:ext cx="1562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60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660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Direct learning and practice apps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783CFA-A80B-4821-BB19-781A50DDC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3526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BD4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C7A0AB3-89ED-41BE-8E78-1F5D75F5E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71725"/>
            <a:ext cx="1562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60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660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Song and repertoire ownership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D8B4869-999B-4F46-BE45-690E48079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39719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F78F2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929DF4B-BFF5-4038-A02A-AC873FD49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990975"/>
            <a:ext cx="1562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60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660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Hardware-backed beginner funnels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FE53E8C-2457-406B-B4C7-154133D2E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56864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AEF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A24FCF0-7724-45E8-9423-4D8D884BE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705475"/>
            <a:ext cx="1562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60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660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AI practice utility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934133A-17CF-4D77-AAC5-3B164C900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56864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6156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91FF74A-3DC5-43BB-8A21-B16A1918B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705475"/>
            <a:ext cx="1562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60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660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Creation and production tools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E440417-C5A9-40CE-8B5F-1B0305005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39719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E7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E9ACC3F-53E2-4FED-ACA3-AD26E6129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90975"/>
            <a:ext cx="1562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60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660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Creator educators and media demand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8CC5498-A79B-4428-8CDD-8DB9FEB7A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23526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E7A5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F413827-B40F-4453-B777-4696048A3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71725"/>
            <a:ext cx="1562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60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660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Formal education and teacher netw...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37E9AEF-48BC-406A-9D79-243F01C91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62103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DEED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8245258-D289-4E04-876A-7840D638D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6229350"/>
            <a:ext cx="1562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60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660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AI creation, rights and platform...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5D32B80-F262-46DD-801D-8704060BC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30575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CE8F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AC4C293-722E-422A-BDD0-AE8F49742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38100" y="3076575"/>
            <a:ext cx="1562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60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660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Capital, awards and public funding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DC11888-123E-4CEE-8141-737EEAFB2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476500"/>
            <a:ext cx="2857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E"/>
          </a:solidFill>
          <a:ln xmlns:a="http://schemas.openxmlformats.org/drawingml/2006/main" w="9525">
            <a:solidFill>
              <a:srgbClr val="31574D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F40FD70-7CF9-4C1A-9C56-36CBB04EC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476500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9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D4292EA-CF85-4442-92A4-E543BB4EF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609850"/>
            <a:ext cx="2438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Inner ring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C582481-9AE9-4617-B4BA-12618DD2F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876550"/>
            <a:ext cx="2438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65" b="0" i="0">
                <a:solidFill>
                  <a:srgbClr val="BFD1CB"/>
                </a:solidFill>
                <a:latin typeface="Aptos"/>
                <a:ea typeface="Aptos"/>
                <a:cs typeface="Aptos"/>
              </a:defRPr>
            </a:pPr>
            <a:r>
              <a:rPr sz="765" b="0" i="0">
                <a:solidFill>
                  <a:srgbClr val="BFD1CB"/>
                </a:solidFill>
                <a:latin typeface="Aptos"/>
                <a:ea typeface="Aptos"/>
                <a:cs typeface="Aptos"/>
              </a:rPr>
              <a:t>Learning apps, repertoire, hardware funnels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5E35279-29B3-40CF-9AFE-2CB2CD21A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429000"/>
            <a:ext cx="2857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E"/>
          </a:solidFill>
          <a:ln xmlns:a="http://schemas.openxmlformats.org/drawingml/2006/main" w="9525">
            <a:solidFill>
              <a:srgbClr val="31574D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D1708C7-0872-4588-8E68-005713B6A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429000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BD4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BFB99A2-3E6B-4190-AD6F-318EC9395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3562350"/>
            <a:ext cx="2438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Middle ring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6E79699-CF48-4B83-AFA9-E087795EB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3829050"/>
            <a:ext cx="2438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65" b="0" i="0">
                <a:solidFill>
                  <a:srgbClr val="BFD1CB"/>
                </a:solidFill>
                <a:latin typeface="Aptos"/>
                <a:ea typeface="Aptos"/>
                <a:cs typeface="Aptos"/>
              </a:defRPr>
            </a:pPr>
            <a:r>
              <a:rPr sz="765" b="0" i="0">
                <a:solidFill>
                  <a:srgbClr val="BFD1CB"/>
                </a:solidFill>
                <a:latin typeface="Aptos"/>
                <a:ea typeface="Aptos"/>
                <a:cs typeface="Aptos"/>
              </a:rPr>
              <a:t>Creators, education, AI practice utilities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E8DDE38-23F3-42FF-AC60-6AC79804B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381500"/>
            <a:ext cx="2857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E"/>
          </a:solidFill>
          <a:ln xmlns:a="http://schemas.openxmlformats.org/drawingml/2006/main" w="9525">
            <a:solidFill>
              <a:srgbClr val="31574D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EC362EB-6CB8-4E38-B10D-AEB80FC10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381500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EF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DC7274C-AE45-48A0-BB8F-592AB972A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4514850"/>
            <a:ext cx="2438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Outer ring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65F26C1-56FC-45AE-BC8F-C14907F98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4781550"/>
            <a:ext cx="2438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65" b="0" i="0">
                <a:solidFill>
                  <a:srgbClr val="BFD1CB"/>
                </a:solidFill>
                <a:latin typeface="Aptos"/>
                <a:ea typeface="Aptos"/>
                <a:cs typeface="Aptos"/>
              </a:defRPr>
            </a:pPr>
            <a:r>
              <a:rPr sz="765" b="0" i="0">
                <a:solidFill>
                  <a:srgbClr val="BFD1CB"/>
                </a:solidFill>
                <a:latin typeface="Aptos"/>
                <a:ea typeface="Aptos"/>
                <a:cs typeface="Aptos"/>
              </a:rPr>
              <a:t>Rights, investors, media, funding, culture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D88A375-2CAB-4C26-8969-694B9233F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4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877BA5B-763C-4F60-A49B-05BFBD1B1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838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5" b="0" i="0">
                <a:solidFill>
                  <a:srgbClr val="9BB5AC"/>
                </a:solidFill>
                <a:latin typeface="Aptos"/>
                <a:ea typeface="Aptos"/>
                <a:cs typeface="Aptos"/>
              </a:defRPr>
            </a:pPr>
            <a:r>
              <a:rPr sz="585" b="0" i="0">
                <a:solidFill>
                  <a:srgbClr val="9BB5AC"/>
                </a:solidFill>
                <a:latin typeface="Aptos"/>
                <a:ea typeface="Aptos"/>
                <a:cs typeface="Aptos"/>
              </a:rPr>
              <a:t>Source: ecosystem_map_2_0_v3_2_2.csv. Positioning is a strategic synthesis from proximity, influence and momentum.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C102826-1681-48ED-B4C4-764E79C5C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534150"/>
            <a:ext cx="2133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585" b="0" i="0">
                <a:solidFill>
                  <a:srgbClr val="9BB5AC"/>
                </a:solidFill>
                <a:latin typeface="Aptos"/>
                <a:ea typeface="Aptos"/>
                <a:cs typeface="Aptos"/>
              </a:defRPr>
            </a:pPr>
            <a:r>
              <a:rPr sz="585" b="0" i="0">
                <a:solidFill>
                  <a:srgbClr val="9BB5AC"/>
                </a:solidFill>
                <a:latin typeface="Aptos"/>
                <a:ea typeface="Aptos"/>
                <a:cs typeface="Aptos"/>
              </a:rPr>
              <a:t>Yousician Strategic Environment Mapping v3.4</a:t>
            </a:r>
          </a:p>
        </p:txBody>
      </p:sp>
    </p:spTree>
    <p:extLst>
      <p:ext uri="{BB962C8B-B14F-4D97-AF65-F5344CB8AC3E}">
        <p14:creationId xmlns:p14="http://schemas.microsoft.com/office/powerpoint/2010/main" val="99512488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F8FC75D-C8A9-4FE2-8BB2-ED9DD96AA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4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75BDBE-730B-46B0-BF96-393E42663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953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D7C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18B9E5-8F6D-49EF-B748-A99D167F0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D7C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5B9531-D527-48F1-A0D6-853387695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D7C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A3E917-8999-46EA-A2FC-1F00AD498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D7C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7C608F-2F2B-42B9-A5E6-F6BC91D72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D7C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737FC0-8E9C-4A0A-A4C2-514D12A3A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816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D7C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9C1205-D974-45B6-BDB0-4CF159D63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340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D7C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913F7E-514D-4657-B008-3423B68D8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864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D7C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6172E2-700B-4122-8C1C-D94B8293B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388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D7C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2BECE9-1609-4233-99BA-C864C4D39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D7C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AB2D0D-DA95-4FCF-8FC4-1F759986C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18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E01ABD-2EE6-4D74-95F1-764982172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2425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168E7D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168E7D"/>
                </a:solidFill>
                <a:latin typeface="Aptos"/>
                <a:ea typeface="Aptos"/>
                <a:cs typeface="Aptos"/>
              </a:rPr>
              <a:t>PRIORITY ACTORS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E3B186-BB6C-4B94-9ACF-0F24CEAE9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35242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1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9E888C-BAAC-4B90-A92C-27180A7FC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8763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9583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rPr>
              <a:t>The top actors matter for different reasons, not the same score.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6E0213-9820-462B-AA01-306ADC837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7810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This is an influence ranking, not a revenue/download ranking.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0AD0B2-269F-4583-9B76-3F2924D16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B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396901-63D1-4831-9974-B7C9A0640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14525"/>
            <a:ext cx="304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0D49A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0D49A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C68124-BBE0-44C2-9665-B80121B93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47850"/>
            <a:ext cx="619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9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249328-643F-488D-B104-46F8CB057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24050"/>
            <a:ext cx="209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78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Suno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EA2CA3-C0F2-4935-8A92-1C61F9759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933575"/>
            <a:ext cx="3619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" b="0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645" b="0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AI creation and rights risk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09FE1F-CC64-4B0A-ACD6-0F7793D0B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86025"/>
            <a:ext cx="171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B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560B33-9391-4020-BA90-CEAE36CF8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24100"/>
            <a:ext cx="304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0D49A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0D49A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EECAD8B-A61E-4CC7-8921-03F6ECC93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57425"/>
            <a:ext cx="5867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9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28D7F20-0529-4C93-82FC-574F13391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333625"/>
            <a:ext cx="209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78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Music.AI / Moises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03252DF-EBB8-4D5E-AAC0-C47394753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343150"/>
            <a:ext cx="3295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" b="0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645" b="0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AI practice utility and creator tooling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1C382DA-C706-40AC-BB7A-D61B91D0D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34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B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272CD0D-E219-4747-A796-240EE2C12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33675"/>
            <a:ext cx="304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0D49A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0D49A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9D2D5ED-CD6A-4ECE-BC48-FE0FD95FB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667000"/>
            <a:ext cx="55435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9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7448E23-3A99-447C-AB00-043488C9E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743200"/>
            <a:ext cx="209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78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Simply / JoyTunes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24FFFEB-3AE9-4428-A950-0D4A94AAD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752725"/>
            <a:ext cx="2971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" b="0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645" b="0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Direct app-based learning benchmark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B5418E9-1A1D-4CA6-BE7C-AD925C491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05175"/>
            <a:ext cx="514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B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B7B407-52ED-4D93-B18D-FDE88B1A9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43250"/>
            <a:ext cx="304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F7BD43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F7BD43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42EBC71-309C-4D3C-A270-E644E3749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76575"/>
            <a:ext cx="5219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BD4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DFA61CB-BD4C-41D6-8826-BED12404A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152775"/>
            <a:ext cx="209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78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Ultimate Guitar / Muse Group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1CD50B1-9B87-46ED-BF31-5F4F94758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162300"/>
            <a:ext cx="26479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" b="0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645" b="0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Song-practice habit and repertoire ownership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957801A-2A2B-445E-BBDD-B011FB2C5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14750"/>
            <a:ext cx="685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B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C663564-5937-4E00-9B00-677AD1D2F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52825"/>
            <a:ext cx="304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F7BD43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F7BD43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D2053A2-6432-42E9-9508-7E4B4FADD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486150"/>
            <a:ext cx="48958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BD4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B79A917-4C4C-4F28-BA78-AB4802894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562350"/>
            <a:ext cx="209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78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BandLab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D8A19BB-9618-48A3-9884-3BD96F57D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571875"/>
            <a:ext cx="2324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" b="0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645" b="0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Creation community and hobby expansion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0A4B928-D61B-47C9-BE42-D17DD1207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24325"/>
            <a:ext cx="857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B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4DEC8A0-2E7F-442E-9FE5-1AFDAE28E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62400"/>
            <a:ext cx="304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F7BD43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F7BD43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95C0864-90D9-48A2-8346-5316C42FD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895725"/>
            <a:ext cx="457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BD4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2AF15AA-5871-401A-BB1F-F061C6EEE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971925"/>
            <a:ext cx="209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78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TikTok / YouTube music discovery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4043D67-7ECE-40D2-947C-84CC3E6F2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981450"/>
            <a:ext cx="2000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" b="0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645" b="0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Discovery, demand creation and creator trust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22B9413-D038-475E-80D2-F78954828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33900"/>
            <a:ext cx="1028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B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E1A60C3-4E24-4CBC-9475-B76AFF0A8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71975"/>
            <a:ext cx="304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B8AEFF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B8AEFF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046BDC2-06BF-4563-A8A2-691F2A46D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305300"/>
            <a:ext cx="4248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EF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0294D77-D305-409A-A221-899DC44B5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381500"/>
            <a:ext cx="209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1524"/>
          </a:bodyPr>
          <a:lstStyle xmlns:a="http://schemas.openxmlformats.org/drawingml/2006/main"/>
          <a:p xmlns:a="http://schemas.openxmlformats.org/drawingml/2006/main">
            <a:pPr algn="l">
              <a:defRPr sz="78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78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Fender / Gibson / Yamaha hardware ecosystems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2F54E08-3421-450A-B68C-7566886B7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391025"/>
            <a:ext cx="1676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79843"/>
          </a:bodyPr>
          <a:lstStyle xmlns:a="http://schemas.openxmlformats.org/drawingml/2006/main"/>
          <a:p xmlns:a="http://schemas.openxmlformats.org/drawingml/2006/main">
            <a:pPr algn="l">
              <a:defRPr sz="645" b="0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645" b="0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Instrument access, bundles and branded learning funnels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C2FC173-3101-4311-94DB-B65E43F48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43475"/>
            <a:ext cx="120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B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5553611-FA64-4332-8405-C3B312490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81550"/>
            <a:ext cx="304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B8AEFF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B8AEFF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85F7F98-F647-4264-B3ED-C6507EB53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714875"/>
            <a:ext cx="3924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EF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D40DE93-2B94-42DE-9E4D-FE675654D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791075"/>
            <a:ext cx="209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78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Splice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D33D642-589A-4D52-8EEA-D9413BBBB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800600"/>
            <a:ext cx="1619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8727"/>
          </a:bodyPr>
          <a:lstStyle xmlns:a="http://schemas.openxmlformats.org/drawingml/2006/main"/>
          <a:p xmlns:a="http://schemas.openxmlformats.org/drawingml/2006/main">
            <a:pPr algn="l">
              <a:defRPr sz="645" b="0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645" b="0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Paid creator tools and rights-aware workflow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05BD676-E7E2-41E0-9CF3-157CC6F7A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53050"/>
            <a:ext cx="1371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B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DE53748-FECF-4D1F-9AA9-342F41C61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91125"/>
            <a:ext cx="304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B8AEFF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B8AEFF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72A6190-7817-40CA-B1A1-CD3349916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124450"/>
            <a:ext cx="36004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EF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620D0D8-4C86-47A6-997C-2B7BB7D8D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200650"/>
            <a:ext cx="209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0793"/>
          </a:bodyPr>
          <a:lstStyle xmlns:a="http://schemas.openxmlformats.org/drawingml/2006/main"/>
          <a:p xmlns:a="http://schemas.openxmlformats.org/drawingml/2006/main">
            <a:pPr algn="l">
              <a:defRPr sz="78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78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ABRSM / Trinity / School of Rock education layer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0848154-694A-41E1-B4A1-A5CEA359F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210175"/>
            <a:ext cx="1619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75203"/>
          </a:bodyPr>
          <a:lstStyle xmlns:a="http://schemas.openxmlformats.org/drawingml/2006/main"/>
          <a:p xmlns:a="http://schemas.openxmlformats.org/drawingml/2006/main">
            <a:pPr algn="l">
              <a:defRPr sz="645" b="0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645" b="0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Trust, curriculum, certification and teacher/parent influence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D59523C-B358-47AD-B3F5-1DEB95F52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62625"/>
            <a:ext cx="1543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B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765CDAC-5452-4B68-BA55-DC56B37B5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00700"/>
            <a:ext cx="304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B8AEFF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B8AEFF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CDAB396-8724-4689-B482-D54A8E7D0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534025"/>
            <a:ext cx="3276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EF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89B82F83-8622-4A8D-8AB8-EEEF3BA96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610225"/>
            <a:ext cx="209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78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Spotify / labels / rights infrastructure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969CDB1E-A86C-41BF-9204-434C8550A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619750"/>
            <a:ext cx="1619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2331"/>
          </a:bodyPr>
          <a:lstStyle xmlns:a="http://schemas.openxmlformats.org/drawingml/2006/main"/>
          <a:p xmlns:a="http://schemas.openxmlformats.org/drawingml/2006/main">
            <a:pPr algn="l">
              <a:defRPr sz="645" b="0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645" b="0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Rights, artist data, repertoire and AI governance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3B82D05-7676-4484-AD67-818B42D3C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962150"/>
            <a:ext cx="2724150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18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6A782617-7984-4B3E-8BF8-86236426B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26695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404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FFDF7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 i="0">
                <a:solidFill>
                  <a:srgbClr val="FFFDF7"/>
                </a:solidFill>
                <a:latin typeface="Aptos Display"/>
                <a:ea typeface="Aptos Display"/>
                <a:cs typeface="Aptos Display"/>
              </a:rPr>
              <a:t>How to read the ladder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6C179A1-9B29-4302-8166-3A724DFFD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876550"/>
            <a:ext cx="20955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3E0DA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D3E0DA"/>
                </a:solidFill>
                <a:latin typeface="Aptos"/>
                <a:ea typeface="Aptos"/>
                <a:cs typeface="Aptos"/>
              </a:rPr>
              <a:t>- Suno changes hobby creation.</a:t>
            </a:r>
          </a:p>
          <a:p xmlns:a="http://schemas.openxmlformats.org/drawingml/2006/main">
            <a:pPr algn="l">
              <a:defRPr sz="975" b="0" i="0">
                <a:solidFill>
                  <a:srgbClr val="D3E0DA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D3E0DA"/>
                </a:solidFill>
                <a:latin typeface="Aptos"/>
                <a:ea typeface="Aptos"/>
                <a:cs typeface="Aptos"/>
              </a:rPr>
              <a:t>- Moises changes practice utility.</a:t>
            </a:r>
          </a:p>
          <a:p xmlns:a="http://schemas.openxmlformats.org/drawingml/2006/main">
            <a:pPr algn="l">
              <a:defRPr sz="975" b="0" i="0">
                <a:solidFill>
                  <a:srgbClr val="D3E0DA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D3E0DA"/>
                </a:solidFill>
                <a:latin typeface="Aptos"/>
                <a:ea typeface="Aptos"/>
                <a:cs typeface="Aptos"/>
              </a:rPr>
              <a:t>- Simply remains the closest performance benchmark, but Appfigures is missing.</a:t>
            </a:r>
          </a:p>
          <a:p xmlns:a="http://schemas.openxmlformats.org/drawingml/2006/main">
            <a:pPr algn="l">
              <a:defRPr sz="975" b="0" i="0">
                <a:solidFill>
                  <a:srgbClr val="D3E0DA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D3E0DA"/>
                </a:solidFill>
                <a:latin typeface="Aptos"/>
                <a:ea typeface="Aptos"/>
                <a:cs typeface="Aptos"/>
              </a:rPr>
              <a:t>- Ultimate Guitar owns repertoire habit.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4DF41653-E83D-4635-ACDC-89711ADF4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4005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156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C4DC8CC0-019D-4A42-A758-14610FD88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457700"/>
            <a:ext cx="12954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NOT REVENUE-RANKED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8F54BDA0-E291-4C5B-9B1F-792098312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B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599E24D0-08F7-4DE2-A397-5CCD1390F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838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5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585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Source: executive_top_10_actor_ranked_v3_4.csv.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8BF61CF3-170F-436B-B335-3BC177157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534150"/>
            <a:ext cx="2133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585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585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Yousician Strategic Environment Mapping v3.4</a:t>
            </a:r>
          </a:p>
        </p:txBody>
      </p:sp>
    </p:spTree>
    <p:extLst>
      <p:ext uri="{BB962C8B-B14F-4D97-AF65-F5344CB8AC3E}">
        <p14:creationId xmlns:p14="http://schemas.microsoft.com/office/powerpoint/2010/main" val="129014056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83D7CE6-00EB-4D8F-9D3A-6A8D8A7F7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4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680ABE-0EFE-4A12-928C-0D7221176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953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D7C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ECBC91-46DA-47CF-89CB-B831ED377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D7C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E98658-AEA3-4A3B-B68A-96681107D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D7C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E535F6-A851-4A08-A217-68A3C72A1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D7C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CE4619-7276-4D67-B751-8901C345D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D7C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9A39C3-DDA3-4D08-A5F3-FC0C37509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816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D7C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DD77AD-6314-45CE-99DE-645BFAD85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340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D7C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C8AF3E-73B3-4F43-9363-6DED9E755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864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D7C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69782B-87F2-4DED-B214-6362A4F46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388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D7C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49EE5D-9F9D-414D-8039-D4A94B5AD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D7C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2F7C51-3C2F-4E02-8EDB-CB4E61A4E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18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C16B83-957E-45C0-A548-7D084DDD8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2425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168E7D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168E7D"/>
                </a:solidFill>
                <a:latin typeface="Aptos"/>
                <a:ea typeface="Aptos"/>
                <a:cs typeface="Aptos"/>
              </a:rPr>
              <a:t>WHO IS SUCCESSFUL?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EE157F-C18A-4420-9194-83A90D0BA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35242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1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1C394A-D938-42C7-A992-70D160856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8763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rPr>
              <a:t>Success cannot be reduced to app revenue until Appfigures is populated.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8186BD-79B3-4E84-BB8E-CFF8816FA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00200"/>
            <a:ext cx="7810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The current deck should define success as a set of proof surfaces with Appfigures marked as the missing surface.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FCDAB2-9B50-44A1-9E88-5CDB62BDB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971800"/>
            <a:ext cx="1676400" cy="1676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B18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AAFC69-50EB-44DF-BA21-077810F4A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467100"/>
            <a:ext cx="1028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Success</a:t>
            </a:r>
          </a:p>
          <a:p xmlns:a="http://schemas.openxmlformats.org/drawingml/2006/main">
            <a:pPr algn="ctr">
              <a:defRPr sz="1800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signal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17C109-BAB9-4CA4-8DCF-4F67A1347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114550"/>
            <a:ext cx="190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B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DAEE89-B442-456C-B935-4BC9607FA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71450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49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CEE2D4-47BB-4457-A6B7-8D3DF6558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62150"/>
            <a:ext cx="68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Habit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056D30-B7BD-4010-989F-92E5D89E3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162175"/>
            <a:ext cx="723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55" b="0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555" b="0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practice recurrence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A4B6A9-63CB-438B-98BF-7F78913E6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752904"/>
            <a:ext cx="2085145" cy="1057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B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AC451A1-EB2C-448F-944B-D77A8873C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7595" y="2352854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BD4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3DC9949-2EE0-44B1-99BE-893F05118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4745" y="2600504"/>
            <a:ext cx="68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Repertoire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45B2485-2BE0-4448-BD83-7CB516215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5695" y="2800529"/>
            <a:ext cx="723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55" b="0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555" b="0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song/tab ownership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FFAC261-077A-4B35-A118-A6C221021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810000"/>
            <a:ext cx="2600133" cy="3772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B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7DEF93A-6100-4E88-B066-1D0F18BDD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583" y="3787223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F78F2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DF33162-C032-47BB-8691-4924065C1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733" y="4034873"/>
            <a:ext cx="68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Trust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3A54201-E54B-4265-B7AF-576612673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683" y="4234898"/>
            <a:ext cx="723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55" b="0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555" b="0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creator / teacher authority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3EAB412-7154-4025-9767-EDB8A6DA3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810000"/>
            <a:ext cx="1157168" cy="15275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B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6076C7A-D3C4-4E75-AF34-66FBEFB4C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9618" y="4937498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AEF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3B5A531-CAF6-47A0-89AF-8CAC69AA3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6768" y="5185148"/>
            <a:ext cx="68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Reach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8F28457-0FDF-456A-B01D-CB37A4B5A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7718" y="5385173"/>
            <a:ext cx="723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55" b="0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555" b="0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hardware and retail distribution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57A91F4-1455-45A9-A9F6-B8536434F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5332" y="3810000"/>
            <a:ext cx="1157168" cy="15275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B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1E6731A-EB98-4DD4-88E4-C6B4B9713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5282" y="4937498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E7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317B872-E2EB-4A6C-83FC-0571D6EEE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2432" y="5185148"/>
            <a:ext cx="68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Utility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E1C916D-4FA6-48B4-A14A-3AAFAF266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3382" y="5385173"/>
            <a:ext cx="723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55" b="0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555" b="0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AI-assisted practice adoption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14F812A-477B-4DAE-AE64-4CC9641D5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367" y="3810000"/>
            <a:ext cx="2600133" cy="3772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B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35B33D0-D354-4EDE-AC04-1C036EAF6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317" y="3787223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E7A5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7496151-F66D-4013-ACA4-3FCC819BA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467" y="4034873"/>
            <a:ext cx="68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Momentum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36601CD-68DA-4FCA-9561-3C0EF93E0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417" y="4234898"/>
            <a:ext cx="723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55" b="0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555" b="0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funding, launches, partnerships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A40F331-E053-44BE-B767-07558157C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7355" y="2752904"/>
            <a:ext cx="2085145" cy="1057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B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F7C7F09-6C1B-4876-9B4D-1D2AD41C1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7305" y="2352854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6156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8647DDB-3159-47E7-BE73-CB9D13B01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4455" y="2600504"/>
            <a:ext cx="68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012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Performance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E749652-A687-450B-B847-E38539B58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5405" y="2800529"/>
            <a:ext cx="723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55" b="0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555" b="0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downloads, revenue, ranks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B1C7998-8B9A-4869-BECE-B9DA5EBE4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876550"/>
            <a:ext cx="2667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CFBD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1407287-F099-4B61-B130-8FD27E284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876550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156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90BCB7B-CAD1-4AE4-8CD9-B658FECFA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009900"/>
            <a:ext cx="2247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Appfigures caveat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E5AC9B5-D0C5-4546-A99F-EE4D6B100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276600"/>
            <a:ext cx="22479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65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765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0 of 16 app-performance rows are credentialed. Revenue, downloads, ranks, country mix and trends remain blocked.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624310D-32E4-4339-88CF-B76E568CC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B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77D00EF-24AD-4735-8934-19B381985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838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5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585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Source: Appfigures request pack, public proxy status and executive synthesis.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9D1D5D2-5E92-4EDA-B45D-6BAC98848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534150"/>
            <a:ext cx="2133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585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585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Yousician Strategic Environment Mapping v3.4</a:t>
            </a:r>
          </a:p>
        </p:txBody>
      </p:sp>
    </p:spTree>
    <p:extLst>
      <p:ext uri="{BB962C8B-B14F-4D97-AF65-F5344CB8AC3E}">
        <p14:creationId xmlns:p14="http://schemas.microsoft.com/office/powerpoint/2010/main" val="121695551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77D861B-ACA4-447D-9F21-F8CF09FBD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4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34CCAA-F73F-4492-8903-D12AB5E1A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953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D7C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8C2DDF-0AA3-4CA2-A9EE-7D7A6006C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D7C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83320B-73AA-4FC0-98CB-E0A463659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D7C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C1E76B-4179-40D6-9F46-064C34ED3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D7C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BE4FB9-9644-4BAA-BAD0-C229C4F50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D7C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547A14-3FE2-4D14-9FFB-92D6B8154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816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D7C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6C2C41-5DF4-4078-8A59-884FB5D22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340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D7C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9A52BA-CC2C-4D12-89A5-9B5D95985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864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D7C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6425C8-8476-4A6A-8ECE-8A557B4EB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388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D7C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9F5389-C94F-4636-A911-B890A7C3A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D7C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63E319-0E16-452A-9163-6467D0BB2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18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8BE8A4-50B2-46BA-A7E4-09C0500EB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2425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168E7D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168E7D"/>
                </a:solidFill>
                <a:latin typeface="Aptos"/>
                <a:ea typeface="Aptos"/>
                <a:cs typeface="Aptos"/>
              </a:rPr>
              <a:t>APPFIGURES GATE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5FA795-A375-4B41-B566-1A4C8F87A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35242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1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C20F2B-4D99-4567-9625-0E87BD909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8763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6491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rPr>
              <a:t>The performance section should look like a gate, not an empty table.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49F6A7-7CCE-4E50-91C0-A0A173AF4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7810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The brief asks for Appfigures where possible. The correct visual answer is: ready to import, not populated.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4A5664-6AE2-475F-8321-F47D5E971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52650"/>
            <a:ext cx="3276600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18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E9B0F3-016D-4AFC-9F63-EC3D13C98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57450"/>
            <a:ext cx="1104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1197"/>
          </a:bodyPr>
          <a:lstStyle xmlns:a="http://schemas.openxmlformats.org/drawingml/2006/main"/>
          <a:p xmlns:a="http://schemas.openxmlformats.org/drawingml/2006/main">
            <a:pPr algn="l">
              <a:defRPr sz="5850" b="1" i="0">
                <a:solidFill>
                  <a:srgbClr val="F06156"/>
                </a:solidFill>
                <a:latin typeface="Aptos"/>
                <a:ea typeface="Aptos"/>
                <a:cs typeface="Aptos"/>
              </a:defRPr>
            </a:pPr>
            <a:r>
              <a:rPr sz="5850" b="1" i="0">
                <a:solidFill>
                  <a:srgbClr val="F06156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58B49F-79B4-4C85-99FC-1538A90DB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647950"/>
            <a:ext cx="13144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8103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credentialed</a:t>
            </a:r>
          </a:p>
          <a:p xmlns:a="http://schemas.openxmlformats.org/drawingml/2006/main">
            <a:pPr algn="l">
              <a:defRPr sz="1350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Appfigures rows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171229-5A7E-4B95-B9BE-AA40A4480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24250"/>
            <a:ext cx="2362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156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E4F8DC-FBC2-4114-86F2-C7E2FD90B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29050"/>
            <a:ext cx="2362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Do not rank app companies by revenue, downloads or country mix until the authorized export is imported.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7CD13E-793E-4C3D-9C99-5240E0B15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095500"/>
            <a:ext cx="1676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CFB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176670-3CA0-463B-B8D5-FF4391175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095500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156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31DD1F3-2702-4D24-B4D0-E40B2EE52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181225"/>
            <a:ext cx="666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57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Simply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F71EBCB-355F-452D-B91E-EB70993B6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181225"/>
            <a:ext cx="685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4566"/>
          </a:bodyPr>
          <a:lstStyle xmlns:a="http://schemas.openxmlformats.org/drawingml/2006/main"/>
          <a:p xmlns:a="http://schemas.openxmlformats.org/drawingml/2006/main">
            <a:pPr algn="l">
              <a:defRPr sz="510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510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Simply Guitar - Learn Guitar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E9FB1EB-3D66-4671-A807-1C1AFE0A7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362200"/>
            <a:ext cx="1238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95" b="1" i="0">
                <a:solidFill>
                  <a:srgbClr val="F06156"/>
                </a:solidFill>
                <a:latin typeface="Aptos"/>
                <a:ea typeface="Aptos"/>
                <a:cs typeface="Aptos"/>
              </a:defRPr>
            </a:pPr>
            <a:r>
              <a:rPr sz="495" b="1" i="0">
                <a:solidFill>
                  <a:srgbClr val="F06156"/>
                </a:solidFill>
                <a:latin typeface="Aptos"/>
                <a:ea typeface="Aptos"/>
                <a:cs typeface="Aptos"/>
              </a:rPr>
              <a:t>credentialed export missing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6BC0E4C-7969-4A4D-851A-915A5E34A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095500"/>
            <a:ext cx="1676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CFB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024D0CD-6C45-49D2-ABED-795F2C51B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095500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156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2AC66A5-F397-4782-B8B8-0A8B2577C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81225"/>
            <a:ext cx="666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57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Simply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5E2B787-59A2-414A-8AF5-AB44F9FC1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181225"/>
            <a:ext cx="685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10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510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Simply Piano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C1A6210-75BD-4B75-ACC1-86D010430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62200"/>
            <a:ext cx="1238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95" b="1" i="0">
                <a:solidFill>
                  <a:srgbClr val="F06156"/>
                </a:solidFill>
                <a:latin typeface="Aptos"/>
                <a:ea typeface="Aptos"/>
                <a:cs typeface="Aptos"/>
              </a:defRPr>
            </a:pPr>
            <a:r>
              <a:rPr sz="495" b="1" i="0">
                <a:solidFill>
                  <a:srgbClr val="F06156"/>
                </a:solidFill>
                <a:latin typeface="Aptos"/>
                <a:ea typeface="Aptos"/>
                <a:cs typeface="Aptos"/>
              </a:rPr>
              <a:t>credentialed export missing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4410744-40BD-48A3-ADDB-785AC57F4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95500"/>
            <a:ext cx="1676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CFBD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EC3BAA2-33AB-4528-8BE8-5CC8D2E83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95500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156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22C97E7-1EAE-4A38-9FE6-D4E6BB95F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181225"/>
            <a:ext cx="666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57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Flowkey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D0CB2CD-23E7-46AD-9351-B7FD0511A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181225"/>
            <a:ext cx="685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1096"/>
          </a:bodyPr>
          <a:lstStyle xmlns:a="http://schemas.openxmlformats.org/drawingml/2006/main"/>
          <a:p xmlns:a="http://schemas.openxmlformats.org/drawingml/2006/main">
            <a:pPr algn="l">
              <a:defRPr sz="510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510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flowkey - Learn to Play Piano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380B2C3-7AC9-472C-A8C2-71CB95C13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362200"/>
            <a:ext cx="1238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95" b="1" i="0">
                <a:solidFill>
                  <a:srgbClr val="F06156"/>
                </a:solidFill>
                <a:latin typeface="Aptos"/>
                <a:ea typeface="Aptos"/>
                <a:cs typeface="Aptos"/>
              </a:defRPr>
            </a:pPr>
            <a:r>
              <a:rPr sz="495" b="1" i="0">
                <a:solidFill>
                  <a:srgbClr val="F06156"/>
                </a:solidFill>
                <a:latin typeface="Aptos"/>
                <a:ea typeface="Aptos"/>
                <a:cs typeface="Aptos"/>
              </a:rPr>
              <a:t>credentialed export missing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678F10A-03FB-4B43-A8E5-1C4CC9318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743200"/>
            <a:ext cx="1676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CFBD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BA5BADF-65CB-4E77-ACBE-107089E96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743200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156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F90A603-30EA-4703-B86D-A2E5122BB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828925"/>
            <a:ext cx="666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57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Skoove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1F2033D-9FA5-4D7C-8E3C-D693EBBCB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828925"/>
            <a:ext cx="685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10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510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Skoove: Learn Piano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A57E252-1D72-4289-827D-0387D7175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009900"/>
            <a:ext cx="1238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95" b="1" i="0">
                <a:solidFill>
                  <a:srgbClr val="F06156"/>
                </a:solidFill>
                <a:latin typeface="Aptos"/>
                <a:ea typeface="Aptos"/>
                <a:cs typeface="Aptos"/>
              </a:defRPr>
            </a:pPr>
            <a:r>
              <a:rPr sz="495" b="1" i="0">
                <a:solidFill>
                  <a:srgbClr val="F06156"/>
                </a:solidFill>
                <a:latin typeface="Aptos"/>
                <a:ea typeface="Aptos"/>
                <a:cs typeface="Aptos"/>
              </a:rPr>
              <a:t>credentialed export missing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6430EE3-9268-453E-97C3-A59938FAA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743200"/>
            <a:ext cx="1676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CFBD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A33A0BB-BB48-4C3A-AC28-0A0E0A338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743200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156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F58A136-907B-44ED-8D73-6534DC229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828925"/>
            <a:ext cx="666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57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Fender Play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3DF2EDE-D07B-46DD-8D91-0ECE723E9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828925"/>
            <a:ext cx="685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2846"/>
          </a:bodyPr>
          <a:lstStyle xmlns:a="http://schemas.openxmlformats.org/drawingml/2006/main"/>
          <a:p xmlns:a="http://schemas.openxmlformats.org/drawingml/2006/main">
            <a:pPr algn="l">
              <a:defRPr sz="510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510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Fender Play: Learn Guitar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2CB7E88-312C-4E24-972F-05045D62C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009900"/>
            <a:ext cx="1238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95" b="1" i="0">
                <a:solidFill>
                  <a:srgbClr val="F06156"/>
                </a:solidFill>
                <a:latin typeface="Aptos"/>
                <a:ea typeface="Aptos"/>
                <a:cs typeface="Aptos"/>
              </a:defRPr>
            </a:pPr>
            <a:r>
              <a:rPr sz="495" b="1" i="0">
                <a:solidFill>
                  <a:srgbClr val="F06156"/>
                </a:solidFill>
                <a:latin typeface="Aptos"/>
                <a:ea typeface="Aptos"/>
                <a:cs typeface="Aptos"/>
              </a:rPr>
              <a:t>credentialed export missing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8D09F92-AAED-4B71-A8C7-4FA4D1BB3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743200"/>
            <a:ext cx="1676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CFBD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D7D55C8-F661-4AA3-9207-8A6F8C670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743200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156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6F99FD2-C365-406E-A1EC-0C11F2E5B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828925"/>
            <a:ext cx="666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57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Gibson App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38A5624-B529-4B2F-9479-8210C5839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828925"/>
            <a:ext cx="685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5449"/>
          </a:bodyPr>
          <a:lstStyle xmlns:a="http://schemas.openxmlformats.org/drawingml/2006/main"/>
          <a:p xmlns:a="http://schemas.openxmlformats.org/drawingml/2006/main">
            <a:pPr algn="l">
              <a:defRPr sz="510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510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Gibson: Learn &amp; Play Guitar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FF405E5-E729-4F82-BF17-C33A5B641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009900"/>
            <a:ext cx="1238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95" b="1" i="0">
                <a:solidFill>
                  <a:srgbClr val="F06156"/>
                </a:solidFill>
                <a:latin typeface="Aptos"/>
                <a:ea typeface="Aptos"/>
                <a:cs typeface="Aptos"/>
              </a:defRPr>
            </a:pPr>
            <a:r>
              <a:rPr sz="495" b="1" i="0">
                <a:solidFill>
                  <a:srgbClr val="F06156"/>
                </a:solidFill>
                <a:latin typeface="Aptos"/>
                <a:ea typeface="Aptos"/>
                <a:cs typeface="Aptos"/>
              </a:rPr>
              <a:t>credentialed export missing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AB825A4-8F4B-4495-83F7-FA5556636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390900"/>
            <a:ext cx="1676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CFBD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C949DD9-45FA-42FA-8933-4F053DE05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390900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156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A3DFE3A-B57B-417D-BC36-71688D68A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476625"/>
            <a:ext cx="666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57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Moises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88FF473-9885-429E-9F96-4562D35EB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476625"/>
            <a:ext cx="685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4022"/>
          </a:bodyPr>
          <a:lstStyle xmlns:a="http://schemas.openxmlformats.org/drawingml/2006/main"/>
          <a:p xmlns:a="http://schemas.openxmlformats.org/drawingml/2006/main">
            <a:pPr algn="l">
              <a:defRPr sz="510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510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Moises: The Musician's App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7AFACAE-60C4-4C15-BDFB-72A52FC5E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657600"/>
            <a:ext cx="1238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95" b="1" i="0">
                <a:solidFill>
                  <a:srgbClr val="F06156"/>
                </a:solidFill>
                <a:latin typeface="Aptos"/>
                <a:ea typeface="Aptos"/>
                <a:cs typeface="Aptos"/>
              </a:defRPr>
            </a:pPr>
            <a:r>
              <a:rPr sz="495" b="1" i="0">
                <a:solidFill>
                  <a:srgbClr val="F06156"/>
                </a:solidFill>
                <a:latin typeface="Aptos"/>
                <a:ea typeface="Aptos"/>
                <a:cs typeface="Aptos"/>
              </a:rPr>
              <a:t>credentialed export missing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6D62370-9EB6-4C52-93E3-548B1C714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390900"/>
            <a:ext cx="1676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CFBD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18B5B9E-0902-4662-BBA5-55EDCF510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390900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156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1016680-A30F-43BA-AEC9-D4211C992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476625"/>
            <a:ext cx="666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57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Ultimate Guitar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2B05923-849A-4FBD-AE27-C891AF676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476625"/>
            <a:ext cx="685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76610"/>
          </a:bodyPr>
          <a:lstStyle xmlns:a="http://schemas.openxmlformats.org/drawingml/2006/main"/>
          <a:p xmlns:a="http://schemas.openxmlformats.org/drawingml/2006/main">
            <a:pPr algn="l">
              <a:defRPr sz="510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510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Ultimate Guitar: Chords &amp; Tabs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3D058D8-F1BE-4E4A-8DFA-834FB81FA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657600"/>
            <a:ext cx="1238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95" b="1" i="0">
                <a:solidFill>
                  <a:srgbClr val="F06156"/>
                </a:solidFill>
                <a:latin typeface="Aptos"/>
                <a:ea typeface="Aptos"/>
                <a:cs typeface="Aptos"/>
              </a:defRPr>
            </a:pPr>
            <a:r>
              <a:rPr sz="495" b="1" i="0">
                <a:solidFill>
                  <a:srgbClr val="F06156"/>
                </a:solidFill>
                <a:latin typeface="Aptos"/>
                <a:ea typeface="Aptos"/>
                <a:cs typeface="Aptos"/>
              </a:rPr>
              <a:t>credentialed export missing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5FDC8B8-9E7D-43FF-98BA-3566F05BC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90900"/>
            <a:ext cx="1676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CFBD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458F137-1E79-4085-A62F-A9AE3A723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90900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156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3756DB0-56E3-46CA-8D93-C23A343E6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476625"/>
            <a:ext cx="666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57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MuseScore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7F116BE-CE10-447C-9853-9DA58B015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476625"/>
            <a:ext cx="685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73529"/>
          </a:bodyPr>
          <a:lstStyle xmlns:a="http://schemas.openxmlformats.org/drawingml/2006/main"/>
          <a:p xmlns:a="http://schemas.openxmlformats.org/drawingml/2006/main">
            <a:pPr algn="l">
              <a:defRPr sz="510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510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MuseScore - Sheet Music &amp; Chor...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EE0217C-29B0-4F0F-B329-7B7F04479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657600"/>
            <a:ext cx="1238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95" b="1" i="0">
                <a:solidFill>
                  <a:srgbClr val="F06156"/>
                </a:solidFill>
                <a:latin typeface="Aptos"/>
                <a:ea typeface="Aptos"/>
                <a:cs typeface="Aptos"/>
              </a:defRPr>
            </a:pPr>
            <a:r>
              <a:rPr sz="495" b="1" i="0">
                <a:solidFill>
                  <a:srgbClr val="F06156"/>
                </a:solidFill>
                <a:latin typeface="Aptos"/>
                <a:ea typeface="Aptos"/>
                <a:cs typeface="Aptos"/>
              </a:rPr>
              <a:t>credentialed export missing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0D3C41AD-A5D7-49E5-A614-DC58217F2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038600"/>
            <a:ext cx="1676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CFBD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60B250A9-E9BC-46AA-A0BC-85C5AA974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038600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156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FC82C8CE-BFD2-42AC-A242-9FC0B3E05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124325"/>
            <a:ext cx="666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57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Songsterr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4B21F696-D50C-475F-8ACA-530250B8D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124325"/>
            <a:ext cx="685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654"/>
          </a:bodyPr>
          <a:lstStyle xmlns:a="http://schemas.openxmlformats.org/drawingml/2006/main"/>
          <a:p xmlns:a="http://schemas.openxmlformats.org/drawingml/2006/main">
            <a:pPr algn="l">
              <a:defRPr sz="510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510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Songsterr Tabs &amp; Chords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0EDC0ED0-3800-44C2-929A-AD719EC1D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305300"/>
            <a:ext cx="1238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95" b="1" i="0">
                <a:solidFill>
                  <a:srgbClr val="F06156"/>
                </a:solidFill>
                <a:latin typeface="Aptos"/>
                <a:ea typeface="Aptos"/>
                <a:cs typeface="Aptos"/>
              </a:defRPr>
            </a:pPr>
            <a:r>
              <a:rPr sz="495" b="1" i="0">
                <a:solidFill>
                  <a:srgbClr val="F06156"/>
                </a:solidFill>
                <a:latin typeface="Aptos"/>
                <a:ea typeface="Aptos"/>
                <a:cs typeface="Aptos"/>
              </a:rPr>
              <a:t>credentialed export missing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BFDF4A1E-4E4A-4B8E-BEBD-0D2B07A0D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038600"/>
            <a:ext cx="1676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CFBD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034605A8-4A8C-4653-BFFB-576850CC7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038600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156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149C1BCE-9F48-41A5-96EB-830335339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124325"/>
            <a:ext cx="666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57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Chordify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8BDD920C-BAB2-4F6A-B6AA-78284B38A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124325"/>
            <a:ext cx="685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10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510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Chordify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DCB0B155-9D80-497B-8BC1-E23FB8D46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305300"/>
            <a:ext cx="1238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95" b="1" i="0">
                <a:solidFill>
                  <a:srgbClr val="F06156"/>
                </a:solidFill>
                <a:latin typeface="Aptos"/>
                <a:ea typeface="Aptos"/>
                <a:cs typeface="Aptos"/>
              </a:defRPr>
            </a:pPr>
            <a:r>
              <a:rPr sz="495" b="1" i="0">
                <a:solidFill>
                  <a:srgbClr val="F06156"/>
                </a:solidFill>
                <a:latin typeface="Aptos"/>
                <a:ea typeface="Aptos"/>
                <a:cs typeface="Aptos"/>
              </a:rPr>
              <a:t>credentialed export missing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28ADD381-FECD-49BB-85DA-FA4D49BCF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038600"/>
            <a:ext cx="1676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CFBD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4316EE43-46BE-41BA-B1F8-FDEA864AF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038600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156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5ADBC449-69D0-411A-BE52-F73901BC6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124325"/>
            <a:ext cx="666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57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Chord ai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63CFE1DE-55DC-4563-9FC3-E8664C023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124325"/>
            <a:ext cx="685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10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510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Chord ai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2D2F93D7-C17B-433D-BEEF-24B5308B9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305300"/>
            <a:ext cx="1238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95" b="1" i="0">
                <a:solidFill>
                  <a:srgbClr val="F06156"/>
                </a:solidFill>
                <a:latin typeface="Aptos"/>
                <a:ea typeface="Aptos"/>
                <a:cs typeface="Aptos"/>
              </a:defRPr>
            </a:pPr>
            <a:r>
              <a:rPr sz="495" b="1" i="0">
                <a:solidFill>
                  <a:srgbClr val="F06156"/>
                </a:solidFill>
                <a:latin typeface="Aptos"/>
                <a:ea typeface="Aptos"/>
                <a:cs typeface="Aptos"/>
              </a:rPr>
              <a:t>credentialed export missing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F3905F2E-FA46-4B01-92FE-F364315BC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295900"/>
            <a:ext cx="5753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CFBD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AAAEEA58-9CF0-4353-AE26-DCEC634D0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295900"/>
            <a:ext cx="7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BD4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0C868DF7-C3C7-446E-97E9-70511379D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429250"/>
            <a:ext cx="533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Import path exists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00CE5F96-08D6-4879-A94D-F43B49BD9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695950"/>
            <a:ext cx="5334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49020"/>
          </a:bodyPr>
          <a:lstStyle xmlns:a="http://schemas.openxmlformats.org/drawingml/2006/main"/>
          <a:p xmlns:a="http://schemas.openxmlformats.org/drawingml/2006/main">
            <a:pPr algn="l">
              <a:defRPr sz="765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765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The request pack has 16 app rows and exact fields. Use the backend import/API path before calling performance findings complete.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677BA673-B063-4386-8221-84225A79E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B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C5F350A1-3D42-4E73-98C8-103221A49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838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5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585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Source: appfigures_request_pack_v3_2.csv and appfigures-performance-export-integrated-v3.csv.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09657AC4-3952-4525-8672-CE0561903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534150"/>
            <a:ext cx="2133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585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585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Yousician Strategic Environment Mapping v3.4</a:t>
            </a:r>
          </a:p>
        </p:txBody>
      </p:sp>
    </p:spTree>
    <p:extLst>
      <p:ext uri="{BB962C8B-B14F-4D97-AF65-F5344CB8AC3E}">
        <p14:creationId xmlns:p14="http://schemas.microsoft.com/office/powerpoint/2010/main" val="6046132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FB72476-33D0-4140-B075-E12DF0434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4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6D9723-D52E-4409-B4AE-9A873D581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953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D7C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F1ABE7-89D6-447D-A96B-50A425DE4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D7C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34924B-E5A9-40E2-B980-E1DCB316C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D7C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2BF05A-A455-43B2-ADAD-35A0539C6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D7C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0C5C72-597B-4F0E-8F31-2090902EA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D7C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95B325-77D3-49A7-984F-5F9429F29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816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D7C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57A5C0-4F83-4E0D-AA74-2B7403243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340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D7C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F7BA42-769A-4953-9950-1CD3A8314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864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D7C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CEFFEA-D0DD-43F9-9743-2C8CD411C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388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D7C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A7CF0A-2A7A-48F0-AD1C-F84FCF9FE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D7C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687900-22C9-4E51-AFDB-834670F5A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18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F70546-6FEF-45AB-A8DD-A4999D978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2425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168E7D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168E7D"/>
                </a:solidFill>
                <a:latin typeface="Aptos"/>
                <a:ea typeface="Aptos"/>
                <a:cs typeface="Aptos"/>
              </a:rPr>
              <a:t>LAST 24 MONTHS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B48BE2-AE5D-41D5-ABFE-17311D245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35242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1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CD9FB9-9228-4729-A890-D25B25D95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8763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8684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rPr>
              <a:t>The market-move story is news-grade enough, but it needs curation.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CCF95C-0975-459B-AEB7-586DED7B5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7810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The main deck should show the shape of the news, with weaker static context kept out of the board timeline.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AF32D3-164B-46F0-A7DA-6E3C020F3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2686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05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705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AI companies and AI initiatives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D0A6A5-168E-46D2-AF50-61A31F3C2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924050"/>
            <a:ext cx="542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0C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0E2F8A-0A44-497D-A3F1-057408ECB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924050"/>
            <a:ext cx="542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9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E5AA54-E8C3-4671-841F-7BC54C88D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952625"/>
            <a:ext cx="247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880F2F-623F-4922-9520-72A635C36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71725"/>
            <a:ext cx="2686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05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705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Media, publishers and cultural drivers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74E53C-73E9-42E0-A038-4E9FBD2E0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333625"/>
            <a:ext cx="542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0C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56F77D-64DB-4187-A12E-5BE3B0930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333625"/>
            <a:ext cx="37623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BD4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1496EA9-ED23-4363-81EA-BD4CCE689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362200"/>
            <a:ext cx="247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4779FF4-3C6D-49D9-89A4-70E16782B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2686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05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705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Awards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14F6849-A19B-4397-83BC-74B2C5CD9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743200"/>
            <a:ext cx="542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0C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DD00789-DC2E-4BD8-AA76-31B697A71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743200"/>
            <a:ext cx="29241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BD4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8678363-6AA5-48C6-A5FE-09C2AA4F1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771775"/>
            <a:ext cx="247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5BBA0CE-6CBC-4556-B72C-9E9926A5B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90875"/>
            <a:ext cx="2686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05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705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Funding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03D2087-77C4-4531-8F35-C93637D43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152775"/>
            <a:ext cx="542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0C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8FBB1CA-E771-4093-916C-F8020EEDA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152775"/>
            <a:ext cx="25050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EF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066F6B7-6CB8-42FD-B91B-47B406CD0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181350"/>
            <a:ext cx="247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8A273B1-E761-41B2-8E89-D710E2052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2686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05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705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Teachers, schools and music education organizations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643F3CF-4E0E-48C9-A086-083BF1AA0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562350"/>
            <a:ext cx="542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0C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05317C5-BC27-471B-A8F8-E12F5DCEE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562350"/>
            <a:ext cx="20859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EF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5CCA838-37F7-4B1F-8B32-1FEED9516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590925"/>
            <a:ext cx="247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E08088A-D126-4B13-9CF4-2FF2DA37C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0025"/>
            <a:ext cx="2686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05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705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Music hobby software ecosystem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E1AEE1D-69AC-4809-87F0-F404CFBE7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971925"/>
            <a:ext cx="542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0C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6E1A70D-3668-45E8-B69A-A3822D0C1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971925"/>
            <a:ext cx="1257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EF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B722304-0FAF-4DED-9B11-AF0F11333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000500"/>
            <a:ext cx="247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CC9F20B-A3EA-4E02-826D-F9D0D2E08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9600"/>
            <a:ext cx="2686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05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705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Wider education and self-improvement ecosystem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3B3B470-2B9F-4C22-976B-28D6CC44F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381500"/>
            <a:ext cx="542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0C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1FE096B-C9D9-4024-B249-7915253CC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3815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EF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493BFCA-0418-4427-AA4D-F66C7D459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410075"/>
            <a:ext cx="247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642EFF9-A64D-4FEC-82B7-3392C661D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29175"/>
            <a:ext cx="2686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05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705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Music learning apps and platforms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68DEAFB-5547-4301-B8AD-D72A67239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791075"/>
            <a:ext cx="542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0C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CA723C6-C4DE-4CF1-951C-384F22641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791075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EF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7C61B11-0668-4F9E-A836-1E586B6B6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819650"/>
            <a:ext cx="247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5CD6B83-C5DA-4535-8984-1468637E3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924050"/>
            <a:ext cx="1524000" cy="3219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18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4586068-DB0B-4AFE-87D1-A2A3F5959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190750"/>
            <a:ext cx="914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9506"/>
          </a:bodyPr>
          <a:lstStyle xmlns:a="http://schemas.openxmlformats.org/drawingml/2006/main"/>
          <a:p xmlns:a="http://schemas.openxmlformats.org/drawingml/2006/main">
            <a:pPr algn="ctr">
              <a:defRPr sz="4050" b="1" i="0">
                <a:solidFill>
                  <a:srgbClr val="00D49A"/>
                </a:solidFill>
                <a:latin typeface="Aptos"/>
                <a:ea typeface="Aptos"/>
                <a:cs typeface="Aptos"/>
              </a:defRPr>
            </a:pPr>
            <a:r>
              <a:rPr sz="4050" b="1" i="0">
                <a:solidFill>
                  <a:srgbClr val="00D49A"/>
                </a:solidFill>
                <a:latin typeface="Aptos"/>
                <a:ea typeface="Aptos"/>
                <a:cs typeface="Aptos"/>
              </a:rPr>
              <a:t>48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ED9593D-09E3-48E9-B96A-3F2688BBD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819400"/>
            <a:ext cx="914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board-grade moves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32D35AB-A415-45FB-915F-1483E3D30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486150"/>
            <a:ext cx="10668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C9D8D2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C9D8D2"/>
                </a:solidFill>
                <a:latin typeface="Aptos"/>
                <a:ea typeface="Aptos"/>
                <a:cs typeface="Aptos"/>
              </a:rPr>
              <a:t>Static product facts stay appendix-only.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8B28D00-BBBE-49D3-912D-21BA6BE91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4400550"/>
            <a:ext cx="1409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BD4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4927771-E85D-4FEB-8D18-DECD38218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4457700"/>
            <a:ext cx="11811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WHO MADE NEWS FOR WHAT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C46006E-2654-4996-9EBB-17C2BB69D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62600"/>
            <a:ext cx="857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CFBD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33D6798-BFFF-4F78-AA2E-B718DA888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62600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E7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164F5F9-D00A-403D-BB07-F061CC1DE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695950"/>
            <a:ext cx="815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Curation rule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7AA6E10-7678-4594-B9FD-D6105A2DD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962650"/>
            <a:ext cx="8153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6340"/>
          </a:bodyPr>
          <a:lstStyle xmlns:a="http://schemas.openxmlformats.org/drawingml/2006/main"/>
          <a:p xmlns:a="http://schemas.openxmlformats.org/drawingml/2006/main">
            <a:pPr algn="l">
              <a:defRPr sz="765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765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Use this as the 'what changed recently' proof object. Do not let a 54-row timeline read as filler.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56EB39C-AE1D-4B77-B31A-BA31047DB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B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AD775AF-AC96-4C1F-983F-811E0FBD6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838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5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585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Source: market_moves_24m_curated_v3_2.csv.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2658010-78E7-4B60-9B4C-F15194F82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534150"/>
            <a:ext cx="2133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585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585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Yousician Strategic Environment Mapping v3.4</a:t>
            </a:r>
          </a:p>
        </p:txBody>
      </p:sp>
    </p:spTree>
    <p:extLst>
      <p:ext uri="{BB962C8B-B14F-4D97-AF65-F5344CB8AC3E}">
        <p14:creationId xmlns:p14="http://schemas.microsoft.com/office/powerpoint/2010/main" val="22594830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988AF1C-D54D-4186-994B-1773CE52C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18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DDEE91-A7B6-433C-BDDE-95B4EB1A8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953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83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7644A2-AE79-44B0-A133-98E66CB8A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83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422B7C-2ADA-4B23-BB4D-9DB6EC5C6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83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32AB97-783A-4179-BE21-9D2329537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83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905DAF-3D66-48E6-B447-3220ADA91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83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9F8AC5-FFC1-4A5C-8B33-3E54FCDB4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816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83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B98B6B-1EAD-46B9-AD51-B4A33DDF0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340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83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D21694-2FB3-4A71-8F74-BD6F921E4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864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83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33ED5A-893E-46A3-9313-7BE9C0DCD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388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83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38C933-5257-494F-B848-D35C503A8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83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D5EEC1-B70A-4CD3-89CF-4ED41F015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9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F3A630-82DB-4030-BF9E-088737E38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2425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00D49A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00D49A"/>
                </a:solidFill>
                <a:latin typeface="Aptos"/>
                <a:ea typeface="Aptos"/>
                <a:cs typeface="Aptos"/>
              </a:rPr>
              <a:t>AI IMPACT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153D57-A1FD-4329-8EAE-04156223F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35242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1" i="0">
                <a:solidFill>
                  <a:srgbClr val="B8CCC5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B8CCC5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36C160-112A-4AC0-BF29-1857F72D3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8763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8684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FFDF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i="0">
                <a:solidFill>
                  <a:srgbClr val="FFFDF7"/>
                </a:solidFill>
                <a:latin typeface="Aptos Display"/>
                <a:ea typeface="Aptos Display"/>
                <a:cs typeface="Aptos Display"/>
              </a:rPr>
              <a:t>AI has become a market structure issue, not a feature checklist.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E1A339-A63F-48BA-A4F6-72DBDCD03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7810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BED1CA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BED1CA"/>
                </a:solidFill>
                <a:latin typeface="Aptos"/>
                <a:ea typeface="Aptos"/>
                <a:cs typeface="Aptos"/>
              </a:rPr>
              <a:t>The ecosystem now splits into creation disruption, practice utility and rights governance.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BA7DD4-2209-456E-8C66-41D0FE117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24790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49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5B5477-C442-4831-A640-622A5A21B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647950"/>
            <a:ext cx="28194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E"/>
          </a:solidFill>
          <a:ln xmlns:a="http://schemas.openxmlformats.org/drawingml/2006/main" w="9525">
            <a:solidFill>
              <a:srgbClr val="31574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06C351-6E2B-4432-96D8-B05F60A0E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009900"/>
            <a:ext cx="2209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Creation disruption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030382-5A05-49A7-A8CD-584F28672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409950"/>
            <a:ext cx="2095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55" b="0" i="0">
                <a:solidFill>
                  <a:srgbClr val="C9D8D2"/>
                </a:solidFill>
                <a:latin typeface="Aptos"/>
                <a:ea typeface="Aptos"/>
                <a:cs typeface="Aptos"/>
              </a:defRPr>
            </a:pPr>
            <a:r>
              <a:rPr sz="855" b="0" i="0">
                <a:solidFill>
                  <a:srgbClr val="C9D8D2"/>
                </a:solidFill>
                <a:latin typeface="Aptos"/>
                <a:ea typeface="Aptos"/>
                <a:cs typeface="Aptos"/>
              </a:rPr>
              <a:t>Suno, Udio and BandLab change what participation can mean before instrument learning starts.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1EC632-9940-4600-93BD-2D15FCBAC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02895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BD4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603FE0-2ABD-4781-AA75-8CFFF5647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429000"/>
            <a:ext cx="28194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E"/>
          </a:solidFill>
          <a:ln xmlns:a="http://schemas.openxmlformats.org/drawingml/2006/main" w="9525">
            <a:solidFill>
              <a:srgbClr val="31574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B029D8-CF3A-4687-93BC-98DEF9E92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790950"/>
            <a:ext cx="2209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Practice utility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4324A8-CB11-488E-97BF-42A88B3AE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191000"/>
            <a:ext cx="2095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55" b="0" i="0">
                <a:solidFill>
                  <a:srgbClr val="C9D8D2"/>
                </a:solidFill>
                <a:latin typeface="Aptos"/>
                <a:ea typeface="Aptos"/>
                <a:cs typeface="Aptos"/>
              </a:defRPr>
            </a:pPr>
            <a:r>
              <a:rPr sz="855" b="0" i="0">
                <a:solidFill>
                  <a:srgbClr val="C9D8D2"/>
                </a:solidFill>
                <a:latin typeface="Aptos"/>
                <a:ea typeface="Aptos"/>
                <a:cs typeface="Aptos"/>
              </a:rPr>
              <a:t>Moises, Chord ai and transcription tools attach AI directly to songs and practice.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E1D1F54-71D7-4DEB-A69E-949AA1B19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24790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6156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74D00C7-7EFE-4FA0-A96D-F5780C0F9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647950"/>
            <a:ext cx="28194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E"/>
          </a:solidFill>
          <a:ln xmlns:a="http://schemas.openxmlformats.org/drawingml/2006/main" w="9525">
            <a:solidFill>
              <a:srgbClr val="31574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946C24D-094B-4D7C-9619-D8DE51F6F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009900"/>
            <a:ext cx="2209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Rights governance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ABF41BE-60F9-453F-BE5C-BE229AF3A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409950"/>
            <a:ext cx="2095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55" b="0" i="0">
                <a:solidFill>
                  <a:srgbClr val="C9D8D2"/>
                </a:solidFill>
                <a:latin typeface="Aptos"/>
                <a:ea typeface="Aptos"/>
                <a:cs typeface="Aptos"/>
              </a:defRPr>
            </a:pPr>
            <a:r>
              <a:rPr sz="855" b="0" i="0">
                <a:solidFill>
                  <a:srgbClr val="C9D8D2"/>
                </a:solidFill>
                <a:latin typeface="Aptos"/>
                <a:ea typeface="Aptos"/>
                <a:cs typeface="Aptos"/>
              </a:rPr>
              <a:t>Labels, publishers, AI litigation and policy decide what is safe to build and license.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FEB74FE-0967-4B04-8232-0082E72A0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82905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4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6E4142C-AAB5-4DEB-88B8-EB1F9B448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82905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4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8763FCA-C139-4E21-92B1-AFDE3FDC8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562600"/>
            <a:ext cx="7524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E"/>
          </a:solidFill>
          <a:ln xmlns:a="http://schemas.openxmlformats.org/drawingml/2006/main" w="9525">
            <a:solidFill>
              <a:srgbClr val="31574D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F694CAD-2919-4EE4-9A3C-7D19B8CF9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562600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9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6F4CE30-CC4C-4E40-9B23-C109D29FB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695950"/>
            <a:ext cx="7105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Executive implication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2E04142-7589-497E-9921-C638AFA78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962650"/>
            <a:ext cx="7105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6340"/>
          </a:bodyPr>
          <a:lstStyle xmlns:a="http://schemas.openxmlformats.org/drawingml/2006/main"/>
          <a:p xmlns:a="http://schemas.openxmlformats.org/drawingml/2006/main">
            <a:pPr algn="l">
              <a:defRPr sz="765" b="0" i="0">
                <a:solidFill>
                  <a:srgbClr val="BFD1CB"/>
                </a:solidFill>
                <a:latin typeface="Aptos"/>
                <a:ea typeface="Aptos"/>
                <a:cs typeface="Aptos"/>
              </a:defRPr>
            </a:pPr>
            <a:r>
              <a:rPr sz="765" b="0" i="0">
                <a:solidFill>
                  <a:srgbClr val="BFD1CB"/>
                </a:solidFill>
                <a:latin typeface="Aptos"/>
                <a:ea typeface="Aptos"/>
                <a:cs typeface="Aptos"/>
              </a:rPr>
              <a:t>AI belongs in the map because it changes the learner's alternatives, utilities and constraints around Yousician.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B8AA0C2-CDC9-423B-AB6A-40C87DC2C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4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AF23AB2-3EE4-4DC4-9ADF-7DC1E2B3E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838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5" b="0" i="0">
                <a:solidFill>
                  <a:srgbClr val="9BB5AC"/>
                </a:solidFill>
                <a:latin typeface="Aptos"/>
                <a:ea typeface="Aptos"/>
                <a:cs typeface="Aptos"/>
              </a:defRPr>
            </a:pPr>
            <a:r>
              <a:rPr sz="585" b="0" i="0">
                <a:solidFill>
                  <a:srgbClr val="9BB5AC"/>
                </a:solidFill>
                <a:latin typeface="Aptos"/>
                <a:ea typeface="Aptos"/>
                <a:cs typeface="Aptos"/>
              </a:rPr>
              <a:t>Source: AI-related rows in market_moves_24m_curated_v3_2.csv and source audit.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DF8A18E-26C3-4A6C-980C-0F24F0764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534150"/>
            <a:ext cx="2133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585" b="0" i="0">
                <a:solidFill>
                  <a:srgbClr val="9BB5AC"/>
                </a:solidFill>
                <a:latin typeface="Aptos"/>
                <a:ea typeface="Aptos"/>
                <a:cs typeface="Aptos"/>
              </a:defRPr>
            </a:pPr>
            <a:r>
              <a:rPr sz="585" b="0" i="0">
                <a:solidFill>
                  <a:srgbClr val="9BB5AC"/>
                </a:solidFill>
                <a:latin typeface="Aptos"/>
                <a:ea typeface="Aptos"/>
                <a:cs typeface="Aptos"/>
              </a:rPr>
              <a:t>Yousician Strategic Environment Mapping v3.4</a:t>
            </a:r>
          </a:p>
        </p:txBody>
      </p:sp>
    </p:spTree>
    <p:extLst>
      <p:ext uri="{BB962C8B-B14F-4D97-AF65-F5344CB8AC3E}">
        <p14:creationId xmlns:p14="http://schemas.microsoft.com/office/powerpoint/2010/main" val="155812701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B1F04B8-85E9-4B79-94D2-0A866CB92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4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879A3F-0747-4670-BD46-D12D322E5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953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D7C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988F2C-812F-422A-9A8E-BFF56C73C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D7C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0EA25D-BEBA-4B6E-B2E2-A258540F9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D7C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8ED201-D918-48BF-BFA2-7653CCB20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D7C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D73F56-FEAA-40C1-B2DC-635D1097E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D7C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C863DB-FC2B-4E70-934C-975FAFD36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816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D7C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98E434-B6B4-412E-9CAD-A3A24CC3B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340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D7C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52349B-A059-4F08-8D02-15C9AB8D9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864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D7C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D48A81-7226-43D7-9B19-D16F41293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388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D7C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540225-031F-40D9-82D2-D41B5C458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D7C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B38EEE-6159-49F0-9489-8D721F6D0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18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D3E8B4-BBDC-4DD9-A70B-3B9545648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2425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168E7D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168E7D"/>
                </a:solidFill>
                <a:latin typeface="Aptos"/>
                <a:ea typeface="Aptos"/>
                <a:cs typeface="Aptos"/>
              </a:rPr>
              <a:t>MUSIC AS A HOBBY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D6528F-DAFA-48EB-BF07-1DA795AF4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35242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1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8C5B85-A991-4B7F-806B-FF7A09E08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8763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9749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rPr>
              <a:t>The hobby journey is broader than lesson completion.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EC0A97-BE49-4E86-A975-C304DC2D2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7810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This slide answers the second guiding question directly: who shapes music as a hobby?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66918F-7A5C-431E-BB78-64822003B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647950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49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F27683-94CC-40C0-999E-1D0CF43B8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857500"/>
            <a:ext cx="171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6267F3-33AB-4854-97FF-BB803AE28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000375"/>
            <a:ext cx="819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B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A908E5-8713-4C3A-A937-097D97666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6235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rPr>
              <a:t>Discover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4A5D79-F59A-42D5-B669-B850AB4C0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62400"/>
            <a:ext cx="1619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0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780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TikTok, YouTube, Spotify, artists, cultural moments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7B6E58-3CFB-4728-A3FC-040EF31BC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647950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BD4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BFD6E9A-B86A-4887-851F-A42F39E52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857500"/>
            <a:ext cx="171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2C4F5FC-1E77-4B2F-8925-62D49ADCD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000375"/>
            <a:ext cx="819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B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102AC1-73F8-41E0-96F9-CAA6C7AB7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56235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rPr>
              <a:t>Choose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D5BD7D3-159C-4E40-8943-8D5A45F47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962400"/>
            <a:ext cx="1619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0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780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Instrument brands, retailers, hardware bundles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D59DC4A-FEFB-46AF-AF67-1A081F9BA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647950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F78F2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7A14524-1397-4DC6-B607-51978F5CE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857500"/>
            <a:ext cx="171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EA780BC-0E2E-43D1-A85E-74CD34D28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000375"/>
            <a:ext cx="819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B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F550062-FE80-4E74-9155-6EEC43737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56235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rPr>
              <a:t>Learn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FC70E66-348F-4DA2-849B-AC6218109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962400"/>
            <a:ext cx="1619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0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780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Apps, teachers, schools, curricula, feedback tools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48D04F5-46D4-43BE-A597-534D026F1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647950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AEF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100A035-C78F-4091-9407-CD1C28A3E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857500"/>
            <a:ext cx="171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9327F61-F2D1-4A10-84DE-D79DC5CAE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00375"/>
            <a:ext cx="819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B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932B35E-E2CE-45A7-BD4F-02904BFAF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56235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rPr>
              <a:t>Play songs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CEA1BF0-1A5E-4D70-8845-629D9868E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962400"/>
            <a:ext cx="1619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0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780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Ultimate Guitar, Songsterr, MuseScore, Chordify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A585CF4-B472-4485-A413-D45804AB9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647950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6156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EDDCC32-8139-4E90-8E01-6021E2421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857500"/>
            <a:ext cx="171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AD76EE4-E0C1-4CED-94CC-BEC44B887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000375"/>
            <a:ext cx="819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F6B8743-FADB-423C-9330-1DCB256B7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56235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rPr>
              <a:t>Create/share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3643F87-FA71-44E9-885A-573A0832A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962400"/>
            <a:ext cx="1619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0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780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BandLab, GarageBand, Ableton, Splice, AI generation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5F9737F-24E7-45BC-A4D9-606FCB950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391150"/>
            <a:ext cx="8191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CFBD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0656FC5-39F2-45F9-9F09-CCC0B6A9A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391150"/>
            <a:ext cx="7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E7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E703F48-80B2-4EBC-842F-952C27926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524500"/>
            <a:ext cx="7772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4662425-BA60-4F94-8E7B-0893B457A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791200"/>
            <a:ext cx="7772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49020"/>
          </a:bodyPr>
          <a:lstStyle xmlns:a="http://schemas.openxmlformats.org/drawingml/2006/main"/>
          <a:p xmlns:a="http://schemas.openxmlformats.org/drawingml/2006/main">
            <a:pPr algn="l">
              <a:defRPr sz="765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765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Yousician's environment is shaped by demand before the app, repertoire during practice and creation/community after the lesson.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846C21E-82FD-42AC-A4A1-7DA8021C0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B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5CA2BA8-02CD-4543-991F-B2ACBDF99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838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5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585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Source: media/cultural drivers, music hobby software ecosystem and executive synthesis.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B2EB880-CF86-4871-8022-7755F50B6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534150"/>
            <a:ext cx="2133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585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585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Yousician Strategic Environment Mapping v3.4</a:t>
            </a:r>
          </a:p>
        </p:txBody>
      </p:sp>
    </p:spTree>
    <p:extLst>
      <p:ext uri="{BB962C8B-B14F-4D97-AF65-F5344CB8AC3E}">
        <p14:creationId xmlns:p14="http://schemas.microsoft.com/office/powerpoint/2010/main" val="143848295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12EEC69-CF30-4AD6-A0E0-427984C71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4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FC3315-E49A-4051-8406-3DF5C569B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953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D7C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DBA4F1-45B0-48EF-8570-CC5A9F95D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D7C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7E6F1E-F02F-410D-92B3-A5C79E57B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D7C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516774-D97B-401F-ACE1-721C88566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D7C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738E6B-86AF-495C-AD23-8C15354E3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D7C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25DDA6-5E02-499E-84F3-76F22E01A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816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D7C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694705-1B52-4E18-8316-FD172E5A4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340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D7C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72AD55-A753-443B-9612-39AFF5A75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864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D7C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C5D558-91BF-4756-A52E-5C1107520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388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D7C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6D31A0-9782-4013-B280-48926A718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D7C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C48C6E-69ED-4013-9657-AD21FE712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18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D3810D-4B4E-4D5B-B1BD-90DC188D5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2425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168E7D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168E7D"/>
                </a:solidFill>
                <a:latin typeface="Aptos"/>
                <a:ea typeface="Aptos"/>
                <a:cs typeface="Aptos"/>
              </a:rPr>
              <a:t>TRUST LAYER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D71C51-7621-4AB0-9B83-EE1056778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35242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1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504C82-7128-4E5C-A449-7F744F3C3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8763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017"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rPr>
              <a:t>Teachers, creators and education bodies are not appendix material.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E43D97-F61D-4CAB-BFDA-0AC53C87B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7810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They influence beginner trust, parent confidence and method legitimacy.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E6AA1F-C48A-44F7-BD94-D76ED750E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381250"/>
            <a:ext cx="971550" cy="971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E7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5BFE0B-1AEA-400E-A665-2F7D15E06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667000"/>
            <a:ext cx="438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225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8F9A85-6415-456A-9BD9-8642DED5B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95700"/>
            <a:ext cx="2667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rPr>
              <a:t>Education bodies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E4B266-252A-4D1B-883B-AF3DDAB9F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191000"/>
            <a:ext cx="2362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55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855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ABRSM, Trinity, RSL/Rockschool and similar benchmarks shape progression language.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5535AC-9F65-4E9F-B075-3EBF035EB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381250"/>
            <a:ext cx="971550" cy="971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BD4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407B8C-357C-410D-8C93-833F409FB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667000"/>
            <a:ext cx="438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225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26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ED864E-1E09-4A5B-80D2-3915C3670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695700"/>
            <a:ext cx="2667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rPr>
              <a:t>Creator educators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7847890-CDDF-41B1-8B58-FD9D89DFA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191000"/>
            <a:ext cx="2362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55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855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YouTube-led teaching creates demand before app comparison and trust after onboarding.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216A2C8-DDC2-4A67-B029-140CE9134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81250"/>
            <a:ext cx="971550" cy="971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6156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A26F385-A5B7-4DB9-B716-4003777AB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667000"/>
            <a:ext cx="438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225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28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6ABDA1F-70F2-44A1-8B94-21159B4F9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695700"/>
            <a:ext cx="2667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rPr>
              <a:t>Internal relationship gate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3D51D51-7954-4696-83A1-6DBDA5EF8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191000"/>
            <a:ext cx="2362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55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855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Relationship owner/status fields are prepared but must be completed by Yousician.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1382860-A69B-4C19-B27E-5F3BEBCC8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467350"/>
            <a:ext cx="8763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CFB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C68A6BE-0331-49F8-8327-A3243BBC4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467350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BD4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BCD801E-0D26-4CC4-997F-4E471A4E4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600700"/>
            <a:ext cx="8343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Reach caveat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CA18423-0353-4F66-8464-6E2C93430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867400"/>
            <a:ext cx="8343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6340"/>
          </a:bodyPr>
          <a:lstStyle xmlns:a="http://schemas.openxmlformats.org/drawingml/2006/main"/>
          <a:p xmlns:a="http://schemas.openxmlformats.org/drawingml/2006/main">
            <a:pPr algn="l">
              <a:defRPr sz="765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765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JustinGuitar / Marty Music / Rick Beato / Paul Davids. TikTok, Instagram and average-view reach still need platform validation before partnership planning.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DFF5733-7EA8-4A8C-B542-AF7BE4070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B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9EE5920-9ACD-4A36-A47F-E2F573B72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838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5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585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Source: teachers_schools_education_v3.csv, influencers_creators_v3.csv and relationships_template_v3.csv.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B3B2462-3C49-43E5-B147-379263CFB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534150"/>
            <a:ext cx="2133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585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585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Yousician Strategic Environment Mapping v3.4</a:t>
            </a:r>
          </a:p>
        </p:txBody>
      </p:sp>
    </p:spTree>
    <p:extLst>
      <p:ext uri="{BB962C8B-B14F-4D97-AF65-F5344CB8AC3E}">
        <p14:creationId xmlns:p14="http://schemas.microsoft.com/office/powerpoint/2010/main" val="206747491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F175C23-FE56-4C58-A669-E1976941F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18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0FD496-20B3-4350-AEC0-E46676C8B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953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83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72B856-25DB-4FCF-A944-76F91A1AE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83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B75A6F-3DD0-4DE9-B6AD-D469645CD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83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5635B3-3B64-454D-943D-9D81328C2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83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69F8B4-9D88-4CEF-BD16-C4566640E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83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6E0906-A2CD-48D3-BF11-F512DE21C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816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83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D807E8-89C6-4DAD-A49F-C478A192D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340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83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EFCEAA-B2E1-4214-B5EE-678C33C7C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864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83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A76B69-26FA-4D08-9293-C683B5C13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388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83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042892-696F-455A-92E5-842E4B011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83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8BD7D0-1DA4-4E8D-ABEE-E89EC015E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9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ADB002-82DE-4AC1-B4A6-74EF3AB87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2425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00D49A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00D49A"/>
                </a:solidFill>
                <a:latin typeface="Aptos"/>
                <a:ea typeface="Aptos"/>
                <a:cs typeface="Aptos"/>
              </a:rPr>
              <a:t>RELATIONSHIPS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D4BE3A-AE48-4EBC-B3B5-668398063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35242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1" i="0">
                <a:solidFill>
                  <a:srgbClr val="B8CCC5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B8CCC5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DAD33D-4507-4A98-9C37-A273AD92F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8763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FFFDF7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 i="0">
                <a:solidFill>
                  <a:srgbClr val="FFFDF7"/>
                </a:solidFill>
                <a:latin typeface="Aptos Display"/>
                <a:ea typeface="Aptos Display"/>
                <a:cs typeface="Aptos Display"/>
              </a:rPr>
              <a:t>The relationship layer should look intentionally incomplete.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9F7CD5-E171-4F2B-8BEE-37EEBA44A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7810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BED1CA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BED1CA"/>
                </a:solidFill>
                <a:latin typeface="Aptos"/>
                <a:ea typeface="Aptos"/>
                <a:cs typeface="Aptos"/>
              </a:rPr>
              <a:t>It is a Yousician completion layer, not an external market claim.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9C91B8-E5DD-4412-8AC3-6BEA6DDBF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24100"/>
            <a:ext cx="21336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E"/>
          </a:solidFill>
          <a:ln xmlns:a="http://schemas.openxmlformats.org/drawingml/2006/main" w="9525">
            <a:solidFill>
              <a:srgbClr val="31574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972AAB-F8D7-4685-A9D7-60A56A169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24100"/>
            <a:ext cx="2133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156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FE1EC9-D88C-4D95-8462-1C7EE1F0E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52700"/>
            <a:ext cx="1790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confirmed owner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2E7146-DF3D-4836-BE95-0A60DFE02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324100"/>
            <a:ext cx="21336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E"/>
          </a:solidFill>
          <a:ln xmlns:a="http://schemas.openxmlformats.org/drawingml/2006/main" w="9525">
            <a:solidFill>
              <a:srgbClr val="31574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CA42EF-535D-43A9-8AA2-6E11C5ACF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324100"/>
            <a:ext cx="2133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156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6E49D5-5673-463C-882F-C9793479D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552700"/>
            <a:ext cx="1790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confirmed relationship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78C391-58EB-4804-915D-25029A1E2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324100"/>
            <a:ext cx="21336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E"/>
          </a:solidFill>
          <a:ln xmlns:a="http://schemas.openxmlformats.org/drawingml/2006/main" w="9525">
            <a:solidFill>
              <a:srgbClr val="31574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BDE68DA-A2BE-4EE0-9DAD-55A7A08AF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324100"/>
            <a:ext cx="2133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156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E3D5D6F-C11E-4B29-AB4C-C4DCB7927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52700"/>
            <a:ext cx="1790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relationship status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60A6331-FECF-48C2-AB83-AF420F62D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324100"/>
            <a:ext cx="21336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E"/>
          </a:solidFill>
          <a:ln xmlns:a="http://schemas.openxmlformats.org/drawingml/2006/main" w="9525">
            <a:solidFill>
              <a:srgbClr val="31574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EDD9C19-9F8D-4AF6-97C3-DB0F40AD7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324100"/>
            <a:ext cx="2133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BD4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C8055D3-BFA3-4664-B9D1-B5C866564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552700"/>
            <a:ext cx="1790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sensitivity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5DB26AC-6922-46C9-A6A0-D4D8BE2BA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24250"/>
            <a:ext cx="21336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E"/>
          </a:solidFill>
          <a:ln xmlns:a="http://schemas.openxmlformats.org/drawingml/2006/main" w="9525">
            <a:solidFill>
              <a:srgbClr val="31574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1EA034C-56D9-4FA7-8C25-B2E1CD4AD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24250"/>
            <a:ext cx="2133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BD4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F787B8F-C2A6-4F80-B886-A821B519F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52850"/>
            <a:ext cx="1790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last contact date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F6C4BAD-5590-4EAF-BD3A-1C989F590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524250"/>
            <a:ext cx="21336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E"/>
          </a:solidFill>
          <a:ln xmlns:a="http://schemas.openxmlformats.org/drawingml/2006/main" w="9525">
            <a:solidFill>
              <a:srgbClr val="31574D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546C083-07EF-4159-A2CF-33B1CA245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524250"/>
            <a:ext cx="2133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BD4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35D940B-3D0F-440C-B327-976A2BE86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752850"/>
            <a:ext cx="1790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suggested next step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430396B-B522-4C56-B0D5-649F55288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24250"/>
            <a:ext cx="21336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E"/>
          </a:solidFill>
          <a:ln xmlns:a="http://schemas.openxmlformats.org/drawingml/2006/main" w="9525">
            <a:solidFill>
              <a:srgbClr val="31574D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24281B7-C6EA-48E7-9777-16E75CD76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24250"/>
            <a:ext cx="2133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BD4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AF93B19-F3A6-408C-9C00-603DC1BA8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52850"/>
            <a:ext cx="1790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notes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B124C1A-1C61-43BB-8468-6480D0606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048250"/>
            <a:ext cx="8382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4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74D297D-F470-4D31-A04E-AEEF649B5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5257800"/>
            <a:ext cx="1371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06156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F06156"/>
                </a:solidFill>
                <a:latin typeface="Aptos"/>
                <a:ea typeface="Aptos"/>
                <a:cs typeface="Aptos"/>
              </a:rPr>
              <a:t>Standard wording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BC629E2-4C2D-46EF-A4C6-30BDD808D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219700"/>
            <a:ext cx="581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95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Internal relationship status not yet captured in this dataset. To be completed by Yousician.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7967DC8-8BC8-46CB-8B8C-559FFFE62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4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C24EA29-138E-417A-B2FE-ED0735C8D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838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5" b="0" i="0">
                <a:solidFill>
                  <a:srgbClr val="9BB5AC"/>
                </a:solidFill>
                <a:latin typeface="Aptos"/>
                <a:ea typeface="Aptos"/>
                <a:cs typeface="Aptos"/>
              </a:defRPr>
            </a:pPr>
            <a:r>
              <a:rPr sz="585" b="0" i="0">
                <a:solidFill>
                  <a:srgbClr val="9BB5AC"/>
                </a:solidFill>
                <a:latin typeface="Aptos"/>
                <a:ea typeface="Aptos"/>
                <a:cs typeface="Aptos"/>
              </a:rPr>
              <a:t>Source: relationship-validation-template.csv and relationships_template_v3.csv. No external inference of relationship status.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A49926A-5A57-47F3-9209-1A0DA6941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534150"/>
            <a:ext cx="2133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585" b="0" i="0">
                <a:solidFill>
                  <a:srgbClr val="9BB5AC"/>
                </a:solidFill>
                <a:latin typeface="Aptos"/>
                <a:ea typeface="Aptos"/>
                <a:cs typeface="Aptos"/>
              </a:defRPr>
            </a:pPr>
            <a:r>
              <a:rPr sz="585" b="0" i="0">
                <a:solidFill>
                  <a:srgbClr val="9BB5AC"/>
                </a:solidFill>
                <a:latin typeface="Aptos"/>
                <a:ea typeface="Aptos"/>
                <a:cs typeface="Aptos"/>
              </a:rPr>
              <a:t>Yousician Strategic Environment Mapping v3.4</a:t>
            </a:r>
          </a:p>
        </p:txBody>
      </p:sp>
    </p:spTree>
    <p:extLst>
      <p:ext uri="{BB962C8B-B14F-4D97-AF65-F5344CB8AC3E}">
        <p14:creationId xmlns:p14="http://schemas.microsoft.com/office/powerpoint/2010/main" val="1323320000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1A4AE64-40F6-4645-8BC5-0BA25C5D6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4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ED1AC5-8B2B-4164-B355-C5B08054D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953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D7C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DC8CA7-E3B6-4812-986D-058228D10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D7C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73A681-D54C-488C-91C2-B3364675E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D7C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5CDC71-676D-445B-998F-058EAAB2F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D7C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37A8B4-8C02-4F07-B8BC-D599065F6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D7C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AB4345-73BE-4E62-BF93-17A293F73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816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D7C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6A9472-75E3-478F-AE1E-2C1AD5A3E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340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D7C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3B510D-01E3-4744-9C8C-B2D69310C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864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D7C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A4193A-42A3-456C-80F7-0A68E6CD9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388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D7C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B0FF3A-E85E-45E7-842A-91C46E5D3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D7C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8E55D4-FFFA-40F2-9CBC-4701F171B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18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DB04F1-ED28-4D1D-8AF3-D5B999211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2425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168E7D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168E7D"/>
                </a:solidFill>
                <a:latin typeface="Aptos"/>
                <a:ea typeface="Aptos"/>
                <a:cs typeface="Aptos"/>
              </a:rPr>
              <a:t>EVIDENCE QA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245A88-E153-461F-9B96-1319B9F08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35242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1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ED0F42-95AC-4B8D-BCC9-FF63740D3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8763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6491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rPr>
              <a:t>Data quality should be visible, not buried in the appendix.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C822D9-D978-4567-9175-B4AC27225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7810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The package is stronger because it separates passed checks, review work and true blockers.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114FE1-39C7-4792-8F80-0C0DCF3F7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95500"/>
            <a:ext cx="26860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8EE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E76454-909D-4301-8CDA-2ABFDBD5B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381250"/>
            <a:ext cx="685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6956"/>
          </a:bodyPr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00D49A"/>
                </a:solidFill>
                <a:latin typeface="Aptos"/>
                <a:ea typeface="Aptos"/>
                <a:cs typeface="Aptos"/>
              </a:defRPr>
            </a:pPr>
            <a:r>
              <a:rPr sz="3450" b="1" i="0">
                <a:solidFill>
                  <a:srgbClr val="00D49A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C7F266-202C-4620-A078-144863840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457450"/>
            <a:ext cx="1162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rPr>
              <a:t>Passed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FF3863-BE14-47D7-966C-25935576E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86100"/>
            <a:ext cx="2152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65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765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key players, timeline depth, request pack, duplicates, proxy notes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6085A7-F672-40FC-8244-CD9E4C788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095500"/>
            <a:ext cx="26860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7A5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34440E-ADD2-4B60-8906-B4ED759CA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381250"/>
            <a:ext cx="685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6956"/>
          </a:bodyPr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F7BD43"/>
                </a:solidFill>
                <a:latin typeface="Aptos"/>
                <a:ea typeface="Aptos"/>
                <a:cs typeface="Aptos"/>
              </a:defRPr>
            </a:pPr>
            <a:r>
              <a:rPr sz="3450" b="1" i="0">
                <a:solidFill>
                  <a:srgbClr val="F7BD43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DEE42CB-2253-4A08-94E3-110970C3F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457450"/>
            <a:ext cx="1162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6293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rPr>
              <a:t>Needs review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F1E6F96-4DC6-42C2-8148-152DFFCD3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086100"/>
            <a:ext cx="2152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65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765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refresh queue, hard claims, source confidence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E7C5FE1-B789-43CB-A405-F64ECDEE8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095500"/>
            <a:ext cx="26860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9D5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C2BC2FC-AC3B-40A6-AD15-F7B7FA2B5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381250"/>
            <a:ext cx="685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6956"/>
          </a:bodyPr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F06156"/>
                </a:solidFill>
                <a:latin typeface="Aptos"/>
                <a:ea typeface="Aptos"/>
                <a:cs typeface="Aptos"/>
              </a:defRPr>
            </a:pPr>
            <a:r>
              <a:rPr sz="3450" b="1" i="0">
                <a:solidFill>
                  <a:srgbClr val="F06156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259200A-EF17-4C73-ABF2-21E405168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457450"/>
            <a:ext cx="1162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rPr>
              <a:t>Blocked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AD8F5A0-17E7-4DA4-AC17-DE8ED334F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086100"/>
            <a:ext cx="2152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65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765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credentialed Appfigures and relationships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2FCA377-FDD5-4672-9715-3A4AD3111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24350"/>
            <a:ext cx="1314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CFB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D151722-5D68-4346-99B8-89C97B988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3865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06156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F06156"/>
                </a:solidFill>
                <a:latin typeface="Aptos"/>
                <a:ea typeface="Aptos"/>
                <a:cs typeface="Aptos"/>
              </a:rPr>
              <a:t>48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EDA7F83-6BA3-49FB-8253-A9FD16117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400550"/>
            <a:ext cx="68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55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555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Market move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3B709D6-F87A-4B2D-82FB-383B61319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591050"/>
            <a:ext cx="6858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95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495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claim rows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7558FFD-65B6-44F7-9C16-23BEA724C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324350"/>
            <a:ext cx="1314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CFBD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16CED98-7E04-4AC9-975E-4C460E0A0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43865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06156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F06156"/>
                </a:solidFill>
                <a:latin typeface="Aptos"/>
                <a:ea typeface="Aptos"/>
                <a:cs typeface="Aptos"/>
              </a:rPr>
              <a:t>28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A894926-7276-4224-88B2-6A900F980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400550"/>
            <a:ext cx="68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55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555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Key-player relevance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8AB3379-43AE-4DDC-8C09-3A0421437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591050"/>
            <a:ext cx="6858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95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495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claim rows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70E98C1-1699-4F4B-87DB-63F515094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324350"/>
            <a:ext cx="1314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CFBD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3C08870-412A-4A4E-BA88-960D5616F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43865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06156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F06156"/>
                </a:solidFill>
                <a:latin typeface="Aptos"/>
                <a:ea typeface="Aptos"/>
                <a:cs typeface="Aptos"/>
              </a:rPr>
              <a:t>28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CA17A8A-B274-44A5-9D5B-95C17BE2E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400550"/>
            <a:ext cx="68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55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555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Ownership / investors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9D3E7D9-221C-4AF1-8033-71F2E1671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591050"/>
            <a:ext cx="6858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95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495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claim rows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B34F986-3A53-4A2E-913F-F480ED487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324350"/>
            <a:ext cx="1314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CFBD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6EAEDD0-A434-4C65-AF17-13FDE2E67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43865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68E7D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68E7D"/>
                </a:solidFill>
                <a:latin typeface="Aptos"/>
                <a:ea typeface="Aptos"/>
                <a:cs typeface="Aptos"/>
              </a:rPr>
              <a:t>26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2097377-7BEE-4EE6-A3E7-B0C5E7F90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400550"/>
            <a:ext cx="68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55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555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Creator reach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3003812-8810-48B9-A42E-E4BADEB8F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591050"/>
            <a:ext cx="6858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95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495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claim rows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7F052BE-FA26-4257-9532-A3C7A8EAF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324350"/>
            <a:ext cx="1314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CFBD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D3C9D65-A711-4E28-9209-303C56E87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43865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68E7D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68E7D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99E66A2-9143-465B-AE25-C8EB9D33E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400550"/>
            <a:ext cx="68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55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555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Investor / deal relev...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56C755F-2969-4637-983D-D034513B5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591050"/>
            <a:ext cx="6858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95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495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claim rows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05BB53B-CA10-42E9-9862-3EA22ECC1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324350"/>
            <a:ext cx="1314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CFBD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D43446C-F0D3-4CFB-A127-EF1433DA4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43865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68E7D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68E7D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25D866F-60F7-474A-9BBB-A0E5B2911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400550"/>
            <a:ext cx="68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55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555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Education reach / role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66A3B6E-1C7F-44CD-972C-482339705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591050"/>
            <a:ext cx="6858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95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495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claim rows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70B03CA-65E4-46DE-88C3-F0046929B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505450"/>
            <a:ext cx="8763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CFBD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6DDD4EF-E10E-4DBF-84CA-CF98CB95C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505450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BD4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AF51959-50FF-4E1E-BA68-D06949079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638800"/>
            <a:ext cx="8343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Current review risk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BE6E3EC-3002-4966-BE13-1233EAA4A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905500"/>
            <a:ext cx="8343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6340"/>
          </a:bodyPr>
          <a:lstStyle xmlns:a="http://schemas.openxmlformats.org/drawingml/2006/main"/>
          <a:p xmlns:a="http://schemas.openxmlformats.org/drawingml/2006/main">
            <a:pPr algn="l">
              <a:defRPr sz="765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765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90 open refresh rows, 33 hard-claim confidence gaps and 42 Low/Pending source-audit rows remain visible.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BDEA7B4-831E-4B4D-8A45-1277BC808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B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07AC171-2B65-4C4E-9296-01B3436F8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838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5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585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Source: data_quality_check_v3_2_5.csv and claim_source_matrix_v3_2.csv.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7458D11-3C5F-4420-9564-95DD9DC2B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534150"/>
            <a:ext cx="2133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585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585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Yousician Strategic Environment Mapping v3.4</a:t>
            </a:r>
          </a:p>
        </p:txBody>
      </p:sp>
    </p:spTree>
    <p:extLst>
      <p:ext uri="{BB962C8B-B14F-4D97-AF65-F5344CB8AC3E}">
        <p14:creationId xmlns:p14="http://schemas.microsoft.com/office/powerpoint/2010/main" val="1974075263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E7C8571-4039-4ACF-A07E-D3BE5186C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18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C07BC4-1332-434C-8D57-BE8C14D09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953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83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F5E758-DE6B-45B1-B2FB-DA2F93DC3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83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361396-E43A-4B7D-8B99-75C8509A1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83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4AD536-A4EE-43EC-AAD3-B5C98BFA6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83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D27DB0-FC40-47A5-9293-C30C9E79D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83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E5EB9A-3DFB-4264-90A7-F1B33BC58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816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83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D58010-DCB1-4828-830C-1BC5C823E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340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83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F885C3-0675-4E1A-B20D-71B1D6B74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864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83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B5B615-8D14-48B7-9E1F-DBB88BEBC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388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83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407F48-4029-484E-BDDC-9FED1EE2A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83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8D3412-29B8-47E3-959C-CC88AD226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9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64AAF3-76A0-4709-8662-C2A11CD05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2425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00D49A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00D49A"/>
                </a:solidFill>
                <a:latin typeface="Aptos"/>
                <a:ea typeface="Aptos"/>
                <a:cs typeface="Aptos"/>
              </a:rPr>
              <a:t>LIVING SYSTEM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026F66-2FF8-4337-93A2-D67A99A2E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35242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1" i="0">
                <a:solidFill>
                  <a:srgbClr val="B8CCC5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B8CCC5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E6107B-9778-47A0-8614-F1BB36361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8763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8684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FFDF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i="0">
                <a:solidFill>
                  <a:srgbClr val="FFFDF7"/>
                </a:solidFill>
                <a:latin typeface="Aptos Display"/>
                <a:ea typeface="Aptos Display"/>
                <a:cs typeface="Aptos Display"/>
              </a:rPr>
              <a:t>Self-updating should mean review-gated, not auto-published.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187EA3-3D9A-44CD-B9C9-6B83C44F1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7810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BED1CA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BED1CA"/>
                </a:solidFill>
                <a:latin typeface="Aptos"/>
                <a:ea typeface="Aptos"/>
                <a:cs typeface="Aptos"/>
              </a:rPr>
              <a:t>The backend now supports a living database path while keeping executive and Board outputs behind approval gates.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58E923-82FA-4971-AFEB-756F7D15D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53365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49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73512A-60B6-402B-92F9-4F00D93BF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800350"/>
            <a:ext cx="95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91A3A3-22C1-45FC-8FC2-E3387B329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48050"/>
            <a:ext cx="14668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E"/>
          </a:solidFill>
          <a:ln xmlns:a="http://schemas.openxmlformats.org/drawingml/2006/main" w="9525">
            <a:solidFill>
              <a:srgbClr val="31574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DB68B9-2422-4388-A0E4-4455EBE22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76650"/>
            <a:ext cx="1123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Refresh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97B5DC-CA30-4235-A1C3-597576505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81450"/>
            <a:ext cx="1123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45" b="0" i="0">
                <a:solidFill>
                  <a:srgbClr val="C9D8D2"/>
                </a:solidFill>
                <a:latin typeface="Aptos"/>
                <a:ea typeface="Aptos"/>
                <a:cs typeface="Aptos"/>
              </a:defRPr>
            </a:pPr>
            <a:r>
              <a:rPr sz="645" b="0" i="0">
                <a:solidFill>
                  <a:srgbClr val="C9D8D2"/>
                </a:solidFill>
                <a:latin typeface="Aptos"/>
                <a:ea typeface="Aptos"/>
                <a:cs typeface="Aptos"/>
              </a:rPr>
              <a:t>watch public sources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589764-227E-4797-A6DD-B347A6BDE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905125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9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1BC3AE4-3DEC-4CEA-AD13-5F9E65285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53365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49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5AB46D-5D84-418F-A96C-446D3D0EE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800350"/>
            <a:ext cx="95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9CD2110-AFE9-4DAD-9F83-0804450E4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448050"/>
            <a:ext cx="14668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E"/>
          </a:solidFill>
          <a:ln xmlns:a="http://schemas.openxmlformats.org/drawingml/2006/main" w="9525">
            <a:solidFill>
              <a:srgbClr val="31574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A076354-F176-43B0-8D9C-70BE2A56D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676650"/>
            <a:ext cx="1123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Queue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BB5E035-B4DC-427E-8689-6EA3F523F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981450"/>
            <a:ext cx="1123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45" b="0" i="0">
                <a:solidFill>
                  <a:srgbClr val="C9D8D2"/>
                </a:solidFill>
                <a:latin typeface="Aptos"/>
                <a:ea typeface="Aptos"/>
                <a:cs typeface="Aptos"/>
              </a:defRPr>
            </a:pPr>
            <a:r>
              <a:rPr sz="645" b="0" i="0">
                <a:solidFill>
                  <a:srgbClr val="C9D8D2"/>
                </a:solidFill>
                <a:latin typeface="Aptos"/>
                <a:ea typeface="Aptos"/>
                <a:cs typeface="Aptos"/>
              </a:rPr>
              <a:t>log changed signals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ED7F925-22A3-4BA8-A4C5-DAA843BDF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905125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9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6259121-C934-4D0C-8F4C-B112B5DB6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53365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49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B4C4D3B-D47C-4405-811D-5487A27F0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800350"/>
            <a:ext cx="95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FE4A756-7453-4A49-9C89-002F442F3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448050"/>
            <a:ext cx="14668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E"/>
          </a:solidFill>
          <a:ln xmlns:a="http://schemas.openxmlformats.org/drawingml/2006/main" w="9525">
            <a:solidFill>
              <a:srgbClr val="31574D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26343B7-821D-4EDE-83A4-20A39C7B9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676650"/>
            <a:ext cx="1123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Review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787F993-E748-4DD3-A7F9-23C09C552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981450"/>
            <a:ext cx="1123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45" b="0" i="0">
                <a:solidFill>
                  <a:srgbClr val="C9D8D2"/>
                </a:solidFill>
                <a:latin typeface="Aptos"/>
                <a:ea typeface="Aptos"/>
                <a:cs typeface="Aptos"/>
              </a:defRPr>
            </a:pPr>
            <a:r>
              <a:rPr sz="645" b="0" i="0">
                <a:solidFill>
                  <a:srgbClr val="C9D8D2"/>
                </a:solidFill>
                <a:latin typeface="Aptos"/>
                <a:ea typeface="Aptos"/>
                <a:cs typeface="Aptos"/>
              </a:rPr>
              <a:t>accept/reject claims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3029C75-6F67-40A5-B54E-5FE03010B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05125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156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262A883-8305-4D06-A5EB-6099E2BDE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53365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6156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C40A04D-3AC3-443F-AAD0-65B878928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800350"/>
            <a:ext cx="95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EF219F6-4637-4143-9BB1-ACF6A6BCE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448050"/>
            <a:ext cx="14668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E"/>
          </a:solidFill>
          <a:ln xmlns:a="http://schemas.openxmlformats.org/drawingml/2006/main" w="9525">
            <a:solidFill>
              <a:srgbClr val="31574D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2F06FCF-B72F-4CC1-BF6F-27A335EA5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676650"/>
            <a:ext cx="1123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Import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4789492-A178-4CD9-B2F3-6C40A0C62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981450"/>
            <a:ext cx="1123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45" b="0" i="0">
                <a:solidFill>
                  <a:srgbClr val="C9D8D2"/>
                </a:solidFill>
                <a:latin typeface="Aptos"/>
                <a:ea typeface="Aptos"/>
                <a:cs typeface="Aptos"/>
              </a:defRPr>
            </a:pPr>
            <a:r>
              <a:rPr sz="645" b="0" i="0">
                <a:solidFill>
                  <a:srgbClr val="C9D8D2"/>
                </a:solidFill>
                <a:latin typeface="Aptos"/>
                <a:ea typeface="Aptos"/>
                <a:cs typeface="Aptos"/>
              </a:rPr>
              <a:t>credentialed Appfigures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E1C0710-E786-4823-8F3F-7BE128B78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905125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9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AABB390-5681-4024-9636-7A301DE82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53365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49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93A65C8-C0CE-484C-8E33-DDC910F74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800350"/>
            <a:ext cx="95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8C7F7C6-F729-448E-9E82-BA6CF6409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448050"/>
            <a:ext cx="14668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E"/>
          </a:solidFill>
          <a:ln xmlns:a="http://schemas.openxmlformats.org/drawingml/2006/main" w="9525">
            <a:solidFill>
              <a:srgbClr val="31574D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8ADB9DA-B400-45BF-9B45-15C57FA56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676650"/>
            <a:ext cx="1123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Rebuild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91EE9AD-179A-4B4F-8DB1-F7902165B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981450"/>
            <a:ext cx="1123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45" b="0" i="0">
                <a:solidFill>
                  <a:srgbClr val="C9D8D2"/>
                </a:solidFill>
                <a:latin typeface="Aptos"/>
                <a:ea typeface="Aptos"/>
                <a:cs typeface="Aptos"/>
              </a:defRPr>
            </a:pPr>
            <a:r>
              <a:rPr sz="645" b="0" i="0">
                <a:solidFill>
                  <a:srgbClr val="C9D8D2"/>
                </a:solidFill>
                <a:latin typeface="Aptos"/>
                <a:ea typeface="Aptos"/>
                <a:cs typeface="Aptos"/>
              </a:rPr>
              <a:t>deck/report/workbook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A413B81-1003-4DC3-91AD-CD328DDDF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905125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9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CD929C8-9A01-479F-81F1-455630E3B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253365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49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AB962FC-C325-4459-A567-650A761C5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2800350"/>
            <a:ext cx="95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D4E89F0-0F58-4A78-9657-A50AD72FB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448050"/>
            <a:ext cx="14668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E"/>
          </a:solidFill>
          <a:ln xmlns:a="http://schemas.openxmlformats.org/drawingml/2006/main" w="9525">
            <a:solidFill>
              <a:srgbClr val="31574D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5FB26A9-353A-4BDA-9985-15B8F4982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676650"/>
            <a:ext cx="1123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Approve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DABB96F-649E-402D-BAF7-DED9D7179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981450"/>
            <a:ext cx="1123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45" b="0" i="0">
                <a:solidFill>
                  <a:srgbClr val="C9D8D2"/>
                </a:solidFill>
                <a:latin typeface="Aptos"/>
                <a:ea typeface="Aptos"/>
                <a:cs typeface="Aptos"/>
              </a:defRPr>
            </a:pPr>
            <a:r>
              <a:rPr sz="645" b="0" i="0">
                <a:solidFill>
                  <a:srgbClr val="C9D8D2"/>
                </a:solidFill>
                <a:latin typeface="Aptos"/>
                <a:ea typeface="Aptos"/>
                <a:cs typeface="Aptos"/>
              </a:rPr>
              <a:t>Board-safe output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E5AC93E-DCA5-4F38-8CB5-A90D2BEFA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162550"/>
            <a:ext cx="1619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A24"/>
          </a:solidFill>
          <a:ln xmlns:a="http://schemas.openxmlformats.org/drawingml/2006/main" w="9525">
            <a:solidFill>
              <a:srgbClr val="2A5248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584D663-516A-4685-A01B-1F7CE1782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276850"/>
            <a:ext cx="1276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1398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F7BD43"/>
                </a:solidFill>
                <a:latin typeface="Aptos"/>
                <a:ea typeface="Aptos"/>
                <a:cs typeface="Aptos"/>
              </a:defRPr>
            </a:pPr>
            <a:r>
              <a:rPr sz="2325" b="1" i="0">
                <a:solidFill>
                  <a:srgbClr val="F7BD43"/>
                </a:solidFill>
                <a:latin typeface="Aptos"/>
                <a:ea typeface="Aptos"/>
                <a:cs typeface="Aptos"/>
              </a:rPr>
              <a:t>90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F9480E2-C1AD-45BD-B854-7A8CCD40C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619750"/>
            <a:ext cx="127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60" b="1" i="0">
                <a:solidFill>
                  <a:srgbClr val="C9D8D2"/>
                </a:solidFill>
                <a:latin typeface="Aptos"/>
                <a:ea typeface="Aptos"/>
                <a:cs typeface="Aptos"/>
              </a:defRPr>
            </a:pPr>
            <a:r>
              <a:rPr sz="660" b="1" i="0">
                <a:solidFill>
                  <a:srgbClr val="C9D8D2"/>
                </a:solidFill>
                <a:latin typeface="Aptos"/>
                <a:ea typeface="Aptos"/>
                <a:cs typeface="Aptos"/>
              </a:rPr>
              <a:t>open review rows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8E7DFC4-51CE-4AD7-9079-94D936950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5162550"/>
            <a:ext cx="1619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A24"/>
          </a:solidFill>
          <a:ln xmlns:a="http://schemas.openxmlformats.org/drawingml/2006/main" w="9525">
            <a:solidFill>
              <a:srgbClr val="2A5248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8DBE5B7-3EF6-4197-BC37-64263E044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5276850"/>
            <a:ext cx="1276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1398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00D49A"/>
                </a:solidFill>
                <a:latin typeface="Aptos"/>
                <a:ea typeface="Aptos"/>
                <a:cs typeface="Aptos"/>
              </a:defRPr>
            </a:pPr>
            <a:r>
              <a:rPr sz="2325" b="1" i="0">
                <a:solidFill>
                  <a:srgbClr val="00D49A"/>
                </a:solidFill>
                <a:latin typeface="Aptos"/>
                <a:ea typeface="Aptos"/>
                <a:cs typeface="Aptos"/>
              </a:rPr>
              <a:t>320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AC93714-7D16-4B5A-98E2-AE5537F89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5619750"/>
            <a:ext cx="127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60" b="1" i="0">
                <a:solidFill>
                  <a:srgbClr val="C9D8D2"/>
                </a:solidFill>
                <a:latin typeface="Aptos"/>
                <a:ea typeface="Aptos"/>
                <a:cs typeface="Aptos"/>
              </a:defRPr>
            </a:pPr>
            <a:r>
              <a:rPr sz="660" b="1" i="0">
                <a:solidFill>
                  <a:srgbClr val="C9D8D2"/>
                </a:solidFill>
                <a:latin typeface="Aptos"/>
                <a:ea typeface="Aptos"/>
                <a:cs typeface="Aptos"/>
              </a:rPr>
              <a:t>refresh checks logged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3678F1C-B7CB-4CC2-9F2A-752273845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162550"/>
            <a:ext cx="1619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A24"/>
          </a:solidFill>
          <a:ln xmlns:a="http://schemas.openxmlformats.org/drawingml/2006/main" w="9525">
            <a:solidFill>
              <a:srgbClr val="2A524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A54E9DE-4066-4D60-8156-901EDC17C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276850"/>
            <a:ext cx="1276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1398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F06156"/>
                </a:solidFill>
                <a:latin typeface="Aptos"/>
                <a:ea typeface="Aptos"/>
                <a:cs typeface="Aptos"/>
              </a:defRPr>
            </a:pPr>
            <a:r>
              <a:rPr sz="2325" b="1" i="0">
                <a:solidFill>
                  <a:srgbClr val="F06156"/>
                </a:solidFill>
                <a:latin typeface="Aptos"/>
                <a:ea typeface="Aptos"/>
                <a:cs typeface="Aptos"/>
              </a:rPr>
              <a:t>28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796A186-2D8B-475E-92D0-7E4E38B99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619750"/>
            <a:ext cx="127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60" b="1" i="0">
                <a:solidFill>
                  <a:srgbClr val="C9D8D2"/>
                </a:solidFill>
                <a:latin typeface="Aptos"/>
                <a:ea typeface="Aptos"/>
                <a:cs typeface="Aptos"/>
              </a:defRPr>
            </a:pPr>
            <a:r>
              <a:rPr sz="660" b="1" i="0">
                <a:solidFill>
                  <a:srgbClr val="C9D8D2"/>
                </a:solidFill>
                <a:latin typeface="Aptos"/>
                <a:ea typeface="Aptos"/>
                <a:cs typeface="Aptos"/>
              </a:rPr>
              <a:t>relationship rows pending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D3D2EBF-5018-4B1F-BB81-E5A11834C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162550"/>
            <a:ext cx="1619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A24"/>
          </a:solidFill>
          <a:ln xmlns:a="http://schemas.openxmlformats.org/drawingml/2006/main" w="9525">
            <a:solidFill>
              <a:srgbClr val="2A524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0393A7B-BDEB-4DF1-9C18-4AE317B6C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5276850"/>
            <a:ext cx="1276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1398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F06156"/>
                </a:solidFill>
                <a:latin typeface="Aptos"/>
                <a:ea typeface="Aptos"/>
                <a:cs typeface="Aptos"/>
              </a:defRPr>
            </a:pPr>
            <a:r>
              <a:rPr sz="2325" b="1" i="0">
                <a:solidFill>
                  <a:srgbClr val="F06156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8CBE547-FF8D-4DFD-ABD7-C287EBD8D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5619750"/>
            <a:ext cx="127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60" b="1" i="0">
                <a:solidFill>
                  <a:srgbClr val="C9D8D2"/>
                </a:solidFill>
                <a:latin typeface="Aptos"/>
                <a:ea typeface="Aptos"/>
                <a:cs typeface="Aptos"/>
              </a:defRPr>
            </a:pPr>
            <a:r>
              <a:rPr sz="660" b="1" i="0">
                <a:solidFill>
                  <a:srgbClr val="C9D8D2"/>
                </a:solidFill>
                <a:latin typeface="Aptos"/>
                <a:ea typeface="Aptos"/>
                <a:cs typeface="Aptos"/>
              </a:rPr>
              <a:t>credentialed Appfigures rows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A3050E1-5C93-4651-85D4-028778F90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4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10C68C7-4119-43DA-9486-3E646554A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838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5" b="0" i="0">
                <a:solidFill>
                  <a:srgbClr val="9BB5AC"/>
                </a:solidFill>
                <a:latin typeface="Aptos"/>
                <a:ea typeface="Aptos"/>
                <a:cs typeface="Aptos"/>
              </a:defRPr>
            </a:pPr>
            <a:r>
              <a:rPr sz="585" b="0" i="0">
                <a:solidFill>
                  <a:srgbClr val="9BB5AC"/>
                </a:solidFill>
                <a:latin typeface="Aptos"/>
                <a:ea typeface="Aptos"/>
                <a:cs typeface="Aptos"/>
              </a:rPr>
              <a:t>Source: local backend status, review queue and Appfigures import path. Backend is local and review-gated.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98558C1-5C49-4787-B2AA-D4E98200B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534150"/>
            <a:ext cx="2133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585" b="0" i="0">
                <a:solidFill>
                  <a:srgbClr val="9BB5AC"/>
                </a:solidFill>
                <a:latin typeface="Aptos"/>
                <a:ea typeface="Aptos"/>
                <a:cs typeface="Aptos"/>
              </a:defRPr>
            </a:pPr>
            <a:r>
              <a:rPr sz="585" b="0" i="0">
                <a:solidFill>
                  <a:srgbClr val="9BB5AC"/>
                </a:solidFill>
                <a:latin typeface="Aptos"/>
                <a:ea typeface="Aptos"/>
                <a:cs typeface="Aptos"/>
              </a:rPr>
              <a:t>Yousician Strategic Environment Mapping v3.4</a:t>
            </a:r>
          </a:p>
        </p:txBody>
      </p:sp>
    </p:spTree>
    <p:extLst>
      <p:ext uri="{BB962C8B-B14F-4D97-AF65-F5344CB8AC3E}">
        <p14:creationId xmlns:p14="http://schemas.microsoft.com/office/powerpoint/2010/main" val="410874182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FF8BE28-94D2-42E3-A1B1-B46DB12EC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4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6A2F96-D6FE-435E-B40B-A80579E4F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953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D7C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CF46F7-E4AF-4686-BFCB-EF0713BEB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D7C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C82771-A0B8-4A54-B07B-2B2B752C8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D7C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701CB8-A8D1-46AB-9F0F-3AF495E8F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D7C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C16C0A-2D35-4857-9A91-B0A8BF0D0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D7C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BCE666-BF04-45E9-9B82-63524348D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816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D7C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96CE89-567B-481C-9B68-A2943A5ED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340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D7C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0113FF-D61C-42E0-8BE2-97FC5A83A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864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D7C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99B4D7-ADB9-4CD7-9A71-30A4B192D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388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D7C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37284A-E96D-40E3-A0A6-0E61D2AAE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D7C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B38FDD-5924-4FFE-8106-1BFB515C3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18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3C4017-1577-42DB-9F80-E6F75366F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2425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168E7D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168E7D"/>
                </a:solidFill>
                <a:latin typeface="Aptos"/>
                <a:ea typeface="Aptos"/>
                <a:cs typeface="Aptos"/>
              </a:rPr>
              <a:t>SEND PACKAGE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55BD02-423B-4631-A883-DE1DCF9ED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35242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1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BF67B1-EBAE-42AF-8F1C-ECBAD2306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8763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6154"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rPr>
              <a:t>Use a slide-led executive package, not a dashboard tour.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305821-DF8C-411A-B840-5CB9689CF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7810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The slide deck carries the answer; the report and database carry the audit trail.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FA1416-7322-441B-9E82-123904F47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47900"/>
            <a:ext cx="27813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CFB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765D2A-7301-4BE4-BF5D-EB617AD79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47900"/>
            <a:ext cx="27813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9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30C8FA-7A6A-4BB0-BFED-57EA96AE3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7175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9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E64E8B-DAD1-4FC3-BA90-4EB704071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628900"/>
            <a:ext cx="9144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SEND FIRST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0E2F77-CE52-4FD2-9BD2-AB987D353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28950"/>
            <a:ext cx="2133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75669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rPr>
              <a:t>Executive Summary PPTX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59E10A-5440-4DFD-A864-DE4237A0C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581400"/>
            <a:ext cx="21526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55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855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Primary meeting read. Opens with the brief answers and validation gates.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AE0961-1AE9-464D-8538-A8EE51233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247900"/>
            <a:ext cx="27813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CFB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74712A-EBC3-4CAA-8D31-429E097F0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247900"/>
            <a:ext cx="27813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BD4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E55A1F3-3AD4-4177-999D-6B22D1F52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57175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BD4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2C898D1-5D66-4FD9-AA60-2FBBC9438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628900"/>
            <a:ext cx="9144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USE AS PROOF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8DBD01B-F216-4355-87E1-C1817CC5A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28950"/>
            <a:ext cx="2133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4652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rPr>
              <a:t>Final report + database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8050E67-21CC-4FD6-9C8D-8BEC1932A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581400"/>
            <a:ext cx="21526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55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855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Full market landscape, player rows, claim matrix, sources and appendices.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B5050D2-43B4-473D-9BED-010422A18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247900"/>
            <a:ext cx="27813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CFB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E5555A8-D51A-427E-BD6D-7844642B9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247900"/>
            <a:ext cx="27813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156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58F1B7A-9B39-42D4-814A-7F39C6595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57175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156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A397E24-5DE4-4D9B-A18A-DD7AEEEAB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628900"/>
            <a:ext cx="9144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STILL BLOCKED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FC97C84-B381-4FAE-A84C-D862D608C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028950"/>
            <a:ext cx="2133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74744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rPr>
              <a:t>Appfigures + relationships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7075551-F14A-40F5-B88B-11A4C808E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581400"/>
            <a:ext cx="21526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55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855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Do not claim performance ranking or relationship status until populated.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08C9344-3865-4AA9-BEEE-A5DA3BB51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095875"/>
            <a:ext cx="838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18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ED80582-B9A3-47F6-B938-296251158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314950"/>
            <a:ext cx="106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0D49A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00D49A"/>
                </a:solidFill>
                <a:latin typeface="Aptos"/>
                <a:ea typeface="Aptos"/>
                <a:cs typeface="Aptos"/>
              </a:rPr>
              <a:t>Bottom line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E3D5B54-0AD0-4613-9107-2BCE041EB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257800"/>
            <a:ext cx="5905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The deck is now aesthetically stronger and brief-aligned. It stays honest: the real blockers remain visible.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F7E81E7-86BC-47F1-9D7E-7B961C6C9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B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12857F4-2CC4-4249-8473-C7FDE7D77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838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5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585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Recommended order: PPTX first, PDF second, workbook/database for audit questions.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887DEAA-E718-4BB0-AE4B-DBAF4F737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534150"/>
            <a:ext cx="2133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585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585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Yousician Strategic Environment Mapping v3.4</a:t>
            </a:r>
          </a:p>
        </p:txBody>
      </p:sp>
    </p:spTree>
    <p:extLst>
      <p:ext uri="{BB962C8B-B14F-4D97-AF65-F5344CB8AC3E}">
        <p14:creationId xmlns:p14="http://schemas.microsoft.com/office/powerpoint/2010/main" val="12013494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2026-06-11T16:35:09.8910000Z</dcterms:created>
  <dcterms:modified xsi:type="dcterms:W3CDTF">2026-06-11T16:35:09.8910000Z</dcterms:modified>
</coreProperties>
</file>