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bb3f7fa28e440a" /><Relationship Type="http://schemas.openxmlformats.org/officeDocument/2006/relationships/extended-properties" Target="/docProps/app.xml" Id="R2779e6984cc54ef8" /><Relationship Type="http://schemas.openxmlformats.org/officeDocument/2006/relationships/officeDocument" Target="/ppt/presentation.xml" Id="R11ae53b4a2234d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41658300204b52"/>
  </p:sldMasterIdLst>
  <p:notesMasterIdLst>
    <p:notesMasterId xmlns:r="http://schemas.openxmlformats.org/officeDocument/2006/relationships" r:id="R9a126d4dde454c19"/>
  </p:notesMasterIdLst>
  <p:sldIdLst>
    <p:sldId xmlns:r="http://schemas.openxmlformats.org/officeDocument/2006/relationships" id="256" r:id="R2196f3eb76c84f1e"/>
    <p:sldId xmlns:r="http://schemas.openxmlformats.org/officeDocument/2006/relationships" id="257" r:id="Rfc6ec407eea24daf"/>
    <p:sldId xmlns:r="http://schemas.openxmlformats.org/officeDocument/2006/relationships" id="258" r:id="R01cf44ab53234214"/>
    <p:sldId xmlns:r="http://schemas.openxmlformats.org/officeDocument/2006/relationships" id="259" r:id="R3e35077c18b3484d"/>
    <p:sldId xmlns:r="http://schemas.openxmlformats.org/officeDocument/2006/relationships" id="260" r:id="R7e332a6f6ba940a8"/>
    <p:sldId xmlns:r="http://schemas.openxmlformats.org/officeDocument/2006/relationships" id="261" r:id="Rb846ecb885224472"/>
    <p:sldId xmlns:r="http://schemas.openxmlformats.org/officeDocument/2006/relationships" id="262" r:id="R5d31e8f39f3a418e"/>
    <p:sldId xmlns:r="http://schemas.openxmlformats.org/officeDocument/2006/relationships" id="263" r:id="R7fdd0dceda5c46fa"/>
    <p:sldId xmlns:r="http://schemas.openxmlformats.org/officeDocument/2006/relationships" id="264" r:id="R36151ab5704b4495"/>
    <p:sldId xmlns:r="http://schemas.openxmlformats.org/officeDocument/2006/relationships" id="265" r:id="R7d5b262e84244f63"/>
    <p:sldId xmlns:r="http://schemas.openxmlformats.org/officeDocument/2006/relationships" id="266" r:id="Ra723b1685f1c4bc5"/>
    <p:sldId xmlns:r="http://schemas.openxmlformats.org/officeDocument/2006/relationships" id="267" r:id="R4071f73109e24ff0"/>
    <p:sldId xmlns:r="http://schemas.openxmlformats.org/officeDocument/2006/relationships" id="268" r:id="R37d753d433cc4173"/>
    <p:sldId xmlns:r="http://schemas.openxmlformats.org/officeDocument/2006/relationships" id="269" r:id="Rc20fba4fe6e54230"/>
    <p:sldId xmlns:r="http://schemas.openxmlformats.org/officeDocument/2006/relationships" id="270" r:id="R48fe9877cd24467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cbac1cc787401a" /><Relationship Type="http://schemas.openxmlformats.org/officeDocument/2006/relationships/slideMaster" Target="/ppt/slideMasters/slideMaster1.xml" Id="R8541658300204b52" /><Relationship Type="http://schemas.openxmlformats.org/officeDocument/2006/relationships/notesMaster" Target="/ppt/notesMasters/notesMaster1.xml" Id="R9a126d4dde454c19" /><Relationship Type="http://schemas.openxmlformats.org/officeDocument/2006/relationships/presProps" Target="/ppt/presProps.xml" Id="Re9182f318a714f43" /><Relationship Type="http://schemas.openxmlformats.org/officeDocument/2006/relationships/viewProps" Target="/ppt/viewProps.xml" Id="R87b7f9cf28044bf4" /><Relationship Type="http://schemas.openxmlformats.org/officeDocument/2006/relationships/tableStyles" Target="/ppt/tableStyles.xml" Id="R8f932198246743e7" /><Relationship Type="http://schemas.openxmlformats.org/officeDocument/2006/relationships/slide" Target="/ppt/slides/slide1.xml" Id="R2196f3eb76c84f1e" /><Relationship Type="http://schemas.openxmlformats.org/officeDocument/2006/relationships/slide" Target="/ppt/slides/slide2.xml" Id="Rfc6ec407eea24daf" /><Relationship Type="http://schemas.openxmlformats.org/officeDocument/2006/relationships/slide" Target="/ppt/slides/slide3.xml" Id="R01cf44ab53234214" /><Relationship Type="http://schemas.openxmlformats.org/officeDocument/2006/relationships/slide" Target="/ppt/slides/slide4.xml" Id="R3e35077c18b3484d" /><Relationship Type="http://schemas.openxmlformats.org/officeDocument/2006/relationships/slide" Target="/ppt/slides/slide5.xml" Id="R7e332a6f6ba940a8" /><Relationship Type="http://schemas.openxmlformats.org/officeDocument/2006/relationships/slide" Target="/ppt/slides/slide6.xml" Id="Rb846ecb885224472" /><Relationship Type="http://schemas.openxmlformats.org/officeDocument/2006/relationships/slide" Target="/ppt/slides/slide7.xml" Id="R5d31e8f39f3a418e" /><Relationship Type="http://schemas.openxmlformats.org/officeDocument/2006/relationships/slide" Target="/ppt/slides/slide8.xml" Id="R7fdd0dceda5c46fa" /><Relationship Type="http://schemas.openxmlformats.org/officeDocument/2006/relationships/slide" Target="/ppt/slides/slide9.xml" Id="R36151ab5704b4495" /><Relationship Type="http://schemas.openxmlformats.org/officeDocument/2006/relationships/slide" Target="/ppt/slides/slide10.xml" Id="R7d5b262e84244f63" /><Relationship Type="http://schemas.openxmlformats.org/officeDocument/2006/relationships/slide" Target="/ppt/slides/slide11.xml" Id="Ra723b1685f1c4bc5" /><Relationship Type="http://schemas.openxmlformats.org/officeDocument/2006/relationships/slide" Target="/ppt/slides/slide12.xml" Id="R4071f73109e24ff0" /><Relationship Type="http://schemas.openxmlformats.org/officeDocument/2006/relationships/slide" Target="/ppt/slides/slide13.xml" Id="R37d753d433cc4173" /><Relationship Type="http://schemas.openxmlformats.org/officeDocument/2006/relationships/slide" Target="/ppt/slides/slide14.xml" Id="Rc20fba4fe6e54230" /><Relationship Type="http://schemas.openxmlformats.org/officeDocument/2006/relationships/slide" Target="/ppt/slides/slide15.xml" Id="R48fe9877cd2446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ca6a191c7d4c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cbc65c10db4077" /><Relationship Type="http://schemas.openxmlformats.org/officeDocument/2006/relationships/notesMaster" Target="/ppt/notesMasters/notesMaster1.xml" Id="Ra79566ca573a44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8748eb474b4582" /><Relationship Type="http://schemas.openxmlformats.org/officeDocument/2006/relationships/notesMaster" Target="/ppt/notesMasters/notesMaster1.xml" Id="R3a7f145c58b64b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09ea78482a4d45" /><Relationship Type="http://schemas.openxmlformats.org/officeDocument/2006/relationships/notesMaster" Target="/ppt/notesMasters/notesMaster1.xml" Id="R89ef817574534c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f51ed0adce4062" /><Relationship Type="http://schemas.openxmlformats.org/officeDocument/2006/relationships/notesMaster" Target="/ppt/notesMasters/notesMaster1.xml" Id="R2b74ad49e99648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4d54dd97b14a93" /><Relationship Type="http://schemas.openxmlformats.org/officeDocument/2006/relationships/notesMaster" Target="/ppt/notesMasters/notesMaster1.xml" Id="Rd0ecc886c23f44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d66909f50441f1" /><Relationship Type="http://schemas.openxmlformats.org/officeDocument/2006/relationships/notesMaster" Target="/ppt/notesMasters/notesMaster1.xml" Id="R99fe0e21b5414b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0c13a1765a4a13" /><Relationship Type="http://schemas.openxmlformats.org/officeDocument/2006/relationships/notesMaster" Target="/ppt/notesMasters/notesMaster1.xml" Id="R8f5e79e7f8e04e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15b8b9c12b4de7" /><Relationship Type="http://schemas.openxmlformats.org/officeDocument/2006/relationships/notesMaster" Target="/ppt/notesMasters/notesMaster1.xml" Id="R581d671165944f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5618a958214edf" /><Relationship Type="http://schemas.openxmlformats.org/officeDocument/2006/relationships/notesMaster" Target="/ppt/notesMasters/notesMaster1.xml" Id="Ra4fe8dfdbacb49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c31a210ae04594" /><Relationship Type="http://schemas.openxmlformats.org/officeDocument/2006/relationships/notesMaster" Target="/ppt/notesMasters/notesMaster1.xml" Id="R44655ca996c340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8ab55a080149ea" /><Relationship Type="http://schemas.openxmlformats.org/officeDocument/2006/relationships/notesMaster" Target="/ppt/notesMasters/notesMaster1.xml" Id="R8389bca9f14648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dac93214ff407e" /><Relationship Type="http://schemas.openxmlformats.org/officeDocument/2006/relationships/notesMaster" Target="/ppt/notesMasters/notesMaster1.xml" Id="R82b718f8ad0e45f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17d63192bee4af2" /><Relationship Type="http://schemas.openxmlformats.org/officeDocument/2006/relationships/notesMaster" Target="/ppt/notesMasters/notesMaster1.xml" Id="R6651fad922a643e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c8ace6c15b44dd" /><Relationship Type="http://schemas.openxmlformats.org/officeDocument/2006/relationships/notesMaster" Target="/ppt/notesMasters/notesMaster1.xml" Id="R0299bbc993234c2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0510cbc693247ce" /><Relationship Type="http://schemas.openxmlformats.org/officeDocument/2006/relationships/notesMaster" Target="/ppt/notesMasters/notesMaster1.xml" Id="R90e5a01a19f548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b2823bbff64c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a879f91e564b8d" /><Relationship Type="http://schemas.openxmlformats.org/officeDocument/2006/relationships/slideLayout" Target="/ppt/slideLayouts/slideLayout1.xml" Id="Re5d24ddf79794d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d24ddf79794d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7706615784703" /><Relationship Type="http://schemas.openxmlformats.org/officeDocument/2006/relationships/notesSlide" Target="/ppt/notesSlides/notesSlide1.xml" Id="R1bf1153b05794e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1ccd3fe6b4693" /><Relationship Type="http://schemas.openxmlformats.org/officeDocument/2006/relationships/notesSlide" Target="/ppt/notesSlides/notesSlide2.xml" Id="R1184fdf953e749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34656a8574587" /><Relationship Type="http://schemas.openxmlformats.org/officeDocument/2006/relationships/notesSlide" Target="/ppt/notesSlides/notesSlide3.xml" Id="R288c1935716342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8546d84354e4b" /><Relationship Type="http://schemas.openxmlformats.org/officeDocument/2006/relationships/notesSlide" Target="/ppt/notesSlides/notesSlide4.xml" Id="R1c313930b05946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8e5b047ef4dce" /><Relationship Type="http://schemas.openxmlformats.org/officeDocument/2006/relationships/notesSlide" Target="/ppt/notesSlides/notesSlide5.xml" Id="Rbd85f5b759454a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d2c79fccb4a90" /><Relationship Type="http://schemas.openxmlformats.org/officeDocument/2006/relationships/notesSlide" Target="/ppt/notesSlides/notesSlide6.xml" Id="Rf7d433c83cb34c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2301d2f564c49" /><Relationship Type="http://schemas.openxmlformats.org/officeDocument/2006/relationships/notesSlide" Target="/ppt/notesSlides/notesSlide7.xml" Id="R03702c90274442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ece7690504a67" /><Relationship Type="http://schemas.openxmlformats.org/officeDocument/2006/relationships/notesSlide" Target="/ppt/notesSlides/notesSlide8.xml" Id="Rb982e3e1ecb845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7e6a08f944766" /><Relationship Type="http://schemas.openxmlformats.org/officeDocument/2006/relationships/notesSlide" Target="/ppt/notesSlides/notesSlide9.xml" Id="R00596d197ae348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7638db145443f" /><Relationship Type="http://schemas.openxmlformats.org/officeDocument/2006/relationships/notesSlide" Target="/ppt/notesSlides/notesSlide10.xml" Id="Rf7e94f904adf4b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6ac31ff55437a" /><Relationship Type="http://schemas.openxmlformats.org/officeDocument/2006/relationships/notesSlide" Target="/ppt/notesSlides/notesSlide11.xml" Id="Rd94d9234001541e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42d922fcf4dcd" /><Relationship Type="http://schemas.openxmlformats.org/officeDocument/2006/relationships/notesSlide" Target="/ppt/notesSlides/notesSlide12.xml" Id="R89f3f56f2e9e48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c6c83c9254723" /><Relationship Type="http://schemas.openxmlformats.org/officeDocument/2006/relationships/notesSlide" Target="/ppt/notesSlides/notesSlide13.xml" Id="R09e9c577c178455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84aa451ea48c0" /><Relationship Type="http://schemas.openxmlformats.org/officeDocument/2006/relationships/notesSlide" Target="/ppt/notesSlides/notesSlide14.xml" Id="Ra2dbcd6eff45423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ea14860fe4aa4" /><Relationship Type="http://schemas.openxmlformats.org/officeDocument/2006/relationships/notesSlide" Target="/ppt/notesSlides/notesSlide15.xml" Id="R1966fce875c746a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C9D1ED-1048-4069-B694-157F95BE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EF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9DE7C-6CCE-493E-BC23-A68EABA6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E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3C56EE-E9F1-4D68-A03B-D7C09A79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4BD1D-6654-426E-9516-EBC8FA62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80A8E-7543-4759-B58C-AFAC9DC0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05525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FA1BA-B3BD-42B2-AC83-4C9266D2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EB308-7B2A-4925-8214-BB457759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00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8F2A4-C53E-49E1-A76A-B788829B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08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A3BB42-91CD-4D6C-9F6F-7D0421C0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A5912-6E39-4AC4-B806-0C7A985E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9575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540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540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E8D2BF-94A3-446B-A1FB-F7AC3BD2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1" i="0">
                <a:solidFill>
                  <a:srgbClr val="11A392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11A392"/>
                </a:solidFill>
                <a:latin typeface="Aptos"/>
                <a:ea typeface="Aptos"/>
                <a:cs typeface="Aptos"/>
              </a:rPr>
              <a:t>EXECUTIVE SUMMARY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256F5-D535-4758-9BEB-5B24E5CC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8100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30" b="1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31681F-23CC-4EE5-8934-C0EA535E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85800"/>
            <a:ext cx="38290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C5E0D8-B8A6-4BF1-8165-17B735A9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19200"/>
            <a:ext cx="2647950" cy="2647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2F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7D7C11-B686-487D-9CED-272AF067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3830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493F"/>
          </a:solidFill>
          <a:ln xmlns:a="http://schemas.openxmlformats.org/drawingml/2006/main" w="9525">
            <a:solidFill>
              <a:srgbClr val="4A76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719E27-6051-4D46-9E16-EC8BA37D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955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B040F2-D7D5-4CE5-BD6A-47D928A6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3241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1398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AA8DD8-0C5C-4CA0-8D75-D154F716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123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E734AD-B84A-4164-A6AC-F770B3A2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409700"/>
            <a:ext cx="742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7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2BE9EE-2809-4B73-9AA3-337CEF3C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5527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DF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52DF3C-5E3D-47D4-86E1-AFA97E34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838450"/>
            <a:ext cx="742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7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Songs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0B6A89-8E55-454B-A463-8599D635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14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67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78A316-6770-4B32-949A-3AD32193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00550"/>
            <a:ext cx="742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7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Creators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D7BDDF-7D6E-492E-B4A6-772483EA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527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F9BEE7-F030-4BA3-BAF7-EB2FDD43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38500"/>
            <a:ext cx="742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7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Rights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885245-4639-4E17-85FE-610A26E1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F6D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D1D17E-A79E-4185-A764-CB0908D1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191000"/>
            <a:ext cx="742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7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Hardware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732DAD-1574-4903-BAE4-8B17D981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86300"/>
            <a:ext cx="2438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733B19-BC88-4C16-A549-288E725D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530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082AE2-CC1D-4788-ACD3-41F863B4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19700"/>
            <a:ext cx="2819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70E05F-0AEB-432D-B0CD-D0A4D0B3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6F61E3-3CF3-4015-B757-4FDF7116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615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EXECUTIVE READOUT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A50872-9AF6-45CC-ADEB-98AA6354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Strategic Environment Mapping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924A9B-A989-42F7-A728-225121B5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561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A brief-led read of the ecosystem around Yousician: who shapes music learning, music as a hobby and the strategic environment around the company.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A7CE44-67D9-46E3-A1E9-AB03D65A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137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D49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0D49A"/>
                </a:solidFill>
                <a:latin typeface="Aptos Display"/>
                <a:ea typeface="Aptos Display"/>
                <a:cs typeface="Aptos Display"/>
              </a:rPr>
              <a:t>Not a competitor list.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749568-7416-4D9F-B6FE-C83A73DE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521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A map of stakeholder groups, influence and relevance.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B50B58-56AB-430A-AC04-D44AC58D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9200"/>
            <a:ext cx="1123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AC63ED-8170-4A94-BE85-711010DC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96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DFA553-DDD6-4391-B043-37C02953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864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tracked records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A041CE-FA9A-4194-B69B-2471F954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29200"/>
            <a:ext cx="1123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404968-001C-4D20-8FA8-35A46D96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143500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5E06A0-A4AA-429B-B316-ABEF9670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4864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one-pager profiles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CCD522-5AD6-4E49-A0FC-FAAFFF75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029200"/>
            <a:ext cx="1123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DA7640-F7BB-4CEF-BC5B-91A994E8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43500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4C8DF6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4C8DF6"/>
                </a:solidFill>
                <a:latin typeface="Aptos"/>
                <a:ea typeface="Aptos"/>
                <a:cs typeface="Aptos"/>
              </a:rPr>
              <a:t>49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FA6A24-03BD-400D-8706-1778B854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864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news-grade moves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3E9F11-FCD4-4D45-9007-8D363DCE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29200"/>
            <a:ext cx="1123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960A09-F7BD-4C18-AB66-6655A14F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143500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BF3F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FFBF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21A385-4973-4E4E-9C1C-F7D9EB3C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4864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brief categories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F2F8931-9768-4805-88B0-E659D59C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29200"/>
            <a:ext cx="1123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B8DC4C1-0023-417F-B564-1C58D450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43500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7467FF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7467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CA95C6-C439-48C3-A9F2-101C153D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4864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guiding questions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BBAA528-AFCC-4DF6-B79E-26E62E0A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8" b="0" i="0">
                <a:solidFill>
                  <a:srgbClr val="74837C"/>
                </a:solidFill>
                <a:latin typeface="Aptos"/>
                <a:ea typeface="Aptos"/>
                <a:cs typeface="Aptos"/>
              </a:defRPr>
            </a:pPr>
            <a:r>
              <a:rPr sz="548" b="0" i="0">
                <a:solidFill>
                  <a:srgbClr val="74837C"/>
                </a:solidFill>
                <a:latin typeface="Aptos"/>
                <a:ea typeface="Aptos"/>
                <a:cs typeface="Aptos"/>
              </a:rPr>
              <a:t>Prepared 2026-06-13. Appfigures performance and internal relationship fields are marked as open inputs, not treated as missing market narrative.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BE06500-8C41-4496-9125-938DAC3E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48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548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Yousician Strategic Environment Mapping</a:t>
            </a:r>
          </a:p>
        </p:txBody>
      </p:sp>
    </p:spTree>
    <p:extLst>
      <p:ext uri="{BB962C8B-B14F-4D97-AF65-F5344CB8AC3E}">
        <p14:creationId xmlns:p14="http://schemas.microsoft.com/office/powerpoint/2010/main" val="1080088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4E630E-690A-4280-9AB6-A104F190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EF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92AF8-FE17-4443-96CC-B7E32499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E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C7F25-B662-42B3-BF53-E73BAE83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75FA3-6A00-4C32-ABB7-DA45E53B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EF074-D248-48D7-A8A1-E85F6AF5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05525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A46E4-4574-4057-8FDA-D985EAE6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52B92B-9A39-4A15-A74A-4B4F917C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00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94846-16C5-4631-B5D9-E574BB1C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08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0AB8C-F78B-4D99-97AC-745E230F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57349-5BA7-4EEE-8917-1F2FD7A6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9575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540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540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702D96-2482-43C0-B258-E865A357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1" i="0">
                <a:solidFill>
                  <a:srgbClr val="11A392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11A392"/>
                </a:solidFill>
                <a:latin typeface="Aptos"/>
                <a:ea typeface="Aptos"/>
                <a:cs typeface="Aptos"/>
              </a:rPr>
              <a:t>GUIDING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9CAEEB-4855-42CD-8988-3C4144CB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8100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30" b="1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8B66D-F8B6-44A9-B2EE-F2E5A4CC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91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The three guiding questions are answered directly.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CC8CFC-6253-4A11-9C4D-FA69FA70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The rest of the deck shows the evidence: category coverage, ecosystem map, priority actors, direct learning apps and the 24-month market layer.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84479B-1345-4004-B70B-639E04C0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29908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34CF76-0D5A-47FF-913E-6135F3B4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2990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E79672-04D6-41D1-9842-5E5B7D6C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552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805215-D0EF-4583-855D-BCE9E27C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20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Future of music learning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D0909F-4D13-4457-88E8-DDD8BE46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872"/>
          </a:bodyPr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Learning apps, song/practice systems, AI practice utilities, teachers, creators, education standards and hardware funnels all shape the next learning field.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DFF6A1-67F7-47FA-9BE7-8C02FDF0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86000"/>
            <a:ext cx="29908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AA3F6D-3D0A-462B-BCE3-91B980B0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86000"/>
            <a:ext cx="2990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746586-73EB-441D-ADC8-9B574593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28900"/>
            <a:ext cx="552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FBF3F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FFBF3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41A3D0-04A7-48D5-8DBB-56A90BC1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81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0998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Future of music as a hobby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1D8029-6B84-466C-B04C-287B2A31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481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Discovery platforms, song libraries, artists, creator tools, instruments and AI creation tools shape demand before and after formal lessons.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00880B-8489-4C16-8FD0-A15B8C6E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29908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678742-6899-4508-A94B-8ACF3D99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2990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8BFF45-E15A-463E-AD04-8CEB475C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28900"/>
            <a:ext cx="552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4C8DF6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4C8DF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CD9BFF-F6D9-4307-9B07-821C3631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9545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Strategic environment around Yousician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21BAB3-8E71-4F89-8585-DDAF1B8D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481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950"/>
          </a:bodyPr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AI companies, rights owners, app competitors, hardware brands, creators, publishers, investors, awards and funding bodies set the broader context.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3D5D21-25D9-49EC-805B-9724427D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314950"/>
            <a:ext cx="802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2BAF3E-3C8C-4C72-86D5-0F561EE2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3149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8978FA-3ACA-4635-9B33-01CCBABA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4673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Ranking note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FD0A0C-B8EE-4858-AA76-20027FF5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419725"/>
            <a:ext cx="6076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Current actor ranking is ecosystem-influence-based. App-performance ranking remains pending until credentialed Appfigures data is imported.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39EB6E-8FF9-40DE-B9AE-49FBE3D7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8" b="0" i="0">
                <a:solidFill>
                  <a:srgbClr val="74837C"/>
                </a:solidFill>
                <a:latin typeface="Aptos"/>
                <a:ea typeface="Aptos"/>
                <a:cs typeface="Aptos"/>
              </a:defRPr>
            </a:pPr>
            <a:r>
              <a:rPr sz="548" b="0" i="0">
                <a:solidFill>
                  <a:srgbClr val="74837C"/>
                </a:solidFill>
                <a:latin typeface="Aptos"/>
                <a:ea typeface="Aptos"/>
                <a:cs typeface="Aptos"/>
              </a:rPr>
              <a:t>Source: original brief, executive synthesis and category coverage.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E3E79C-ACD8-42DF-A9C5-EBAE3FA4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48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548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Yousician Strategic Environment Mapping</a:t>
            </a:r>
          </a:p>
        </p:txBody>
      </p:sp>
    </p:spTree>
    <p:extLst>
      <p:ext uri="{BB962C8B-B14F-4D97-AF65-F5344CB8AC3E}">
        <p14:creationId xmlns:p14="http://schemas.microsoft.com/office/powerpoint/2010/main" val="17065658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8CAF7C-8A1F-4C1F-A332-A5A2AF64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EF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A398B-0DD9-4728-B4B3-9CF8CCA3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E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F7B6D-B804-4063-B8DD-3B5619ED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99A70-C791-4079-9F16-C32EB7C9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149F9-D20B-4B75-AE93-A2BB482E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05525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098F3-DBAC-49B6-983A-41369337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5A5131-A798-4F11-9950-93029837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00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83B22-81DC-424E-9D0C-FFCB4AF7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08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BDEB8-ECB3-42E9-9DF0-DA188287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3927C-3CCD-436C-B536-F9709C5F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9575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540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540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B8F08-BD90-4D6E-9CBA-EDAAF7EB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1" i="0">
                <a:solidFill>
                  <a:srgbClr val="11A392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11A392"/>
                </a:solidFill>
                <a:latin typeface="Aptos"/>
                <a:ea typeface="Aptos"/>
                <a:cs typeface="Aptos"/>
              </a:rPr>
              <a:t>INTERNAL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47A1A-A66D-4F16-B6AE-F9B14E10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8100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30" b="1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A9D7BC-7A4C-4710-99C8-C91AFCF7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099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Yousician's own user context sharpens which market signals matter.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A35749-AF6D-4CE3-AFA5-EDB31126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923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Static User Insights grounding points to beginner guidance, song intent, confidence and self-guided practice as key filters for the ecosystem.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4363DC-1FE2-4571-BD6C-E2519A2B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25146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BC6759-3D1F-49B9-B751-47729E54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Static</a:t>
            </a:r>
          </a:p>
          <a:p xmlns:a="http://schemas.openxmlformats.org/drawingml/2006/main">
            <a:pPr algn="ctr">
              <a:defRPr sz="22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research</a:t>
            </a:r>
          </a:p>
          <a:p xmlns:a="http://schemas.openxmlformats.org/drawingml/2006/main">
            <a:pPr algn="ctr">
              <a:defRPr sz="22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grounding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F54EA-5746-49E8-A67E-E14043F1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167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8735CA-D9E2-4B85-9EA7-5DDE6279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0"/>
            <a:ext cx="13144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Last reviewed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E47CCB-19E3-4690-8030-E270CF73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1562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D6E4DE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D6E4DE"/>
                </a:solidFill>
                <a:latin typeface="Aptos"/>
                <a:ea typeface="Aptos"/>
                <a:cs typeface="Aptos"/>
              </a:rPr>
              <a:t>2026-06-04</a:t>
            </a:r>
          </a:p>
          <a:p xmlns:a="http://schemas.openxmlformats.org/drawingml/2006/main">
            <a:pPr algn="ctr">
              <a:defRPr sz="825" b="0" i="0">
                <a:solidFill>
                  <a:srgbClr val="D6E4DE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D6E4DE"/>
                </a:solidFill>
                <a:latin typeface="Aptos"/>
                <a:ea typeface="Aptos"/>
                <a:cs typeface="Aptos"/>
              </a:rPr>
              <a:t>User Insights grounding</a:t>
            </a:r>
          </a:p>
          <a:p xmlns:a="http://schemas.openxmlformats.org/drawingml/2006/main">
            <a:pPr algn="ctr">
              <a:defRPr sz="825" b="0" i="0">
                <a:solidFill>
                  <a:srgbClr val="D6E4DE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D6E4DE"/>
                </a:solidFill>
                <a:latin typeface="Aptos"/>
                <a:ea typeface="Aptos"/>
                <a:cs typeface="Aptos"/>
              </a:rPr>
              <a:t>Static context snapshot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E128F5-0D33-47DA-A9B7-2B37C368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33600"/>
            <a:ext cx="3162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13052A-E680-4C02-A696-396D6FAC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336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B7C2E5-9806-4961-A736-771DBEDF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247900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502"/>
          </a:bodyPr>
          <a:lstStyle xmlns:a="http://schemas.openxmlformats.org/drawingml/2006/main"/>
          <a:p xmlns:a="http://schemas.openxmlformats.org/drawingml/2006/main">
            <a:pPr algn="l">
              <a:defRPr sz="100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00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Yousician users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B56A54-3B51-42F9-9B72-4367B6B9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57450"/>
            <a:ext cx="1352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Early guitar journey, guided path, timely feedback and favourite songs.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B4755D-D8DB-43BC-9FC3-846647D9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125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607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Read learning apps through beginner guidance and motivation.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93CB0C-CB75-4C21-920B-97F1BB30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33600"/>
            <a:ext cx="3162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476037-3DB7-48DA-B634-8C989727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336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A313A8-0459-4FB0-85D0-4AF078C7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47900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502"/>
          </a:bodyPr>
          <a:lstStyle xmlns:a="http://schemas.openxmlformats.org/drawingml/2006/main"/>
          <a:p xmlns:a="http://schemas.openxmlformats.org/drawingml/2006/main">
            <a:pPr algn="l">
              <a:defRPr sz="100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00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GuitarTuna users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F7ECE1-D024-44B1-9E37-3905503F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57450"/>
            <a:ext cx="1352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Self-guided players want songs, chords, tools and optional feedback.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628720-3323-4153-A1D1-D6B5D434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607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Include song, tab, utility and self-guided practice surfaces.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13BC90-D219-4611-87FB-F2CB799C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00400"/>
            <a:ext cx="3162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E16F2C-6342-4056-B18E-FD79C9D6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004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33FA53-0F17-43D8-9259-9D553ED1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14700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502"/>
          </a:bodyPr>
          <a:lstStyle xmlns:a="http://schemas.openxmlformats.org/drawingml/2006/main"/>
          <a:p xmlns:a="http://schemas.openxmlformats.org/drawingml/2006/main">
            <a:pPr algn="l">
              <a:defRPr sz="100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00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Song-led jobs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FC5641-8553-4D97-853B-ED950493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524250"/>
            <a:ext cx="1352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Chords, transitions, song sections, strumming and playing from memory matter most.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7439EE-B2FC-4027-ACF1-CC284427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4805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607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Repertoire and AI song-practice tools are core habit surfaces.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51AE05-E387-4720-9DB0-624FF35D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00400"/>
            <a:ext cx="3162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3A3FB6-800A-4DAC-B48D-59E13E0F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004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67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042B24-EE2C-4943-A997-95E746B8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14700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502"/>
          </a:bodyPr>
          <a:lstStyle xmlns:a="http://schemas.openxmlformats.org/drawingml/2006/main"/>
          <a:p xmlns:a="http://schemas.openxmlformats.org/drawingml/2006/main">
            <a:pPr algn="l">
              <a:defRPr sz="100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00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Start / restart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11646A-7110-4FF9-8E5F-6653A9BA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24250"/>
            <a:ext cx="1352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Love of music, feel-good free time, guitar dreams and instrument access trigger entry.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A34FA8-0AED-4BB2-BC03-95F414A6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4805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607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Hardware, creators and emotional UX matter before app choice.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D8F6CF-94E2-4C13-AEA6-954C837F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67200"/>
            <a:ext cx="3162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33F51F-D6C4-4802-8C06-8E58597C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672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BE5787-E1E9-495E-B7B9-81AC82AD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381500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502"/>
          </a:bodyPr>
          <a:lstStyle xmlns:a="http://schemas.openxmlformats.org/drawingml/2006/main"/>
          <a:p xmlns:a="http://schemas.openxmlformats.org/drawingml/2006/main">
            <a:pPr algn="l">
              <a:defRPr sz="100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00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Market awareness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9180F7-09C1-4F07-9080-D95615E8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591050"/>
            <a:ext cx="1352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Category awareness is low and there is no clear brand leader beyond YouTube as default free source.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CB1AB6-6FCF-444E-9504-2027B09C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1485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607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The opportunity is broader than beating app competitors.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2593ED-91B5-48C9-BA01-DB8BA668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267200"/>
            <a:ext cx="3162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DAD9A7-3D59-441B-8171-F0602326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2672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9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2FBBA6-977D-4B96-B599-07EA5994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381500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502"/>
          </a:bodyPr>
          <a:lstStyle xmlns:a="http://schemas.openxmlformats.org/drawingml/2006/main"/>
          <a:p xmlns:a="http://schemas.openxmlformats.org/drawingml/2006/main">
            <a:pPr algn="l">
              <a:defRPr sz="100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00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Competitor read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0DE686-EF64-40FB-A25E-D7B0A3DD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591050"/>
            <a:ext cx="1352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Simply: emotional UX and songs. Ultimate Guitar: huge tabs but clutter. YouTube: free but uncurated.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4526FF2-A161-497D-99B5-0AC58D16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1485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607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Success blends onboarding, repertoire, guidance and reduced research burden.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7F2456D-D932-40C6-A069-23821C0B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543550"/>
            <a:ext cx="670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D94E23F-80F9-458A-986E-89D37119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54355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9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BDF17E5-3E71-4FE2-9F38-1332953C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68642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Strategic implication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D06E92A-7138-4383-8CD9-D86D12AA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48325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Evaluate competitors and ecosystem partners by how much they shape confidence, repertoire access, practice habit, instrument entry and creator trust.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EF665A4-ACE2-4EB9-9973-ED7B106D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8" b="0" i="0">
                <a:solidFill>
                  <a:srgbClr val="74837C"/>
                </a:solidFill>
                <a:latin typeface="Aptos"/>
                <a:ea typeface="Aptos"/>
                <a:cs typeface="Aptos"/>
              </a:defRPr>
            </a:pPr>
            <a:r>
              <a:rPr sz="548" b="0" i="0">
                <a:solidFill>
                  <a:srgbClr val="74837C"/>
                </a:solidFill>
                <a:latin typeface="Aptos"/>
                <a:ea typeface="Aptos"/>
                <a:cs typeface="Aptos"/>
              </a:rPr>
              <a:t>Source: static Yousician users and market context by User Insights; live Confluence database not queried in this pass.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0AFE65-73FF-4875-9427-E9D58555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48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548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Yousician Strategic Environment Mapping</a:t>
            </a:r>
          </a:p>
        </p:txBody>
      </p:sp>
    </p:spTree>
    <p:extLst>
      <p:ext uri="{BB962C8B-B14F-4D97-AF65-F5344CB8AC3E}">
        <p14:creationId xmlns:p14="http://schemas.microsoft.com/office/powerpoint/2010/main" val="16374822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E0CDC7-26A2-42C2-A1C4-BEE9EAB3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F907D-F445-41C4-8F48-1377B560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B3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17AF59-BDC3-42A0-BE2E-3AF3DA19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3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BCF01-D7B2-4C91-9B0B-A237E72A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3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E729A-4F9D-4EBA-A8D5-E6D28B51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05525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3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0602E-757E-4D10-986B-5E73E57C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3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42A4C0-630C-4E57-BE7A-2ED1B108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AF7B8-6971-40F0-ABD3-6F505E40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9575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540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540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C662B-CAA8-4584-950C-5CF39668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ECOSYSTEM 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B3544-CE1E-4AF9-AC3A-4809CA96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8100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30" b="1" i="0">
                <a:solidFill>
                  <a:srgbClr val="B8CCC5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B8CCC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D30BE5-5C34-45CE-8B6A-2DF3162D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Yousician sits inside a wider hobby ecosystem, not a narrow app category.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DA110A-FFBA-48E7-8B84-8619983C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ED1C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ED1CA"/>
                </a:solidFill>
                <a:latin typeface="Aptos"/>
                <a:ea typeface="Aptos"/>
                <a:cs typeface="Aptos"/>
              </a:rPr>
              <a:t>The map separates close product surfaces from broader influence, infrastructure and cultural demand.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80E978-EF31-4DCD-9F2B-F79929AE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971675"/>
            <a:ext cx="4057650" cy="405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A25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F9A287-D1E2-435F-A8B2-17854862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486025"/>
            <a:ext cx="3028950" cy="3028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A25"/>
          </a:solidFill>
          <a:ln xmlns:a="http://schemas.openxmlformats.org/drawingml/2006/main" w="9525">
            <a:solidFill>
              <a:srgbClr val="284B4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394CA2-FEAF-42B0-8C3C-2D30479B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00375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2F"/>
          </a:solidFill>
          <a:ln xmlns:a="http://schemas.openxmlformats.org/drawingml/2006/main" w="9525">
            <a:solidFill>
              <a:srgbClr val="284B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F96883-8311-4038-9FF7-A8B3D185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671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EF8"/>
          </a:solidFill>
          <a:ln xmlns:a="http://schemas.openxmlformats.org/drawingml/2006/main" w="9525">
            <a:solidFill>
              <a:srgbClr val="284B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1ED7B7-251E-4CB0-B9E0-009293EB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81400"/>
            <a:ext cx="1104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Yousician</a:t>
            </a:r>
          </a:p>
          <a:p xmlns:a="http://schemas.openxmlformats.org/drawingml/2006/main">
            <a:pPr algn="ctr">
              <a:defRPr sz="1275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practice</a:t>
            </a:r>
          </a:p>
          <a:p xmlns:a="http://schemas.openxmlformats.org/drawingml/2006/main">
            <a:pPr algn="ctr">
              <a:defRPr sz="1275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0F0DEA-8AC6-489E-B413-A568BD83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714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D2952A-B4A6-4F83-93FF-99EC2F3B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9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Learning apps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B43E3A-9C37-4553-A784-FDFCCEDD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05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AAFB45-B6F5-4C41-BA99-E5EDCC05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861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9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Song systems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557F63-BE1B-4887-B104-3822B6DA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724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DF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CE0B3A-7479-4779-BA0B-01666BD0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1054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9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Hardware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C5047C-BC22-429B-958E-EEE1500E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9245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67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FCC7E0-6F52-4E9D-8ABB-A9189614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63055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9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Creators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89F525-A87A-48ED-9B07-9B781CB0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24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9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E35CA1-70FC-4790-BD6B-EB5562CC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054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9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Education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9DE874-9B07-4C81-8ECE-B11613B0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4AA32D-0447-4246-ABFF-2D2B03D4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051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9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AI utilities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074666-20FB-4915-B79C-E4C7E5A6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33650"/>
            <a:ext cx="314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66F196-A7AB-45C8-8CD9-E2A4AF15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33650"/>
            <a:ext cx="76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1BEF9F-455D-46A8-8694-09796A47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051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Near field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E56906-EDAA-4DD4-98A6-BF1B6CBE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33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73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Direct learning apps, repertoire, hardware-backed beginner funnels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889A4F-3078-4991-B600-A22AC137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43300"/>
            <a:ext cx="314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AD9456-3B67-4F50-9AC7-4BDFE971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43300"/>
            <a:ext cx="76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D6E341-617E-44B4-97BB-F2A65556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147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BF3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BF3F"/>
                </a:solidFill>
                <a:latin typeface="Aptos"/>
                <a:ea typeface="Aptos"/>
                <a:cs typeface="Aptos"/>
              </a:rPr>
              <a:t>Influence field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463F25-DEC2-465B-93EB-9C1F2482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43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73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Creators, teachers, education bodies, media and cultural demand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441A85-2C6F-4198-8B41-131A24E1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52950"/>
            <a:ext cx="314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B8AD6B-578F-4DD0-A42F-A94848E4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52950"/>
            <a:ext cx="76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67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035A67-03EF-4339-B724-674DCF7A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244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846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467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467FF"/>
                </a:solidFill>
                <a:latin typeface="Aptos"/>
                <a:ea typeface="Aptos"/>
                <a:cs typeface="Aptos"/>
              </a:rPr>
              <a:t>Infrastructure field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AEEAD0-A672-4401-85B2-7164B91E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530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73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Rights owners, AI policy, investors, awards and public funding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B2361C-63BB-43C1-B33C-115DDBA2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8" b="0" i="0">
                <a:solidFill>
                  <a:srgbClr val="819A93"/>
                </a:solidFill>
                <a:latin typeface="Aptos"/>
                <a:ea typeface="Aptos"/>
                <a:cs typeface="Aptos"/>
              </a:defRPr>
            </a:pPr>
            <a:r>
              <a:rPr sz="548" b="0" i="0">
                <a:solidFill>
                  <a:srgbClr val="819A93"/>
                </a:solidFill>
                <a:latin typeface="Aptos"/>
                <a:ea typeface="Aptos"/>
                <a:cs typeface="Aptos"/>
              </a:rPr>
              <a:t>Source: ecosystem map table. Placement is a synthesis of proximity, influence and momentum.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35AA44-F6C2-4D9C-9F92-56382BE0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48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48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Yousician Strategic Environment Mapping</a:t>
            </a:r>
          </a:p>
        </p:txBody>
      </p:sp>
    </p:spTree>
    <p:extLst>
      <p:ext uri="{BB962C8B-B14F-4D97-AF65-F5344CB8AC3E}">
        <p14:creationId xmlns:p14="http://schemas.microsoft.com/office/powerpoint/2010/main" val="3454428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5CBFF8-BA63-4A37-A04E-54C7DEB8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EF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274A87-A0D2-4779-A2AA-14EC4AA3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E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F63A6-2464-4702-A70E-4EEB264A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7822E-A65A-4163-AE03-7BEC5296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BBFD4-197F-44A4-A1C2-7FC25B8D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05525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0654E-3410-453B-BC4F-E8198098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9ED67-0CE6-4351-AA5D-23C9825A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00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01A49-1E88-4EB9-89BE-E71606BC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08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698AC-D9AD-4B0F-8097-5C0DAE41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92E73-E001-427E-97AA-6DCDB8CA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9575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540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540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DCF5D1-07B1-4AFC-A844-514A802C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1" i="0">
                <a:solidFill>
                  <a:srgbClr val="11A392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11A392"/>
                </a:solidFill>
                <a:latin typeface="Aptos"/>
                <a:ea typeface="Aptos"/>
                <a:cs typeface="Aptos"/>
              </a:rPr>
              <a:t>BRIEF COVERAGE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852D5-E5EF-4EF9-B38E-4FCB97F4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8100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30" b="1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576D5E-98E3-44BB-9CB1-108CF463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The ecosystem map covers the full category set from the brief.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E2C624-DFDC-426E-BC2B-E5B750C3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This page makes the assignment logic explicit: broad market context around Yousician, not a narrow competitor list.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98216C-A1CE-47CB-8576-420F26B9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105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8321BE-C5D1-4BAB-8F1C-44D4F118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32C4B4-16F1-453C-A2DB-F32A7E36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764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l">
              <a:defRPr sz="115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15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Music learning apps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E6631C-8938-482D-916E-882C5C98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2412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45" b="1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Simply, Flowkey, Skoove, Fender Play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BF5F5B-BF5F-4A48-983A-C0246AEB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52650"/>
            <a:ext cx="3105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553367-EE06-4866-BA03-C7515064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526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9C1D2E-14B3-44A5-B9B0-EE511596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764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l">
              <a:defRPr sz="115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15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Instrument brands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3E5798-79EB-46B4-A11D-2182D9FB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2412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45" b="1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Fender, Yamaha, Gibson, retailers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6490FC-9D5A-4112-A4A2-D98367B4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105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9A09E6-B804-4CCD-9948-6B9EC2BF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9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7570A1-E4C0-4B3E-88A3-88F1D68F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764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l">
              <a:defRPr sz="115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15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Teachers / schools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78851A-96B9-4027-AE48-C8FFA7D0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2412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45" b="1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ABRSM, Trinity, School of Rock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BE1DD9-9080-4424-A672-77FAA7A0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3105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A51218-DE42-4117-A13B-876EA087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62B021-B9E4-41D5-B965-906618BA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146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l">
              <a:defRPr sz="115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15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Hobby software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7057A8-4936-46BF-8B03-644E2F52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6232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45" b="1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BandLab, Splice, MuseScore, Songsterr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5CA6DE-1215-4197-9CF6-AFFA938A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90850"/>
            <a:ext cx="3105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415D51-7FAA-4803-8785-DA6A5DE6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908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67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0B988A-8FA5-47E3-B29B-BD759DA6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146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l">
              <a:defRPr sz="115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15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Wider education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C80310-9752-450E-8967-905D9246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6232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45" b="1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Duolingo, Kahoot, MasterClass, Berklee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8D7670-39F2-482E-8506-C1D8E066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0850"/>
            <a:ext cx="3105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45BA53-F896-4F6D-BE4A-10AA04B2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08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D574A8-665A-4F11-AE55-5392EFE3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146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l">
              <a:defRPr sz="115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15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Investors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C0EFA5-3171-4EDC-9B74-7C86B59F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6232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45" b="1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Menlo, Lightspeed, Matrix, Khosla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DAF36D-AD7B-49DA-BA59-4DB690F1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3105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7FDF37-A25C-43C9-8168-F5A29A98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62DCFA-349E-46A3-AED3-915DBF15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l">
              <a:defRPr sz="115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15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Creators / educators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A12610-B6DA-48AE-ACBC-F3E815DA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45" b="1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JustinGuitar, Marty Music, Rick Beato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3D9DA3-7008-44A6-938D-186566AE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29050"/>
            <a:ext cx="3105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ABF244-4BFB-4279-81DA-F18E992D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290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AA9C0CD-8BC1-49FD-8833-766C5014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528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l">
              <a:defRPr sz="115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15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Media / culture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140EB3-62B6-4F99-9F8E-3F5026F4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0052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45" b="1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TikTok, YouTube, Spotify, Guitar World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061BC64-C50F-4CF6-A043-664FED23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29050"/>
            <a:ext cx="3105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1B18FF-EBFD-441C-BE52-05B1D188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290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997D32-320B-456F-BE01-11BF7885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528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l">
              <a:defRPr sz="115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15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AI companies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047779D-89B4-4A4B-A629-3EECA844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0052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45" b="1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Suno, Udio, Moises, Chord ai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0060FD3-B2F5-45A2-9207-FCD57A6C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3105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0FDFD96-6630-4AAE-84CC-32F9A1B5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67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377870B-E3F9-4E37-B732-A329918B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910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l">
              <a:defRPr sz="115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15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Awards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E88B40F-6F2B-4522-8188-27685C45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3872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45" b="1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Apple Design, Google Play, Webby, EdTech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E66033-A10C-4586-8DDD-04FBB3A3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67250"/>
            <a:ext cx="3105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E3792B1-1D42-428B-9F16-EC201DC0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672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9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C8BB943-F14B-4EE3-8CAD-2BBA931F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910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l">
              <a:defRPr sz="115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15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Funding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6AAF4AF-A773-4707-926C-C7CFC51B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3872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45" b="1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Business Finland, EIC, Horizon Europe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2196EC5-4E86-4545-ADAE-4CACA99D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67250"/>
            <a:ext cx="3105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96113E7-3FD4-4560-9F5A-AA658F4B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672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234AF80-783F-4F86-A847-AA17BF22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910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l">
              <a:defRPr sz="115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15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Last 24 months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003F84D-B0B4-4EB1-A9F6-1228D34C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3872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45" b="1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49 curated market moves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7B0994D-6664-4D6A-A6E3-9EB0FABF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76900"/>
            <a:ext cx="8001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71D7B0D-A769-487C-ADE4-7739E15D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769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9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C8E8A0F-38E5-4EA9-B697-74F4F119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81977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Coverage read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A7A6982-AF14-4609-B6DA-149EB33A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81675"/>
            <a:ext cx="605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The first-read deck shows representative players; the workbook keeps the wider database and one-pager fields behind the executive map.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97E55FF-8A58-48DF-8CDB-810B7C6E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8" b="0" i="0">
                <a:solidFill>
                  <a:srgbClr val="74837C"/>
                </a:solidFill>
                <a:latin typeface="Aptos"/>
                <a:ea typeface="Aptos"/>
                <a:cs typeface="Aptos"/>
              </a:defRPr>
            </a:pPr>
            <a:r>
              <a:rPr sz="548" b="0" i="0">
                <a:solidFill>
                  <a:srgbClr val="74837C"/>
                </a:solidFill>
                <a:latin typeface="Aptos"/>
                <a:ea typeface="Aptos"/>
                <a:cs typeface="Aptos"/>
              </a:rPr>
              <a:t>Source: brief-aligned category coverage, player database and curated market moves.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0BB83BF-242E-49BD-977C-8D1E0E43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48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548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Yousician Strategic Environment Mapping</a:t>
            </a:r>
          </a:p>
        </p:txBody>
      </p:sp>
    </p:spTree>
    <p:extLst>
      <p:ext uri="{BB962C8B-B14F-4D97-AF65-F5344CB8AC3E}">
        <p14:creationId xmlns:p14="http://schemas.microsoft.com/office/powerpoint/2010/main" val="8027780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6838B2-5601-436C-8A57-4D33DE68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EF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CDD50-2179-4445-B2F5-4EDD7A5B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E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C27E9-51F3-47B3-9E84-1D4C28F2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3E4DB-B21A-40F6-9822-EA4CAF0E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DB7D5-051B-4F05-BC48-9FF2BEE1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05525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9C57CB-A8BF-4618-B5DC-BDEC7C48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583E2-7DE4-4942-B0B0-114BEFDE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00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9C8F4-F294-43B9-B7E8-C91DDBF3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08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23F8F-B399-45AB-9E35-9F38DD4D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5F98B-4736-4B26-862A-7F204CE4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9575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540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540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337B2C-0704-4CB5-8B39-5CA4F05D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1" i="0">
                <a:solidFill>
                  <a:srgbClr val="11A392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11A392"/>
                </a:solidFill>
                <a:latin typeface="Aptos"/>
                <a:ea typeface="Aptos"/>
                <a:cs typeface="Aptos"/>
              </a:rPr>
              <a:t>PRIORITY ACTORS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18704-7C81-4089-A185-67591076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8100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30" b="1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71ABAD-2E2B-4C1D-8435-43956AAA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Five influence clusters explain the top actors around Yousician.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E7927-5E27-46BF-946E-A77F8B85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942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The most important actors are not all competitors: utility shifts, repertoire ownership, discovery power, hardware funnels and infrastructure all matter.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B7CF81-66B9-4D73-9BF5-6359BD6F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9240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44234B-CC1F-4C53-8D5B-52A016B3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924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B17940-8537-4776-826A-3F443919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06455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0645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80DE67-7CFE-4A3C-AB7E-99693B87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962"/>
          </a:bodyPr>
          <a:lstStyle xmlns:a="http://schemas.openxmlformats.org/drawingml/2006/main"/>
          <a:p xmlns:a="http://schemas.openxmlformats.org/drawingml/2006/main">
            <a:pPr algn="l">
              <a:defRPr sz="1313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changes participation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DF4F7D-1050-4E6F-852B-6629BC88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1466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Creation and practice utilities change what hobbyists expect from feedback, accompaniment and making music.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399426-7D2A-41CA-9681-EF7E3445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2F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1CC50B-083D-4103-AB56-98DF1531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43375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1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Suno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095E59-31A9-4F92-A4D5-FA404D91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2F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4046A9-FD10-482E-9ECC-9E11F59F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29125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1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Moises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68D0C8-9672-490C-AD07-311A6D43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2F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73B619-A77A-453B-BB1D-386234EE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14875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1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ElevenLabs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8DE480-E8B8-4822-8131-E218C19C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90750"/>
            <a:ext cx="19240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6B6BFD-98B0-49D1-ABF7-AC537B55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90750"/>
            <a:ext cx="1924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F13135-17A6-4245-944A-0AB4F2F5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765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31A227-0233-4803-BF0A-0F80C962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146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962"/>
          </a:bodyPr>
          <a:lstStyle xmlns:a="http://schemas.openxmlformats.org/drawingml/2006/main"/>
          <a:p xmlns:a="http://schemas.openxmlformats.org/drawingml/2006/main">
            <a:pPr algn="l">
              <a:defRPr sz="131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Apps shape beginner habit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A9F32D-08EA-4CF5-B86A-9B8743B0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86150"/>
            <a:ext cx="1466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Direct learning apps remain the most comparable field, but final success ranking needs Appfigures.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94E849-3AEA-4D12-98E6-7DA95AF8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767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EF2E02-8D42-467D-8328-CA0017AE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43375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615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Simply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D92668-A09D-4C5E-BFBF-75600ACE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624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3011E4-0641-41EB-A7FE-01513A5C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29125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615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Flowkey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81E4FB-18CA-4018-BA31-D6981B48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482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57E863-6CB5-4C20-9044-558EB8E5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714875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615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Skoove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5EF065-1355-42DB-8861-8F127585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90750"/>
            <a:ext cx="19240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B76937-0271-4402-AF04-2BB63F01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90750"/>
            <a:ext cx="1924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DF4E47-5D97-4191-B348-CC2A6F6F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765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BF3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BF3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ABC03E-080B-4535-B0D3-B8AE7BAA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146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Songs own intent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BDDECF-DDFA-42FA-8D77-607684BB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86150"/>
            <a:ext cx="1466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Tabs, notation and song demand shape why beginners practice and what they want to play.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87EBEA-B314-43D7-BDC2-59EA4CF6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767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9320DB-5B61-484E-8FAB-F964A78E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43375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615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Ultimate Guitar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C1229D-08EC-41A5-953B-59CC6190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624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823BE2-8A87-46BD-9D76-57AE5870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429125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615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MuseScore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EF43BA-FBE7-4C3E-B01B-B99EC1E6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482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1F4DF22-BE0A-4E25-87A3-6F0B3E30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714875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615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Songsterr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26EA5F-71CD-4A51-9AF2-3271FA83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90750"/>
            <a:ext cx="19240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D44C96A-6CD6-4494-BED0-2656E76D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90750"/>
            <a:ext cx="1924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BCD129-8B31-45DC-9F23-C365B82D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4C8DF6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4C8DF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8AF33B7-88C2-4AF3-A3E6-CB4ABA5F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146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962"/>
          </a:bodyPr>
          <a:lstStyle xmlns:a="http://schemas.openxmlformats.org/drawingml/2006/main"/>
          <a:p xmlns:a="http://schemas.openxmlformats.org/drawingml/2006/main">
            <a:pPr algn="l">
              <a:defRPr sz="131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Platforms set demand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BFD13B-CF87-4389-840A-171C386D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86150"/>
            <a:ext cx="1466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Discovery, creator trust and cultural moments often precede formal lesson demand.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4AE5108-5B3A-4B1E-A207-A3C87468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767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B08BC20-DBC4-4DED-9FCB-AE0DFB7B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43375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615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YouTube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D43B2A2-7589-4CEC-B662-F6C5CAEF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624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AFBCB8F-50F0-4840-8E88-D1A1BB45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429125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615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TikTok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9525564-37B7-4F75-97CC-27858989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482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88E29EB-69CE-42E6-ABEE-7A734738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714875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615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Spotify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1B7EE6A-F0C3-47F2-9DFE-432C01A2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19240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F59A702-A1CB-44FA-9966-C92C1853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1924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67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E2B95D5-ECE3-4F0E-AEF3-98E2DB69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765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7467F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7467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28FF93C-1F1C-4612-A276-959D5D0D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146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647"/>
          </a:bodyPr>
          <a:lstStyle xmlns:a="http://schemas.openxmlformats.org/drawingml/2006/main"/>
          <a:p xmlns:a="http://schemas.openxmlformats.org/drawingml/2006/main">
            <a:pPr algn="l">
              <a:defRPr sz="131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Hardware and capital widen reach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60893E4-E156-4018-97DC-488792BC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86150"/>
            <a:ext cx="1466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Distribution, bundles, funding and recognition shape strategic options beyond app UX.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3DF539C-8EEA-4544-88C3-0E723D95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767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1BBC483-F8B7-4552-805A-F5FDF796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143375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615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Fender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82AC535-5900-476B-B093-840A8CD6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624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08E6553-A540-4CAB-960E-24302BAD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429125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615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Gibson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5028CA2-1649-44BD-AD39-FBE4CDBD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482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660DAF4-0E92-45FB-9287-A2058F9C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714875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615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Investors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7B982FD-9F35-47C8-853F-4484EC14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81650"/>
            <a:ext cx="8839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97CA67F-9A1C-419A-8618-C3585D95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8165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4F9F8DC-83F3-47DE-9788-6F0840EE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7531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Ranking basis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14BE94C-1C2F-4329-A52E-D9B233D6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686425"/>
            <a:ext cx="6896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This is an ecosystem-influence ranking. App-performance ranking remains pending until credentialed Appfigures data is imported.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7FD6183-7E02-4D7A-9866-38F05345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8" b="0" i="0">
                <a:solidFill>
                  <a:srgbClr val="74837C"/>
                </a:solidFill>
                <a:latin typeface="Aptos"/>
                <a:ea typeface="Aptos"/>
                <a:cs typeface="Aptos"/>
              </a:defRPr>
            </a:pPr>
            <a:r>
              <a:rPr sz="548" b="0" i="0">
                <a:solidFill>
                  <a:srgbClr val="74837C"/>
                </a:solidFill>
                <a:latin typeface="Aptos"/>
                <a:ea typeface="Aptos"/>
                <a:cs typeface="Aptos"/>
              </a:rPr>
              <a:t>Source: executive top-actor ranking and brief-aligned key-player profiles.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8C570C1-1B9A-4BA2-AB12-ABD83E8B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48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548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Yousician Strategic Environment Mapping</a:t>
            </a:r>
          </a:p>
        </p:txBody>
      </p:sp>
    </p:spTree>
    <p:extLst>
      <p:ext uri="{BB962C8B-B14F-4D97-AF65-F5344CB8AC3E}">
        <p14:creationId xmlns:p14="http://schemas.microsoft.com/office/powerpoint/2010/main" val="16845897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1C04E1-6884-41FD-9F18-B7BD4D29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EF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6B193-5DEA-44A8-BF81-B3B7E5EC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E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1ABE1-8BFD-4851-9165-33684387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847F8-8A07-4493-B6E6-6EB7E61B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25A8B-7826-4F13-8982-AB4EF5B2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05525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6046A-D788-4D8A-B5DC-82521E42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C69D8B-5057-4DC0-BC0D-5C1FE9D3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00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B8B2C8-ADE7-4ADA-B665-8ED060D6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08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1D605B-F33D-49FB-9E20-2FC37451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254D43-778C-47DD-BED4-6A9BA25F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9575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540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540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42149-F7C0-4A58-ADB3-BE0C8D6F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1" i="0">
                <a:solidFill>
                  <a:srgbClr val="11A392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11A392"/>
                </a:solidFill>
                <a:latin typeface="Aptos"/>
                <a:ea typeface="Aptos"/>
                <a:cs typeface="Aptos"/>
              </a:rPr>
              <a:t>WHO IS SUCCESSFUL?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EE6270-7961-41B9-A3C4-E9071378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8100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30" b="1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F15A50-EE5B-457C-B7D2-693AFF99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298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Success is visible across influence surfaces, not only app revenue.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5EB141-BA2A-4B52-8ACF-D79E4703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The strongest actors win different parts of the journey: app onboarding, repertoire, practice utility, creation, community, trust, hardware and discovery.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DE8CE0-2032-4CBE-B7F1-B0F5A8B5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2266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D732E0-6A32-4C4A-BD48-D1B17D29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2266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0661F4-C5AE-4641-A846-665176C5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1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Direct app benchmark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66BE74-3109-47F4-AB3C-7DE62394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16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Simply / JoyTunes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45983A-C0D5-4CC8-A490-A9D862D1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Beginner onboarding, motivation and subscription learning.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468948-19A3-4724-96C0-8B4BAE54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52650"/>
            <a:ext cx="2266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7D37F0-57F0-43FE-8F41-6D433ACD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52650"/>
            <a:ext cx="2266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21DF97-28B5-4E26-B6F0-06F4979F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622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1" i="0">
                <a:solidFill>
                  <a:srgbClr val="FFBF3F"/>
                </a:solidFill>
                <a:latin typeface="Aptos"/>
                <a:ea typeface="Aptos"/>
                <a:cs typeface="Aptos"/>
              </a:defRPr>
            </a:pPr>
            <a:r>
              <a:rPr sz="615" b="1" i="0">
                <a:solidFill>
                  <a:srgbClr val="FFBF3F"/>
                </a:solidFill>
                <a:latin typeface="Aptos"/>
                <a:ea typeface="Aptos"/>
                <a:cs typeface="Aptos"/>
              </a:rPr>
              <a:t>Repertoire ownership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2ED08A-9CDB-4E9B-8556-F9BE3EFF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908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0272"/>
          </a:bodyPr>
          <a:lstStyle xmlns:a="http://schemas.openxmlformats.org/drawingml/2006/main"/>
          <a:p xmlns:a="http://schemas.openxmlformats.org/drawingml/2006/main">
            <a:pPr algn="l">
              <a:defRPr sz="116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16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Ultimate Guitar / Muse Group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E7F381-B009-48EB-91A2-7FBBB0B4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337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Song demand, tabs, notation and repeated practice intent.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5D7AE9-0395-47D3-8BFB-2D0EC3D1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52650"/>
            <a:ext cx="2266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FBDC2D-031E-4679-A5B7-E8524754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52650"/>
            <a:ext cx="2266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D32354-0AE3-4D96-91FD-A609A70E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622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1" i="0">
                <a:solidFill>
                  <a:srgbClr val="4C8DF6"/>
                </a:solidFill>
                <a:latin typeface="Aptos"/>
                <a:ea typeface="Aptos"/>
                <a:cs typeface="Aptos"/>
              </a:defRPr>
            </a:pPr>
            <a:r>
              <a:rPr sz="615" b="1" i="0">
                <a:solidFill>
                  <a:srgbClr val="4C8DF6"/>
                </a:solidFill>
                <a:latin typeface="Aptos"/>
                <a:ea typeface="Aptos"/>
                <a:cs typeface="Aptos"/>
              </a:rPr>
              <a:t>AI practice utility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6EC478-3C81-42FD-A5FF-ED86DBED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908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16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Music.AI / Moises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86BF0C-61EF-41A5-B5F2-71384A56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337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Stems, transcription and play-any-song practice support.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A64BDF-F134-4224-9014-83AD188C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52650"/>
            <a:ext cx="2266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A9D2F3-FF1B-4031-891A-1696467D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52650"/>
            <a:ext cx="2266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479A48-9734-4819-B990-222799BB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622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1" i="0">
                <a:solidFill>
                  <a:srgbClr val="F06455"/>
                </a:solidFill>
                <a:latin typeface="Aptos"/>
                <a:ea typeface="Aptos"/>
                <a:cs typeface="Aptos"/>
              </a:defRPr>
            </a:pPr>
            <a:r>
              <a:rPr sz="615" b="1" i="0">
                <a:solidFill>
                  <a:srgbClr val="F06455"/>
                </a:solidFill>
                <a:latin typeface="Aptos"/>
                <a:ea typeface="Aptos"/>
                <a:cs typeface="Aptos"/>
              </a:rPr>
              <a:t>AI creation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CCD75C-4BE4-49C4-8FCA-330E5B5D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16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Suno / Udio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071802-489B-47F6-8BA6-36BBB8ED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337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Participation can become prompting, generating and sharing.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AFB4D5-073C-4335-9665-5BABE7C5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2266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02CF8F-2140-4DE1-B1F5-A8E3BDD5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2266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67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CCB599-1B12-4DED-8900-737AA833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1" i="0">
                <a:solidFill>
                  <a:srgbClr val="7467FF"/>
                </a:solidFill>
                <a:latin typeface="Aptos"/>
                <a:ea typeface="Aptos"/>
                <a:cs typeface="Aptos"/>
              </a:defRPr>
            </a:pPr>
            <a:r>
              <a:rPr sz="615" b="1" i="0">
                <a:solidFill>
                  <a:srgbClr val="7467FF"/>
                </a:solidFill>
                <a:latin typeface="Aptos"/>
                <a:ea typeface="Aptos"/>
                <a:cs typeface="Aptos"/>
              </a:rPr>
              <a:t>Hobby community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93D677-C829-411F-B055-BEBBB522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16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BandLab / Splice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585BEF-088D-43CC-8CCD-0CC9BA46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Creation, collaboration and loops beyond formal lessons.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586C56-24FB-4792-810A-89395441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48050"/>
            <a:ext cx="2266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0C49D1-B859-4B1A-B3B0-62787E10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48050"/>
            <a:ext cx="2266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9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0C52B1-F036-44E2-9156-F94453F5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576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1" i="0">
                <a:solidFill>
                  <a:srgbClr val="11A392"/>
                </a:solidFill>
                <a:latin typeface="Aptos"/>
                <a:ea typeface="Aptos"/>
                <a:cs typeface="Aptos"/>
              </a:defRPr>
            </a:pPr>
            <a:r>
              <a:rPr sz="615" b="1" i="0">
                <a:solidFill>
                  <a:srgbClr val="11A392"/>
                </a:solidFill>
                <a:latin typeface="Aptos"/>
                <a:ea typeface="Aptos"/>
                <a:cs typeface="Aptos"/>
              </a:rPr>
              <a:t>Trust / curriculum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2100B4-5288-4F82-8B50-51E1AC4B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862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236"/>
          </a:bodyPr>
          <a:lstStyle xmlns:a="http://schemas.openxmlformats.org/drawingml/2006/main"/>
          <a:p xmlns:a="http://schemas.openxmlformats.org/drawingml/2006/main">
            <a:pPr algn="l">
              <a:defRPr sz="116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16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ABRSM / Trinity / School of Rock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731249-5395-4114-A6D2-874F3131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291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Credentialing, structure and parent/teacher confidence.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B71F72-8130-4037-93B4-90EA02B2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48050"/>
            <a:ext cx="2266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4E9DA7-260D-442D-B760-956D343B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48050"/>
            <a:ext cx="2266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EA7FAC-8940-4E7A-B414-28ACD02C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576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1" i="0">
                <a:solidFill>
                  <a:srgbClr val="FFBF3F"/>
                </a:solidFill>
                <a:latin typeface="Aptos"/>
                <a:ea typeface="Aptos"/>
                <a:cs typeface="Aptos"/>
              </a:defRPr>
            </a:pPr>
            <a:r>
              <a:rPr sz="615" b="1" i="0">
                <a:solidFill>
                  <a:srgbClr val="FFBF3F"/>
                </a:solidFill>
                <a:latin typeface="Aptos"/>
                <a:ea typeface="Aptos"/>
                <a:cs typeface="Aptos"/>
              </a:rPr>
              <a:t>Hardware funnel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FE07C9-168A-4CFE-B7C9-FF9EC2AB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862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822"/>
          </a:bodyPr>
          <a:lstStyle xmlns:a="http://schemas.openxmlformats.org/drawingml/2006/main"/>
          <a:p xmlns:a="http://schemas.openxmlformats.org/drawingml/2006/main">
            <a:pPr algn="l">
              <a:defRPr sz="116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16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Fender / Gibson / Yamaha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DA6CE7E-4EA3-4B76-BA28-556F059A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291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Instrument access and brand-led beginner entry.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3CEDD24-30D9-49B0-9236-E112708C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48050"/>
            <a:ext cx="2266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B3CBB53-BA4E-44EF-A235-93CCC316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48050"/>
            <a:ext cx="2266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BD8D966-689F-419C-841E-7B46D51B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576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1" i="0">
                <a:solidFill>
                  <a:srgbClr val="4C8DF6"/>
                </a:solidFill>
                <a:latin typeface="Aptos"/>
                <a:ea typeface="Aptos"/>
                <a:cs typeface="Aptos"/>
              </a:defRPr>
            </a:pPr>
            <a:r>
              <a:rPr sz="615" b="1" i="0">
                <a:solidFill>
                  <a:srgbClr val="4C8DF6"/>
                </a:solidFill>
                <a:latin typeface="Aptos"/>
                <a:ea typeface="Aptos"/>
                <a:cs typeface="Aptos"/>
              </a:rPr>
              <a:t>Discovery platforms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9B979F-9192-4C0F-A810-93D21609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862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693"/>
          </a:bodyPr>
          <a:lstStyle xmlns:a="http://schemas.openxmlformats.org/drawingml/2006/main"/>
          <a:p xmlns:a="http://schemas.openxmlformats.org/drawingml/2006/main">
            <a:pPr algn="l">
              <a:defRPr sz="116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16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TikTok / YouTube / Spotify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B43B5C4-280A-464D-A357-B455679D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291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Demand, creators and song inspiration before app choice.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C1D67E4-F211-4F6E-BA2A-43D633E3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816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601D062-DBB5-4FC3-BDA4-9D88A2C9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816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11C5C75-8C71-48F6-8EF4-C33E5A08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2447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App-performance caveat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5D44A52-10D7-4E7F-9ADB-BE71122B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286375"/>
            <a:ext cx="586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App revenue, downloads, rank trends and country mix still require a credentialed Appfigures export; the current read is ecosystem influence.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3F7B36B-6716-40B5-BB36-E5C69B1A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8" b="0" i="0">
                <a:solidFill>
                  <a:srgbClr val="74837C"/>
                </a:solidFill>
                <a:latin typeface="Aptos"/>
                <a:ea typeface="Aptos"/>
                <a:cs typeface="Aptos"/>
              </a:defRPr>
            </a:pPr>
            <a:r>
              <a:rPr sz="548" b="0" i="0">
                <a:solidFill>
                  <a:srgbClr val="74837C"/>
                </a:solidFill>
                <a:latin typeface="Aptos"/>
                <a:ea typeface="Aptos"/>
                <a:cs typeface="Aptos"/>
              </a:rPr>
              <a:t>Source: executive synthesis, key-player profiles and direct learning snapshot.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491DEAC-75F0-4037-9B30-4FF27DC1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48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548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Yousician Strategic Environment Mapping</a:t>
            </a:r>
          </a:p>
        </p:txBody>
      </p:sp>
    </p:spTree>
    <p:extLst>
      <p:ext uri="{BB962C8B-B14F-4D97-AF65-F5344CB8AC3E}">
        <p14:creationId xmlns:p14="http://schemas.microsoft.com/office/powerpoint/2010/main" val="175036755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205946-1711-4BA9-ADBB-9EF107FE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EF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32D8E-9FD0-40EE-955E-F6F4F3A6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E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319F7-9C13-45AE-A4DD-EE358C83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09DC6-B871-4801-9EA4-1896B649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5DEE7-F072-468C-B0BB-C6B22E6F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05525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3354C-80CE-4241-B956-93CAD741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B5A55-61CE-4164-9FA6-7CBB9FA4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00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E0C82-DA01-443F-9CEE-8E2FC0F1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08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96066E-F253-4FD6-A7F1-5EC6B4FE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CA5FA-8F47-4A4E-84FD-AA57A516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9575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540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540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BBDAAF-C432-4771-B61C-9E297A98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1" i="0">
                <a:solidFill>
                  <a:srgbClr val="11A392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11A392"/>
                </a:solidFill>
                <a:latin typeface="Aptos"/>
                <a:ea typeface="Aptos"/>
                <a:cs typeface="Aptos"/>
              </a:rPr>
              <a:t>DIRECT LEARNING APPS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CAF931-3FAA-4664-A676-7365F81C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8100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30" b="1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42678-CF01-4C55-A1C9-6DCD7AAA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298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Direct learning apps are present as a field; performance ranking waits for Appfigures.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51B10C-9F09-4B8F-87D6-D02F65CE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Public sources show who belongs in the landscape. Revenue, downloads, rankings and country mix should only be ranked after credentialed data import.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3591D4-67C3-4607-863A-C189DACD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03060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8DA4A6-19E1-4364-8ECB-280CCB08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030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579188-5B09-4238-AD59-99D915AD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95525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Segment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64C5A5-5203-4E78-BF4C-DF1587DB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95525"/>
            <a:ext cx="2800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Representative players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2600C4-844E-4DA2-B3B5-85DCD0AE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90750"/>
            <a:ext cx="9525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8D3F22-838B-49FB-830B-7D178BD1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95525"/>
            <a:ext cx="2762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847E75-10DA-4B38-A38C-2F62C668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9525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6D2FD3-0521-4FA3-9E4D-7FE64F1F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95525"/>
            <a:ext cx="133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Appfigures status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32C0B9-00C1-4C4E-9A1C-2EBC2DEB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90750"/>
            <a:ext cx="9525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5C2F99-03BD-4C4F-B782-0A3D3B2D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5596B9-8042-4FE0-BD57-D29CF39F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76525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Mobile-first app benchmarks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C97668-928B-4ABE-8E06-F3574857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76525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855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Simply, Flowkey, Skoove, Fretello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76AA9D-AB07-45EE-AF44-2606B3CA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479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8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98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Comparable onboarding, motivation and subscription learning.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EE0F48-7486-42F7-BB42-8B76631B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765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81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Pending export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029DE1-FECD-44E8-8977-F0516F7E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45A405-1626-4248-8DC8-ADEB313B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1030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D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1AD0C1-EAC2-44BE-8935-F619CAFC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28975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Guitar and hardware funnels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567F7A-8121-4D81-9A10-4DF3B269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28975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855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Fender Play, Gibson App, Guitar Tricks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7A18F8-8308-4EC1-822B-34E8A191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004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8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98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Brand-led entry from instrument purchase into guided practice.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2CF557-FCAF-4CA8-B406-46CD532E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2897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 i="0">
                <a:solidFill>
                  <a:srgbClr val="4C8DF6"/>
                </a:solidFill>
                <a:latin typeface="Aptos"/>
                <a:ea typeface="Aptos"/>
                <a:cs typeface="Aptos"/>
              </a:defRPr>
            </a:pPr>
            <a:r>
              <a:rPr sz="810" b="1" i="0">
                <a:solidFill>
                  <a:srgbClr val="4C8DF6"/>
                </a:solidFill>
                <a:latin typeface="Aptos"/>
                <a:ea typeface="Aptos"/>
                <a:cs typeface="Aptos"/>
              </a:rPr>
              <a:t>Pending export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07932B-384C-4BA8-935B-7747AF15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C80DBD-3B28-46CA-AA8F-9D673378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30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D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A63AB1-C0AF-492A-83D9-F9FD7731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81425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Song and practice services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983F08-202E-4AB7-931C-A3AD1C3D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81425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855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Rocksmith+, Pickup, Musora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592012-9A61-466C-8548-7FC074E5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8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98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Higher-intent practice, lessons and song-based feedback.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94B815-0095-4F63-811A-DF074152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814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 i="0">
                <a:solidFill>
                  <a:srgbClr val="FFBF3F"/>
                </a:solidFill>
                <a:latin typeface="Aptos"/>
                <a:ea typeface="Aptos"/>
                <a:cs typeface="Aptos"/>
              </a:defRPr>
            </a:pPr>
            <a:r>
              <a:rPr sz="810" b="1" i="0">
                <a:solidFill>
                  <a:srgbClr val="FFBF3F"/>
                </a:solidFill>
                <a:latin typeface="Aptos"/>
                <a:ea typeface="Aptos"/>
                <a:cs typeface="Aptos"/>
              </a:rPr>
              <a:t>Pending export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901986-3298-4A14-AF77-3C086A90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9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443296-A758-44B9-9B1E-32A26CBB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030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D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7C5D74-0DD9-459C-8243-6BDEE8C8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33875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Internal product context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73CA84-ACB4-481B-B69C-0EF816D6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333875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855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Yousician, GuitarTuna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CD6C80-F964-47DF-A830-F142968C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053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8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98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Core comparison plus tuning, chord and self-guided utility surface.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EA3BAD2-EA60-4C18-B27D-D7968CCF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3387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 i="0">
                <a:solidFill>
                  <a:srgbClr val="11A392"/>
                </a:solidFill>
                <a:latin typeface="Aptos"/>
                <a:ea typeface="Aptos"/>
                <a:cs typeface="Aptos"/>
              </a:defRPr>
            </a:pPr>
            <a:r>
              <a:rPr sz="810" b="1" i="0">
                <a:solidFill>
                  <a:srgbClr val="11A392"/>
                </a:solidFill>
                <a:latin typeface="Aptos"/>
                <a:ea typeface="Aptos"/>
                <a:cs typeface="Aptos"/>
              </a:rPr>
              <a:t>Internal read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EC49AA0-651F-4E98-B9D4-D94BD096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67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17F4D29-71EE-42F0-9315-2396D4F8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030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D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F4F951-7BC7-4A14-BC1E-96E21F5E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86325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Education-platform adjacency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52D33BB-83F3-45E0-9400-AC973096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886325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855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Duolingo Music, Melodics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2C10427-F0ED-414D-B671-2775DC08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577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8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98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Mass-market beginner motivation and instrument-adjacent learning.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EB5E3CE-0FBD-4950-82CB-F5C20E35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8863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 i="0">
                <a:solidFill>
                  <a:srgbClr val="7467FF"/>
                </a:solidFill>
                <a:latin typeface="Aptos"/>
                <a:ea typeface="Aptos"/>
                <a:cs typeface="Aptos"/>
              </a:defRPr>
            </a:pPr>
            <a:r>
              <a:rPr sz="810" b="1" i="0">
                <a:solidFill>
                  <a:srgbClr val="7467FF"/>
                </a:solidFill>
                <a:latin typeface="Aptos"/>
                <a:ea typeface="Aptos"/>
                <a:cs typeface="Aptos"/>
              </a:rPr>
              <a:t>Pending export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817A708-BD3A-4883-B8EE-982E4149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505450"/>
            <a:ext cx="8020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E6656AE-4934-4F4A-A624-DCA7C70D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50545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AF7C17B-131D-4C9D-9B9C-E773D52F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64832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Market read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0F800D0-B373-4604-8F5A-D5D530E0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10225"/>
            <a:ext cx="607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Direct learning apps are less press-driven publicly; their competitive movement is more visible through Appfigures and app-store data than through press coverage.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FF3E7C4-1676-4E0E-AA73-663FF486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8" b="0" i="0">
                <a:solidFill>
                  <a:srgbClr val="74837C"/>
                </a:solidFill>
                <a:latin typeface="Aptos"/>
                <a:ea typeface="Aptos"/>
                <a:cs typeface="Aptos"/>
              </a:defRPr>
            </a:pPr>
            <a:r>
              <a:rPr sz="548" b="0" i="0">
                <a:solidFill>
                  <a:srgbClr val="74837C"/>
                </a:solidFill>
                <a:latin typeface="Aptos"/>
                <a:ea typeface="Aptos"/>
                <a:cs typeface="Aptos"/>
              </a:rPr>
              <a:t>Source: direct learning apps snapshot and Appfigures data request.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08B4CB6-86B1-4306-A872-3E7466E9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48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548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Yousician Strategic Environment Mapping</a:t>
            </a:r>
          </a:p>
        </p:txBody>
      </p:sp>
    </p:spTree>
    <p:extLst>
      <p:ext uri="{BB962C8B-B14F-4D97-AF65-F5344CB8AC3E}">
        <p14:creationId xmlns:p14="http://schemas.microsoft.com/office/powerpoint/2010/main" val="44363985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82CBA4-E976-40E0-AECD-FB2D898C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EF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027AF-DD5E-4CAB-9F20-A89C916B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E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D8DBE-D00B-409F-8D54-C5A66129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26F01-D0CB-4EED-B22F-93C3E6ED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E2084-4483-41D2-AACC-51C55285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05525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6E717-5CA9-459C-A6FA-785713DB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21CCEA-1E33-4ADA-922A-27CD623A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00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5CC48-A74E-4A78-B253-E77BCB96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08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193073-1A07-4143-9B2A-0A87B324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D08D7-7DA9-44B1-9905-18A16308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9575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540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540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91206B-11BD-4378-BE53-F3631119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1" i="0">
                <a:solidFill>
                  <a:srgbClr val="11A392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11A392"/>
                </a:solidFill>
                <a:latin typeface="Aptos"/>
                <a:ea typeface="Aptos"/>
                <a:cs typeface="Aptos"/>
              </a:rPr>
              <a:t>LAST 24 MONTHS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67E8C1-520F-4BB4-8AC6-B7188C9B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8100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30" b="1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49B4B7-B8AA-4727-B8DF-CDB9727A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099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The news layer is strongest where AI, culture, capital and rights collide.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926933-8D60-4438-A272-51E6E820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This page is curated for 'who made the news for what' rather than static company facts.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39ADAF-CA4D-4F9F-82C6-7527223D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22479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732B18-DC7A-4B30-89D2-7700B31B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819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450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450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49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B6A32F-D764-4D9E-A9A7-32F6E9CA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news-grade</a:t>
            </a:r>
          </a:p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market moves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2E5576-A466-45E3-A440-47B68CAC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28CDE1-35BC-436B-9DC0-7B087DA7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1409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BF3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BF3F"/>
                </a:solidFill>
                <a:latin typeface="Aptos"/>
                <a:ea typeface="Aptos"/>
                <a:cs typeface="Aptos"/>
              </a:rPr>
              <a:t>Visible pressure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CEB1E5-B315-4CF6-909A-84725AE1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960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2F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D746CD-0F38-4967-83B0-D962D54E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86275"/>
            <a:ext cx="1181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72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72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AI rights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7F6744-7AD4-4F2B-A21D-3D10F981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9625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2F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4DDE6C-EECB-4E50-970A-655800AB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86300"/>
            <a:ext cx="1181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72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72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Creator tools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D160C4-80E7-4EB9-A659-5ADDEFA0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2F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848419-298D-4B65-8AC5-D7F32ECF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86325"/>
            <a:ext cx="1181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72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72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App platforms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F79681-B50F-41A3-99B7-E2AC9809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9675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2F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EDC3CD-A3F7-44F0-99C7-A3F19FB4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86350"/>
            <a:ext cx="1181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72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72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Awards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4E94A0-69BB-4962-B497-92BD8090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2F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2FD614-A4EF-4557-95D9-6CBCFC91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86375"/>
            <a:ext cx="1181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72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72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Public funding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33D970-F533-4BB3-BDDD-157D122F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09800"/>
            <a:ext cx="22098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6C15CF-6660-438A-91E4-A9BA9BF3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09800"/>
            <a:ext cx="2209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D929E9-7581-4F09-A770-A7AFDFA1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19350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1" i="0">
                <a:solidFill>
                  <a:srgbClr val="F06455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F06455"/>
                </a:solidFill>
                <a:latin typeface="Aptos"/>
                <a:ea typeface="Aptos"/>
                <a:cs typeface="Aptos"/>
              </a:rPr>
              <a:t>Jun 2026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07D34F-6223-4C97-9E69-A1CFC0D8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6700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Suno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A3A4DB-EBD0-4A36-B932-EDBE16DB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527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645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Series D above $400M at $5.4B valuation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38B544-3DB0-44E7-9009-04D4474C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385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30"/>
          </a:bodyPr>
          <a:lstStyle xmlns:a="http://schemas.openxmlformats.org/drawingml/2006/main"/>
          <a:p xmlns:a="http://schemas.openxmlformats.org/drawingml/2006/main">
            <a:pPr algn="l">
              <a:defRPr sz="57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57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AI creation is now venture-scale consumer infrastructure.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DF4774-10E7-4F5A-99B3-2E83480C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09800"/>
            <a:ext cx="22098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F65301-9E09-43D6-9A49-6DA1A171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09800"/>
            <a:ext cx="2209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7CFCC9-1C97-4CCA-99B4-2DA18720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19350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1" i="0">
                <a:solidFill>
                  <a:srgbClr val="4C8DF6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4C8DF6"/>
                </a:solidFill>
                <a:latin typeface="Aptos"/>
                <a:ea typeface="Aptos"/>
                <a:cs typeface="Aptos"/>
              </a:rPr>
              <a:t>Jun 2026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B74CA1-24FD-409D-914B-84307802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6700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Fender + Moises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8A5EE3-7DC9-4871-A9B8-2E3B0010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527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645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Studio Pro added stem separation and smart-assistant tooling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55020E-B389-4154-9EB6-017E2B39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57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Instrument brands are moving into AI practice utility.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B2FA85-BAB4-4963-92F7-9195CE2D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09800"/>
            <a:ext cx="22098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958916-99B7-4966-BF6C-546D06AA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09800"/>
            <a:ext cx="2209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67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DE2B3C-BCC4-4B97-AE68-60F50041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19350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1" i="0">
                <a:solidFill>
                  <a:srgbClr val="7467FF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7467FF"/>
                </a:solidFill>
                <a:latin typeface="Aptos"/>
                <a:ea typeface="Aptos"/>
                <a:cs typeface="Aptos"/>
              </a:rPr>
              <a:t>Jun 2026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C32B7EE-7589-4B84-A532-3FB0CB3D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6700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Google / Lyria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09FC7B8-3F3D-4F58-AD31-76731EAD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527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645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Musicians sued over alleged YouTube music use for AI training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8651702-3396-46E5-80C6-E11AA67D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385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57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Creator-platform data rights now affect music-AI trust.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B3EC2DE-FD8A-4858-A56A-07DB1ED6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90950"/>
            <a:ext cx="22098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3E32FA-4142-4B2A-B581-CEB1C710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90950"/>
            <a:ext cx="2209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FA0FC2-7AA6-48CB-9409-F88CBD6B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00500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1" i="0">
                <a:solidFill>
                  <a:srgbClr val="FFBF3F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FFBF3F"/>
                </a:solidFill>
                <a:latin typeface="Aptos"/>
                <a:ea typeface="Aptos"/>
                <a:cs typeface="Aptos"/>
              </a:rPr>
              <a:t>May 2026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C6FBF63-51D1-45A9-BC6A-F7EB263D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481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Apple Design Awards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C0886DF-E5C1-40A5-882D-D3170EBF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339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645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2026 finalists and winners set current app-craft benchmarks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375D1D3-B6B9-4BAF-8A00-8431381B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81965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375"/>
          </a:bodyPr>
          <a:lstStyle xmlns:a="http://schemas.openxmlformats.org/drawingml/2006/main"/>
          <a:p xmlns:a="http://schemas.openxmlformats.org/drawingml/2006/main">
            <a:pPr algn="l">
              <a:defRPr sz="57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57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Recognition layers matter for consumer learning credibility.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E0B20C-951D-408E-BFF6-FA8BC2EA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90950"/>
            <a:ext cx="22098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C3B8B42-B1AD-4DEF-9EA4-55E153EA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90950"/>
            <a:ext cx="2209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1616925-394E-451B-9080-B7982988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00500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May 2026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5819E06-1A3B-41C6-8033-A14C890B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481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Google Play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05BB634-21B4-4B6C-B1CB-B3C7F00E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339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645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Q1 discovery and developer-tool updates highlighted app growth levers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E528F3F-FE64-4AAC-9636-1B0DB76C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1965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257"/>
          </a:bodyPr>
          <a:lstStyle xmlns:a="http://schemas.openxmlformats.org/drawingml/2006/main"/>
          <a:p xmlns:a="http://schemas.openxmlformats.org/drawingml/2006/main">
            <a:pPr algn="l">
              <a:defRPr sz="57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57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Store discovery remains part of music-learning acquisition.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F669C23-0342-4A42-899F-348A68E5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90950"/>
            <a:ext cx="22098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C28E2AA-BAE3-42FF-ABBA-52D8F330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90950"/>
            <a:ext cx="2209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9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C59EE6D-7E71-41C9-90B4-A53BE5F6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00500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1" i="0">
                <a:solidFill>
                  <a:srgbClr val="11A392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11A392"/>
                </a:solidFill>
                <a:latin typeface="Aptos"/>
                <a:ea typeface="Aptos"/>
                <a:cs typeface="Aptos"/>
              </a:rPr>
              <a:t>Apr 2026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422CBBF-5AAA-4DA3-B17A-D0B7A81D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481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Splice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3D7C7D5-1AB6-4375-BCF0-03E8CE73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339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645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AI tools tied to creator compensation model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F10A65E-D481-4E6F-A2B2-68B152B8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1965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30"/>
          </a:bodyPr>
          <a:lstStyle xmlns:a="http://schemas.openxmlformats.org/drawingml/2006/main"/>
          <a:p xmlns:a="http://schemas.openxmlformats.org/drawingml/2006/main">
            <a:pPr algn="l">
              <a:defRPr sz="57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57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Rights-aware creator tooling is becoming a market norm.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C73533A-8D1A-4F85-9C1A-47C5F9C3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56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EA69828-DCB2-466A-9368-0632F41F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56260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9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F1B7F88-3194-49A6-B525-BB5BFF86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340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Curation rule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8E55F1F-0697-472A-8E8E-EAB756D0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667375"/>
            <a:ext cx="529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A/B news-grade events lead the executive story. Static direct-learning app movement is covered in the app landscape and workbook.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855C684-B52C-4106-9937-0277FAEA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8" b="0" i="0">
                <a:solidFill>
                  <a:srgbClr val="74837C"/>
                </a:solidFill>
                <a:latin typeface="Aptos"/>
                <a:ea typeface="Aptos"/>
                <a:cs typeface="Aptos"/>
              </a:defRPr>
            </a:pPr>
            <a:r>
              <a:rPr sz="548" b="0" i="0">
                <a:solidFill>
                  <a:srgbClr val="74837C"/>
                </a:solidFill>
                <a:latin typeface="Aptos"/>
                <a:ea typeface="Aptos"/>
                <a:cs typeface="Aptos"/>
              </a:rPr>
              <a:t>Source: curated 24-month market moves.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BE4221A-CE2E-4BB0-8768-A29E4CC6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48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548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Yousician Strategic Environment Mapping</a:t>
            </a:r>
          </a:p>
        </p:txBody>
      </p:sp>
    </p:spTree>
    <p:extLst>
      <p:ext uri="{BB962C8B-B14F-4D97-AF65-F5344CB8AC3E}">
        <p14:creationId xmlns:p14="http://schemas.microsoft.com/office/powerpoint/2010/main" val="1733834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E5436C-EC66-435A-9ECF-D46A45EC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177DF-3B9A-4D75-8D11-A4E137CF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B3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AB5BF-452E-420C-87D8-240E2D61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3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A3D02-0257-4F1C-8E1A-5FB27CB0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3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F597D-4284-46A7-849C-F467C7DC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05525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3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2D9F1-7547-41BD-B00E-A62C49F2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3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217E6-67CD-4F16-87EA-3079DFC9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ECAB2-3281-48EC-96F1-DF7B4C35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9575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540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540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09967-0AF6-4D6B-B499-DF60B3D4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AI AND RIGHTS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7FEA9-690C-4EF8-B58C-E561D256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8100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30" b="1" i="0">
                <a:solidFill>
                  <a:srgbClr val="B8CCC5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B8CCC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380E4F-5EB8-49E9-9346-AF8C1F81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changes the shape of participation and the rules around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122E54-E1F2-459B-A61C-C5856972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ED1C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ED1CA"/>
                </a:solidFill>
                <a:latin typeface="Aptos"/>
                <a:ea typeface="Aptos"/>
                <a:cs typeface="Aptos"/>
              </a:rPr>
              <a:t>The relevant map is not a feature checklist: it is creation, practice utility and rights governance moving together.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84B18A-24F9-4FCD-828D-F8576EA5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431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2F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9D506B-C9E5-4E1F-8473-1415ED13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431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24"/>
          </a:solidFill>
          <a:ln xmlns:a="http://schemas.openxmlformats.org/drawingml/2006/main" w="9525">
            <a:solidFill>
              <a:srgbClr val="6A5A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D23B6A-065D-4C91-8881-ED681F88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431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211F"/>
          </a:solidFill>
          <a:ln xmlns:a="http://schemas.openxmlformats.org/drawingml/2006/main" w="9525">
            <a:solidFill>
              <a:srgbClr val="7841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5D5217-125B-4961-9D7D-8B809E61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575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0D49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0D49A"/>
                </a:solidFill>
                <a:latin typeface="Aptos Display"/>
                <a:ea typeface="Aptos Display"/>
                <a:cs typeface="Aptos Display"/>
              </a:rPr>
              <a:t>Creation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97F170-24D5-413F-BBDD-C5F1C5FF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657600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Suno, Udio,</a:t>
            </a:r>
          </a:p>
          <a:p xmlns:a="http://schemas.openxmlformats.org/drawingml/2006/main">
            <a:pPr algn="ctr">
              <a:defRPr sz="9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BandLab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5AB822-90BC-420F-8BBC-4D141A62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575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BF3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BF3F"/>
                </a:solidFill>
                <a:latin typeface="Aptos Display"/>
                <a:ea typeface="Aptos Display"/>
                <a:cs typeface="Aptos Display"/>
              </a:rPr>
              <a:t>Practice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44DACF-509B-4198-BE7D-E8ACC30B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5760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Moises, Chord ai,</a:t>
            </a:r>
          </a:p>
          <a:p xmlns:a="http://schemas.openxmlformats.org/drawingml/2006/main">
            <a:pPr algn="ctr">
              <a:defRPr sz="9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transcription tools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218B2F-0037-4B68-8D12-9EF1B5DE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0645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06455"/>
                </a:solidFill>
                <a:latin typeface="Aptos Display"/>
                <a:ea typeface="Aptos Display"/>
                <a:cs typeface="Aptos Display"/>
              </a:rPr>
              <a:t>Rights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E09AE4-2A97-4AC7-AC95-6DAD203E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57600"/>
            <a:ext cx="1485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labels, publishers,</a:t>
            </a:r>
          </a:p>
          <a:p xmlns:a="http://schemas.openxmlformats.org/drawingml/2006/main">
            <a:pPr algn="ctr">
              <a:defRPr sz="9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policy, litigation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6A370D-EFFF-41C2-A376-0CB6A16D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86350"/>
            <a:ext cx="4057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EF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414D66-4FB5-438B-BE5F-45428263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57800"/>
            <a:ext cx="1047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F06455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06455"/>
                </a:solidFill>
                <a:latin typeface="Aptos"/>
                <a:ea typeface="Aptos"/>
                <a:cs typeface="Aptos"/>
              </a:rPr>
              <a:t>Strategic read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C73932-D541-4DCF-93F8-8A0920A5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18160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5152"/>
          </a:bodyPr>
          <a:lstStyle xmlns:a="http://schemas.openxmlformats.org/drawingml/2006/main"/>
          <a:p xmlns:a="http://schemas.openxmlformats.org/drawingml/2006/main">
            <a:pPr algn="l">
              <a:defRPr sz="915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915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AI matters because it changes learner alternatives, practice utilities and licensed-building constraints at the same time.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C2FCF0-01E9-4B58-85B2-2D955A53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8" b="0" i="0">
                <a:solidFill>
                  <a:srgbClr val="819A93"/>
                </a:solidFill>
                <a:latin typeface="Aptos"/>
                <a:ea typeface="Aptos"/>
                <a:cs typeface="Aptos"/>
              </a:defRPr>
            </a:pPr>
            <a:r>
              <a:rPr sz="548" b="0" i="0">
                <a:solidFill>
                  <a:srgbClr val="819A93"/>
                </a:solidFill>
                <a:latin typeface="Aptos"/>
                <a:ea typeface="Aptos"/>
                <a:cs typeface="Aptos"/>
              </a:rPr>
              <a:t>Source: AI rows in market moves and source audit.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FDF826-F76E-440A-967D-3836375F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48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48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Yousician Strategic Environment Mapping</a:t>
            </a:r>
          </a:p>
        </p:txBody>
      </p:sp>
    </p:spTree>
    <p:extLst>
      <p:ext uri="{BB962C8B-B14F-4D97-AF65-F5344CB8AC3E}">
        <p14:creationId xmlns:p14="http://schemas.microsoft.com/office/powerpoint/2010/main" val="60487767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68C1FC-5B5F-4CD8-AC26-B57A4C4C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EF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59060-BF62-4A96-B961-2C4B930A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E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3D379-811C-4CA5-9513-58D74F77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5768E-6044-4A27-8E96-7BA699C8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8E35A-60F2-4254-A784-3A7D4670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05525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C0D4A-E6D0-4995-A7BC-87AED8B9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4BD2E-398B-4F60-BD7C-A67D87BC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00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98248-150D-446E-95BC-342F623E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08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CA10A-91EB-4B06-AD6C-D35D1676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17A35B-34B1-4AB4-BC64-D4D1A2AD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9575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540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540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AE619-4918-4AF8-A160-B1D89DCA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1" i="0">
                <a:solidFill>
                  <a:srgbClr val="11A392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11A392"/>
                </a:solidFill>
                <a:latin typeface="Aptos"/>
                <a:ea typeface="Aptos"/>
                <a:cs typeface="Aptos"/>
              </a:rPr>
              <a:t>MUSIC AS A HOBBY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31AC5-1F93-4A78-96AE-0525CA3C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8100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30" b="1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828FA2-5009-4126-A2AD-76DE2995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099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Music-as-a-hobby influence starts before a learner opens a lesson app.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9ED70-0059-48AD-A3DB-6C8B25A5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Discovery, instrument choice, repertoire and creation tools all shape demand around Yousician.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E75D75-1356-49B0-94B8-AA39F78D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104203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A43AF4-58F2-42FE-AA27-7829D1F2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00400"/>
            <a:ext cx="9601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D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35A17E-8B7F-4730-8ED0-4D9534F4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1619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D22ACB-DECD-40F6-B66A-807053A4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EC1BD1-A5E7-43DD-9B13-979E4429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914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DB88AE-02AA-481B-9B03-AA0F3481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38475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62C876-68EA-4579-A3E5-ADD48435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623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Discover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5604C6-EB36-450E-B6F7-D24766B6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6715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6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Attention creates desire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9C73F6-74B6-4A90-A52B-33A2F1B6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291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41DDF8-BB5B-49C0-A9EB-87F049F5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95775"/>
            <a:ext cx="971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510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TikTok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DD4CFF-D3FE-4310-9B90-373ECEAA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672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B259DA-3729-4548-B3C2-8A2903EC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33900"/>
            <a:ext cx="971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510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YouTube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986E1E-34F9-4CD5-AB7E-8F5CDE26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053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26DBCB-7173-40E2-8F99-180A7142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72025"/>
            <a:ext cx="971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510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Spotify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AF6F63-A0C4-495F-ACB7-BE60580B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4347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3C26D3-4DDB-42A6-B78E-9F49933D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10150"/>
            <a:ext cx="971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510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Artists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30BE82-03B8-44E7-B8C3-B853D015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33650"/>
            <a:ext cx="1619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07B928-7FA5-47DE-8DE2-CE5709F7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3365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34E33D-D0D3-437B-9E20-2261AEA4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14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52E384-6FCA-4737-9E25-7B96B46C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38475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B1E6F8-988A-481E-AEDC-ACA2F778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623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Choose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9A2C14-C187-4101-8818-4D1E3A58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6715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6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Access makes it real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E39E16-41F7-45D3-BC90-B5F5FBC6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2291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68E485-E3B5-4118-B81A-85902DF7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95775"/>
            <a:ext cx="971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510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Fender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D9A05E-85C8-4697-B489-ABA51A97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672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494045-7DAB-4B84-AD50-E2AF088B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33900"/>
            <a:ext cx="971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510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Gibson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227DE2-517A-47A5-A561-EB06190E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7053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4F60EA-B2FB-43AB-BB9D-E3B9102C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72025"/>
            <a:ext cx="971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510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Retailers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4C3470-6741-4529-985E-FB5B6CC5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94347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7863F7-D439-4808-9F2C-DD2455E1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010150"/>
            <a:ext cx="971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510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Creators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DCD2F1-385C-45A2-A722-D0D6B721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33650"/>
            <a:ext cx="1619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FF8"/>
          </a:solidFill>
          <a:ln xmlns:a="http://schemas.openxmlformats.org/drawingml/2006/main" w="9525">
            <a:solidFill>
              <a:srgbClr val="00D49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2186B7-B78D-4C30-B1E8-7D7FBC9B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3365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0018ACA-556C-43F7-A94E-BFD90187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914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DF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832505F-BCC0-4EA8-854F-AAFDBACB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38475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8D37E99-D82E-426C-8516-AA63CB0C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623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Learn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FF3158A-BCD0-42F6-8A0C-DE47B5E7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6715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6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Structure builds habit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C387760-EDDC-46B3-A8C7-0D71D934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2291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461883F-0EDC-4B4B-A737-CD50D707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295775"/>
            <a:ext cx="971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510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Yousician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6559B24-F9E0-4AA1-85FF-841FEEDC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672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9E7A95A-76D6-4B11-BDB5-ED06EB82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33900"/>
            <a:ext cx="971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510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Simply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C137A20-F4C2-490C-A291-D39231B9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7053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4B88EAA-B449-4D4A-B3E9-1EE806AF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772025"/>
            <a:ext cx="971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510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Teachers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663989F-DDCA-49C3-8950-FFE86DF0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4347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CC96316-0D2D-4DCE-B1E7-5BD5A02B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010150"/>
            <a:ext cx="971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510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Schools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2A0BBA8-D81C-4C16-829C-7F588A0F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33650"/>
            <a:ext cx="1619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103A7E7-D2A8-4700-90BC-8DE509D3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3365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67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6D2163D-67D7-44C1-A88E-10051669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914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67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05435C0-8E7B-4316-B4D6-84DBE60C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38475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BEA59F6-CBD5-4C06-A899-229BE31A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623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Play songs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94D6EEB-814D-4781-931B-5949D945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6715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6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Repertoire sustains practice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66C3F47-DB40-42A9-98BD-0634FE1B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291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6A9ADD0-3180-436D-94FA-9587DB7D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95775"/>
            <a:ext cx="971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510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Ultimate Guitar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A30FE75-815A-4ABF-B3CA-464B883D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672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4DB94C0-4C25-4C23-AFAD-7845E22E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33900"/>
            <a:ext cx="971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510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Songsterr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AAB8A41-A9E6-42F0-81D4-A6D0393C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053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3873D6E-AF98-47A8-AABA-C1289C43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72025"/>
            <a:ext cx="971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510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MuseScore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51742AE-7CB3-4B10-BCC0-08E64879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33650"/>
            <a:ext cx="1619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C38F0E0-E00A-49BD-9704-F7063BBB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3365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F3C3FC8-B0EE-4260-B183-43281BCD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14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6A94A27-8A07-4662-A213-091C2EA9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38475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9A511ED-7177-4FC5-916A-033499CE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623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Create/share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29E4831-BBAF-455D-9D38-1461D0F5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6715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6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Identity extends the hobby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9D7718F-CC32-4DB1-815C-742BD2E7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2291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113834D-0BCA-4D6F-9A02-0E12F801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95775"/>
            <a:ext cx="971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510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BandLab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6727CB9-4F91-484F-97AD-4E42A594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4672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47969C7-D3F9-4521-9246-4D3B59A6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33900"/>
            <a:ext cx="971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510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Splice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CDACE82-07FF-49F1-B942-0C15A384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7053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49F64B8-D7B3-4C3B-9688-FE5DB7CF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772025"/>
            <a:ext cx="971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510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GarageBand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B45AB88-122F-404A-80DC-C4D4759B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94347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396D947-DCC7-4161-A2ED-62A543A9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010150"/>
            <a:ext cx="971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510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AI tools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0D5275A-73CE-40C5-8CB4-8891C024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00700"/>
            <a:ext cx="8496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0370317-BE8A-4461-A507-C1D45D49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0070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9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E75434B-60F7-46B9-87D4-36CB47CD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7721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Answer to the brief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135E3F9-1E75-4EFF-996E-E0147639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705475"/>
            <a:ext cx="655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Music as a hobby is shaped by attention platforms, song demand, instrument access, creator tools and cultural moments as much as by formal learning products.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CE75FD6-8FCD-4C2E-B261-0DF069BF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8" b="0" i="0">
                <a:solidFill>
                  <a:srgbClr val="74837C"/>
                </a:solidFill>
                <a:latin typeface="Aptos"/>
                <a:ea typeface="Aptos"/>
                <a:cs typeface="Aptos"/>
              </a:defRPr>
            </a:pPr>
            <a:r>
              <a:rPr sz="548" b="0" i="0">
                <a:solidFill>
                  <a:srgbClr val="74837C"/>
                </a:solidFill>
                <a:latin typeface="Aptos"/>
                <a:ea typeface="Aptos"/>
                <a:cs typeface="Aptos"/>
              </a:rPr>
              <a:t>Source: media/cultural drivers, hobby software ecosystem and executive synthesis.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E3D1F81-3502-4916-9888-6FF5871B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48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548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Yousician Strategic Environment Mapping</a:t>
            </a:r>
          </a:p>
        </p:txBody>
      </p:sp>
    </p:spTree>
    <p:extLst>
      <p:ext uri="{BB962C8B-B14F-4D97-AF65-F5344CB8AC3E}">
        <p14:creationId xmlns:p14="http://schemas.microsoft.com/office/powerpoint/2010/main" val="171225819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890281-4547-496B-9938-5CD82B4D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EF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F3461-BAED-4CB1-9782-7DEAF728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E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B8F26-2A99-40D3-9030-F7060C2A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49AB1-BF98-41C5-A784-29E1954E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45BC2-B337-4B47-A6D3-715719BC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05525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D852C-6A9E-4997-A8F1-CD59EB10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FCEFB-98A7-4670-96E9-A829C0C4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00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30AD5-87F3-42DE-AF72-FABEC15A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08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9D82A-9CA8-4E04-9634-997F9756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CC9BC-CFE5-43C6-9FB6-96CA5928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9575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540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540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CB8F7-0E45-4465-B5EA-0BBAD991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1" i="0">
                <a:solidFill>
                  <a:srgbClr val="11A392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11A392"/>
                </a:solidFill>
                <a:latin typeface="Aptos"/>
                <a:ea typeface="Aptos"/>
                <a:cs typeface="Aptos"/>
              </a:rPr>
              <a:t>TRUST INFRASTRUCTURE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7E83F6-C1E5-4FA3-A794-4B0C524E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8100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30" b="1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2D2CE8-601B-404A-90F5-0F94DEA6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017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Teachers, creators and media are trust infrastructure.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0856AD-CFB1-4D8B-A609-097B006A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They are visible in the executive story because the brief explicitly asks for schools, education organizations, creators and cultural drivers.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FBF06A-41F3-42B0-88EA-FB8D7720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29527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0E1630-64C8-4BCA-9EEC-1E067BE2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2952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9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BF724F-6149-4C13-9ADF-279D123A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86050"/>
            <a:ext cx="781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42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11A392"/>
                </a:solidFill>
                <a:latin typeface="Aptos"/>
                <a:ea typeface="Aptos"/>
                <a:cs typeface="Aptos"/>
              </a:defRPr>
            </a:pPr>
            <a:r>
              <a:rPr sz="4050" b="1" i="0">
                <a:solidFill>
                  <a:srgbClr val="11A392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74AFF9-0522-4F73-80FD-ABF27F21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099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Education bodies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1F6CDA-8928-4384-870D-2C9F40AC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052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D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BDF5F3-8318-40C7-8CAE-F07745A2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3385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ABRSM, Trinity, RSL/Rockschool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0C7B1B-8AD7-42C2-9C19-610BF45E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33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Credentialing, curriculum and teacher/parent confidence.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38B347-D67C-476A-AF92-041AD031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86000"/>
            <a:ext cx="29527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F3B147-73AA-4702-A9FA-88DDB389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86000"/>
            <a:ext cx="2952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0A461D-6C30-43A4-A89F-05A8590C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86050"/>
            <a:ext cx="781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42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FBF3F"/>
                </a:solidFill>
                <a:latin typeface="Aptos"/>
                <a:ea typeface="Aptos"/>
                <a:cs typeface="Aptos"/>
              </a:defRPr>
            </a:pPr>
            <a:r>
              <a:rPr sz="4050" b="1" i="0">
                <a:solidFill>
                  <a:srgbClr val="FFBF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50D8EA-5CAC-4A1D-945B-A11C6C95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099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Creator educators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498286-E40D-4AEF-84D5-A338931B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052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D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70417F-D5A8-4F87-A868-9841EDBE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3385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JustinGuitar, Marty Music, Rick Beato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98EB75-E86A-45D2-8990-711E1FE0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33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Beginner trust, aspiration and technique discovery.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38B2C1-154F-4244-AE16-A113F13E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86000"/>
            <a:ext cx="29527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E99A26-504D-446C-9E49-7D35EBAA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86000"/>
            <a:ext cx="2952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0A3857-D7C2-4CDB-9BFE-46882D1F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86050"/>
            <a:ext cx="781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42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4C8DF6"/>
                </a:solidFill>
                <a:latin typeface="Aptos"/>
                <a:ea typeface="Aptos"/>
                <a:cs typeface="Aptos"/>
              </a:defRPr>
            </a:pPr>
            <a:r>
              <a:rPr sz="4050" b="1" i="0">
                <a:solidFill>
                  <a:srgbClr val="4C8DF6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4FC8C8-3F01-4015-81C1-860A7241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099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Media and culture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423213-6F2E-4566-A93D-7C59C30F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D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E4356F-7116-451A-B6A8-EF54338E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3385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TikTok, YouTube, Spotify, Guitar World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2FF45F-E754-4262-9F9C-41A45111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33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Demand creation, cultural relevance and repertoire pull.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E7B05D-87BC-465F-968F-9E4E4A02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8165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336C4C-7EF8-44CF-A4E1-A290B832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816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9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E3D9DD-AB4E-4F9A-8F03-E6CBA29E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340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9A572F-6CD1-4522-B637-EE83FDF9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686425"/>
            <a:ext cx="6629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Trust often forms outside the app: through teachers, creator educators, cultural media and the songs people already want to play.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F48197-7763-4873-A2AC-8B1C50EA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8" b="0" i="0">
                <a:solidFill>
                  <a:srgbClr val="74837C"/>
                </a:solidFill>
                <a:latin typeface="Aptos"/>
                <a:ea typeface="Aptos"/>
                <a:cs typeface="Aptos"/>
              </a:defRPr>
            </a:pPr>
            <a:r>
              <a:rPr sz="548" b="0" i="0">
                <a:solidFill>
                  <a:srgbClr val="74837C"/>
                </a:solidFill>
                <a:latin typeface="Aptos"/>
                <a:ea typeface="Aptos"/>
                <a:cs typeface="Aptos"/>
              </a:rPr>
              <a:t>Source: teachers/schools, influencers/creators and media/cultural-driver tables.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83BF28-0F71-4E6C-AD0E-EFE989C7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48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548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Yousician Strategic Environment Mapping</a:t>
            </a:r>
          </a:p>
        </p:txBody>
      </p:sp>
    </p:spTree>
    <p:extLst>
      <p:ext uri="{BB962C8B-B14F-4D97-AF65-F5344CB8AC3E}">
        <p14:creationId xmlns:p14="http://schemas.microsoft.com/office/powerpoint/2010/main" val="65367316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BA2C98-6CFC-4AB0-A5AF-38F64B58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EF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840B2-3CC6-4408-96E4-DC0BE4C6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E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6C4E9-9AD5-4A97-A1FA-78ED4065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0A096-4684-4F09-BECE-5FC5F1AD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4755D-DEAE-40C2-9CDD-498BB50D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05525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40E3D-F7AD-4103-ADAC-33B4C83F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83E85-236B-4E27-9B93-EE0ABB3F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00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7F11A-112C-422E-B9CC-FE8676E5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08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339B4-B8EC-4831-B4CF-DBCA1A81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2999D-0987-4C01-A76C-25B3742E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9575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540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540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4DDB96-92FE-49C4-A46A-785BD548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1" i="0">
                <a:solidFill>
                  <a:srgbClr val="11A392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11A392"/>
                </a:solidFill>
                <a:latin typeface="Aptos"/>
                <a:ea typeface="Aptos"/>
                <a:cs typeface="Aptos"/>
              </a:rPr>
              <a:t>CAPITAL AND RECOGNITION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2B77A-338B-45F7-B931-8BEFAD1F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8100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30" b="1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43240C-2749-456F-9FE4-8826E821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Investors, awards and funding are strategic-environment signals.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61D3F5-FACA-46CA-A5F2-C3BB9E4C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They should not be hidden in the appendix because the brief names them as ecosystem categories.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D81681-E733-4C53-B835-DA87171D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9696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F093CC-DD2F-4486-8C7C-F4BD5FBB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9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6A77DF-4512-466F-BFDE-EC1AC177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860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963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A32CA-DA46-4A2C-9F41-5B1EAFAB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860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Investors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4D0DB8-601D-4B8D-A241-A719B318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86000"/>
            <a:ext cx="3676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Menlo / Lightspeed / Matrix / Khosla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568A6D-CC4D-4921-A002-FF3933C4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33650"/>
            <a:ext cx="632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72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Capital follows AI, creator tools and education/consumer software momentum.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5429B3-4F9B-40A1-91D0-EAB20A46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9696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BB631A-2DBB-41A5-A31B-013BB160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9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0E74F2-E72B-48D5-A19E-D54FBCE4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963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BF3F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FFBF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262592-B80F-4A28-83FE-1DD0DCD0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909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Awards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1A6291-860D-46CE-B671-31575A86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90900"/>
            <a:ext cx="3676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Apple Design / Google Play / Webby / EdTech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85C235-F165-463B-AFC6-62D6D8A4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38550"/>
            <a:ext cx="632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72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Recognition can support credibility, app-store craft and executive proof.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71836A-BD60-4DBE-8C31-6A802884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9696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DEA679-3494-43E3-B44E-05201AD3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9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D924B8-34D2-462F-8375-7C54F34B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958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963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4C8DF6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4C8DF6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7B217A-CBC0-4C2D-87A8-362C5981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4958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Funding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E73306-22F4-4B96-8F64-B0F8D1B6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95800"/>
            <a:ext cx="3676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Business Finland / EIC / Horizon Europe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D721A5-71A6-42DA-A9C4-97A40F55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43450"/>
            <a:ext cx="632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72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Public and EU/Finland instruments matter for AI practice, R&amp;D and learning innovation projects.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32A965-DEA4-4C2C-B40C-55FAAF7F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5816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426EAD-3AAB-493E-9BE1-B2AAFD3D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58165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9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031164-5028-4209-959A-B645A068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7531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Strategic read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48ACD4-443E-4979-96A6-91B0489D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686425"/>
            <a:ext cx="701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Capital, awards and public funding are not side notes: they indicate where the market is rewarding AI, consumer learning, app craft and music-tech credibility.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7CD8AC-FBDD-4FF5-BC1A-F1B7369F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8" b="0" i="0">
                <a:solidFill>
                  <a:srgbClr val="74837C"/>
                </a:solidFill>
                <a:latin typeface="Aptos"/>
                <a:ea typeface="Aptos"/>
                <a:cs typeface="Aptos"/>
              </a:defRPr>
            </a:pPr>
            <a:r>
              <a:rPr sz="548" b="0" i="0">
                <a:solidFill>
                  <a:srgbClr val="74837C"/>
                </a:solidFill>
                <a:latin typeface="Aptos"/>
                <a:ea typeface="Aptos"/>
                <a:cs typeface="Aptos"/>
              </a:rPr>
              <a:t>Source: investors, awards and funding tables.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C0DA64-0041-42C3-8795-D0C2DB66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48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548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Yousician Strategic Environment Mapping</a:t>
            </a:r>
          </a:p>
        </p:txBody>
      </p:sp>
    </p:spTree>
    <p:extLst>
      <p:ext uri="{BB962C8B-B14F-4D97-AF65-F5344CB8AC3E}">
        <p14:creationId xmlns:p14="http://schemas.microsoft.com/office/powerpoint/2010/main" val="185428975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3D82E3-E1CE-4231-AB1A-08BAB126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EF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00DB9-7770-4F12-838B-698614B5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E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E404C-3ED6-4B44-94E2-FA171CBA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A2CD9-BFA5-4D50-A6AD-4211B3C7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A9E43-0685-449B-8463-D23DE0F8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05525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4FDAB-FCA4-467B-867E-56FCF8E8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0A2CED-FD5A-4E9A-83D2-DA23B498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00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277F9-0A30-43B3-8B0A-E8FF7D96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08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19541-1E59-4341-BD5A-223C9778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445EB-AFC8-412A-A689-800F4CD4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9575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540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540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E13FCE-69AA-4685-A053-9B87F39D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1" i="0">
                <a:solidFill>
                  <a:srgbClr val="11A392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11A392"/>
                </a:solidFill>
                <a:latin typeface="Aptos"/>
                <a:ea typeface="Aptos"/>
                <a:cs typeface="Aptos"/>
              </a:rPr>
              <a:t>KEY-PLAYER ONE-PAGERS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6D53B-7993-4102-86DE-33B86114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8100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30" b="1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0C9D21-2084-4D3B-B2FD-B336C833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Key-player profiles now follow the one-pager logic from the brief.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2360F-F30D-4FB4-A7C4-6AFE222A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952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Six highlighted profiles are formatted as decision-ready one-pager-style profiles in the report; the workbook keeps the full 28-player database.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A82DEE-DE0A-4AE9-8268-97CAC187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47625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5F73B2-DF11-431F-B8DF-9DE2182C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4762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E90383-F43F-4C0E-B0F0-A08CB94B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Simply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589D1B-C942-435F-84FB-D5123472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Direct learning benchmark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AAA006-7507-40D8-9325-B7F8EF99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1962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3"/>
          </a:solidFill>
          <a:ln xmlns:a="http://schemas.openxmlformats.org/drawingml/2006/main" w="9525">
            <a:solidFill>
              <a:srgbClr val="E3E8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B61B45-5944-416E-9705-EEFC0FD2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43275"/>
            <a:ext cx="838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8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548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What they 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4F2B6E-DDAD-4386-A139-D2C2AB5C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6710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Mobile-first beginner music-learning platform.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A12D3A-643E-43F2-80A7-132ACFEC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76600"/>
            <a:ext cx="1962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3"/>
          </a:solidFill>
          <a:ln xmlns:a="http://schemas.openxmlformats.org/drawingml/2006/main" w="9525">
            <a:solidFill>
              <a:srgbClr val="E3E8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E476CA-4BDE-4BE6-AC41-10CB5117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43275"/>
            <a:ext cx="838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8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548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Size / reach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A8E4EF-7B8B-41C2-AF6F-F9CF166D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6710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931"/>
          </a:bodyPr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Publicly visible consumer app; exact Appfigures pending.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C16FF2-037A-47F9-9306-CEC39793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1962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3"/>
          </a:solidFill>
          <a:ln xmlns:a="http://schemas.openxmlformats.org/drawingml/2006/main" w="9525">
            <a:solidFill>
              <a:srgbClr val="E3E8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437591-D019-4BF9-B2CD-AFA3F79D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76675"/>
            <a:ext cx="838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8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548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Ownership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8964C2-DA5D-431F-A094-DE18035E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Simply Ltd / JoyTunes context.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039C27-FE18-4986-86C3-9FEA925A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10000"/>
            <a:ext cx="1962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3"/>
          </a:solidFill>
          <a:ln xmlns:a="http://schemas.openxmlformats.org/drawingml/2006/main" w="9525">
            <a:solidFill>
              <a:srgbClr val="E3E8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921031-7F4B-452C-BCA0-8AC2D814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76675"/>
            <a:ext cx="838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8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548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AI / recent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93B7A4-23F1-4DBF-B710-B8D3F7A9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0050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881"/>
          </a:bodyPr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Personalization and feedback relevance to validate.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4A2A42-0BF2-4421-8225-3DD01111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1962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3"/>
          </a:solidFill>
          <a:ln xmlns:a="http://schemas.openxmlformats.org/drawingml/2006/main" w="9525">
            <a:solidFill>
              <a:srgbClr val="E3E8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85FA45-B5C5-44B9-B3A0-C56B86C5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0075"/>
            <a:ext cx="838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8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548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8759BF-F97C-4671-9CF0-C7285FA3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3390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Benchmark for onboarding, motivation and subscription learning.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EF301B-A5D1-4B32-B258-8A736126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43400"/>
            <a:ext cx="1962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3"/>
          </a:solidFill>
          <a:ln xmlns:a="http://schemas.openxmlformats.org/drawingml/2006/main" w="9525">
            <a:solidFill>
              <a:srgbClr val="E3E8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817D79-F261-44E0-A5C0-CB359A83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10075"/>
            <a:ext cx="838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8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548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Relationship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D94720-05AE-4AA4-9A19-3FEA08E7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3390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Prepared for Yousician owner input.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92ED99-DA5F-4CB7-B3D6-83DCE169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52650"/>
            <a:ext cx="47625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DF65FA-3C00-4A89-942A-0F6DCFA8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52650"/>
            <a:ext cx="4762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ACC201-41C1-4E11-B759-1000A57E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Suno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5CBE46-32DC-43A6-BDAA-597339C2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765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F06455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06455"/>
                </a:solidFill>
                <a:latin typeface="Aptos"/>
                <a:ea typeface="Aptos"/>
                <a:cs typeface="Aptos"/>
              </a:rPr>
              <a:t>AI creation signal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BF761C-78FA-4DC8-A9BD-F6FF3F6B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76600"/>
            <a:ext cx="1962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3"/>
          </a:solidFill>
          <a:ln xmlns:a="http://schemas.openxmlformats.org/drawingml/2006/main" w="9525">
            <a:solidFill>
              <a:srgbClr val="E3E8D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7B6747-5835-4A87-A884-D8BDC2B1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43275"/>
            <a:ext cx="838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8" b="1" i="0">
                <a:solidFill>
                  <a:srgbClr val="F06455"/>
                </a:solidFill>
                <a:latin typeface="Aptos"/>
                <a:ea typeface="Aptos"/>
                <a:cs typeface="Aptos"/>
              </a:defRPr>
            </a:pPr>
            <a:r>
              <a:rPr sz="548" b="1" i="0">
                <a:solidFill>
                  <a:srgbClr val="F06455"/>
                </a:solidFill>
                <a:latin typeface="Aptos"/>
                <a:ea typeface="Aptos"/>
                <a:cs typeface="Aptos"/>
              </a:rPr>
              <a:t>What they are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6190DC-F53E-44B5-8F8A-14A28734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6710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719"/>
          </a:bodyPr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AI music generation platform for complete songs.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7AA3F0-7AAA-42F7-A0AA-71EBB593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76600"/>
            <a:ext cx="1962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3"/>
          </a:solidFill>
          <a:ln xmlns:a="http://schemas.openxmlformats.org/drawingml/2006/main" w="9525">
            <a:solidFill>
              <a:srgbClr val="E3E8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45BD0A-1E4F-47AE-927D-4693F921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43275"/>
            <a:ext cx="838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8" b="1" i="0">
                <a:solidFill>
                  <a:srgbClr val="F06455"/>
                </a:solidFill>
                <a:latin typeface="Aptos"/>
                <a:ea typeface="Aptos"/>
                <a:cs typeface="Aptos"/>
              </a:defRPr>
            </a:pPr>
            <a:r>
              <a:rPr sz="548" b="1" i="0">
                <a:solidFill>
                  <a:srgbClr val="F06455"/>
                </a:solidFill>
                <a:latin typeface="Aptos"/>
                <a:ea typeface="Aptos"/>
                <a:cs typeface="Aptos"/>
              </a:rPr>
              <a:t>Size / reach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04FE74A-AC3C-4D51-B5A8-DECE1589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6710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More than $400M Series D; $5.4B valuation.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CED7B5-A2A8-4331-8D6D-065D4B7F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10000"/>
            <a:ext cx="1962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3"/>
          </a:solidFill>
          <a:ln xmlns:a="http://schemas.openxmlformats.org/drawingml/2006/main" w="9525">
            <a:solidFill>
              <a:srgbClr val="E3E8D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B240A93-4915-4A80-A69E-34F46CBE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76675"/>
            <a:ext cx="838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8" b="1" i="0">
                <a:solidFill>
                  <a:srgbClr val="F06455"/>
                </a:solidFill>
                <a:latin typeface="Aptos"/>
                <a:ea typeface="Aptos"/>
                <a:cs typeface="Aptos"/>
              </a:defRPr>
            </a:pPr>
            <a:r>
              <a:rPr sz="548" b="1" i="0">
                <a:solidFill>
                  <a:srgbClr val="F06455"/>
                </a:solidFill>
                <a:latin typeface="Aptos"/>
                <a:ea typeface="Aptos"/>
                <a:cs typeface="Aptos"/>
              </a:rPr>
              <a:t>Ownership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9BB85B-4142-40AC-AF30-45830C10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0050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Private; Bond Capital-led Series D.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3F583F8-8776-4672-AC70-5FD0CE8F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10000"/>
            <a:ext cx="1962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3"/>
          </a:solidFill>
          <a:ln xmlns:a="http://schemas.openxmlformats.org/drawingml/2006/main" w="9525">
            <a:solidFill>
              <a:srgbClr val="E3E8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88C132A-967C-486F-B1F4-297DAE31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76675"/>
            <a:ext cx="838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8" b="1" i="0">
                <a:solidFill>
                  <a:srgbClr val="F06455"/>
                </a:solidFill>
                <a:latin typeface="Aptos"/>
                <a:ea typeface="Aptos"/>
                <a:cs typeface="Aptos"/>
              </a:defRPr>
            </a:pPr>
            <a:r>
              <a:rPr sz="548" b="1" i="0">
                <a:solidFill>
                  <a:srgbClr val="F06455"/>
                </a:solidFill>
                <a:latin typeface="Aptos"/>
                <a:ea typeface="Aptos"/>
                <a:cs typeface="Aptos"/>
              </a:rPr>
              <a:t>AI / recent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96A5811-642F-49BF-AEF7-C0922E57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0050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Core prompt-based music generation.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C700B63-68C1-4112-B89E-A00E3B99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43400"/>
            <a:ext cx="1962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3"/>
          </a:solidFill>
          <a:ln xmlns:a="http://schemas.openxmlformats.org/drawingml/2006/main" w="9525">
            <a:solidFill>
              <a:srgbClr val="E3E8D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E618847-E04E-44A1-AE1E-9B856F39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10075"/>
            <a:ext cx="838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8" b="1" i="0">
                <a:solidFill>
                  <a:srgbClr val="F06455"/>
                </a:solidFill>
                <a:latin typeface="Aptos"/>
                <a:ea typeface="Aptos"/>
                <a:cs typeface="Aptos"/>
              </a:defRPr>
            </a:pPr>
            <a:r>
              <a:rPr sz="548" b="1" i="0">
                <a:solidFill>
                  <a:srgbClr val="F06455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549B595-1EE1-4DEF-93D0-ED65C92D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3390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19"/>
          </a:bodyPr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Changes what casual music participation can mean.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D86C71C-6B28-4B12-8C32-39B98B0E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43400"/>
            <a:ext cx="1962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3"/>
          </a:solidFill>
          <a:ln xmlns:a="http://schemas.openxmlformats.org/drawingml/2006/main" w="9525">
            <a:solidFill>
              <a:srgbClr val="E3E8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D94BF0C-7D46-48A4-AEC8-88683DCD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10075"/>
            <a:ext cx="838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8" b="1" i="0">
                <a:solidFill>
                  <a:srgbClr val="F06455"/>
                </a:solidFill>
                <a:latin typeface="Aptos"/>
                <a:ea typeface="Aptos"/>
                <a:cs typeface="Aptos"/>
              </a:defRPr>
            </a:pPr>
            <a:r>
              <a:rPr sz="548" b="1" i="0">
                <a:solidFill>
                  <a:srgbClr val="F06455"/>
                </a:solidFill>
                <a:latin typeface="Aptos"/>
                <a:ea typeface="Aptos"/>
                <a:cs typeface="Aptos"/>
              </a:rPr>
              <a:t>Relationship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52DDC44-00B3-4F29-8527-CBD29811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3390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Prepared for Yousician owner input.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3072621-16C5-4875-A2C3-64CFE608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768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65D3DC6-F753-462F-9389-3CB2F1EF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43525"/>
            <a:ext cx="1028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548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Simply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D26B743-A85F-4CBC-803D-62DD811C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768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7D81500-57CC-45A5-AC01-C0DB307D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343525"/>
            <a:ext cx="1028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548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Ultimate Guitar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BE06304-3A05-4676-84CC-93B3E0C1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768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00715B8-89C2-4324-B7F4-9D8BB535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343525"/>
            <a:ext cx="1028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548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Suno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B916236-3805-4955-8461-63EA060D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768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7F5D146-CC6D-42D9-8254-D455C80F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43525"/>
            <a:ext cx="1028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548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Moises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500FEA1-9F69-4F91-8DC3-7AE1F753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2768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5655322-1315-47B0-8B7D-C2F785EF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43525"/>
            <a:ext cx="1028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548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Fender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C295341-634F-4CE4-AD66-FC29D6CE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768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B19DA2E-19FE-486F-AA40-F9BD898E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343525"/>
            <a:ext cx="1028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 i="0">
                <a:solidFill>
                  <a:srgbClr val="1F5A4E"/>
                </a:solidFill>
                <a:latin typeface="Aptos"/>
                <a:ea typeface="Aptos"/>
                <a:cs typeface="Aptos"/>
              </a:defRPr>
            </a:pPr>
            <a:r>
              <a:rPr sz="548" b="1" i="0">
                <a:solidFill>
                  <a:srgbClr val="1F5A4E"/>
                </a:solidFill>
                <a:latin typeface="Aptos"/>
                <a:ea typeface="Aptos"/>
                <a:cs typeface="Aptos"/>
              </a:rPr>
              <a:t>BandLab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35918FD-0BA4-40D6-9740-35C4EF3D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00700"/>
            <a:ext cx="8839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658D64F-8AD3-4351-B89C-0815C32C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007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9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42BE5A8-E4F1-43E2-B0FE-3C860BC4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74357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Section design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283893E-35DF-4C92-A26C-D80F5753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705475"/>
            <a:ext cx="689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Report: six brief-style highlight profiles. Workbook: all 28 profiles with description, reach, ownership, AI/recent initiatives, relationship and strategic assessment fields.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77EE906-0C1F-4B91-B6E7-4ACF05E6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8" b="0" i="0">
                <a:solidFill>
                  <a:srgbClr val="74837C"/>
                </a:solidFill>
                <a:latin typeface="Aptos"/>
                <a:ea typeface="Aptos"/>
                <a:cs typeface="Aptos"/>
              </a:defRPr>
            </a:pPr>
            <a:r>
              <a:rPr sz="548" b="0" i="0">
                <a:solidFill>
                  <a:srgbClr val="74837C"/>
                </a:solidFill>
                <a:latin typeface="Aptos"/>
                <a:ea typeface="Aptos"/>
                <a:cs typeface="Aptos"/>
              </a:rPr>
              <a:t>Source: key-player profiles final v3.9 and relationship input template.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888C413-6152-4136-B978-789E4DE9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48" b="0" i="0">
                <a:solidFill>
                  <a:srgbClr val="5F7068"/>
                </a:solidFill>
                <a:latin typeface="Aptos"/>
                <a:ea typeface="Aptos"/>
                <a:cs typeface="Aptos"/>
              </a:defRPr>
            </a:pPr>
            <a:r>
              <a:rPr sz="548" b="0" i="0">
                <a:solidFill>
                  <a:srgbClr val="5F7068"/>
                </a:solidFill>
                <a:latin typeface="Aptos"/>
                <a:ea typeface="Aptos"/>
                <a:cs typeface="Aptos"/>
              </a:rPr>
              <a:t>Yousician Strategic Environment Mapping</a:t>
            </a:r>
          </a:p>
        </p:txBody>
      </p:sp>
    </p:spTree>
    <p:extLst>
      <p:ext uri="{BB962C8B-B14F-4D97-AF65-F5344CB8AC3E}">
        <p14:creationId xmlns:p14="http://schemas.microsoft.com/office/powerpoint/2010/main" val="42886749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7DC5A9-5E20-4D5A-AF27-DC33E0BD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3147C-2FE0-4288-8BF2-5731A5B0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B3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4ACE1-B691-4BEC-8F00-0128735D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3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CF170-F01D-4A01-8791-01A501A6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3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4D579-097C-4D69-B323-46223F40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05525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3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D6F16-FEA5-43C8-A7F1-4C18FE55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3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DD104-F550-4C70-9D56-09AC439D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48873-622A-4298-AA32-35787599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9575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540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540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EA130-5E3A-4E24-9ADE-7AC7E82F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EXECUTIVE SYNTHESIS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94A17-00AD-4D60-9DAE-9AB77FE8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8100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30" b="1" i="0">
                <a:solidFill>
                  <a:srgbClr val="B8CCC5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B8CCC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35543A-92A2-49BC-A6DD-ABC7BE5E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Bottom line: Yousician's environment is broader than the app category.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4AB61-EB15-4A63-A0E6-55D2E669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ED1C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ED1CA"/>
                </a:solidFill>
                <a:latin typeface="Aptos"/>
                <a:ea typeface="Aptos"/>
                <a:cs typeface="Aptos"/>
              </a:rPr>
              <a:t>The strategic field is shaped by learning apps, song and practice ecosystems, AI utilities, creator trust, hardware funnels, capital and culture.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7FBF34-8B0D-4591-9E4E-BAC467C4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4343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80B826-2ECC-4737-BD7B-7082A702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9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ADBA07-A5A4-4D6B-B1D2-51F0D4D5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336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D49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00D49A"/>
                </a:solidFill>
                <a:latin typeface="Aptos Display"/>
                <a:ea typeface="Aptos Display"/>
                <a:cs typeface="Aptos Display"/>
              </a:rPr>
              <a:t>Music learning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B390D-2F63-45AF-8B9D-78A3E6D5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1460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0" i="0">
                <a:solidFill>
                  <a:srgbClr val="D6E4DE"/>
                </a:solidFill>
                <a:latin typeface="Aptos"/>
                <a:ea typeface="Aptos"/>
                <a:cs typeface="Aptos"/>
              </a:defRPr>
            </a:pPr>
            <a:r>
              <a:rPr sz="735" b="0" i="0">
                <a:solidFill>
                  <a:srgbClr val="D6E4DE"/>
                </a:solidFill>
                <a:latin typeface="Aptos"/>
                <a:ea typeface="Aptos"/>
                <a:cs typeface="Aptos"/>
              </a:rPr>
              <a:t>Learning apps, song/practice systems, AI utilities, hardware funnels, teachers and creator educators shape the future.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FC87BF-210B-4F9D-A7DA-E0AF154D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43150"/>
            <a:ext cx="4343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F59B1F-7DFC-4558-BD8F-9407609D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43150"/>
            <a:ext cx="9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18C9D5-3F94-4BFC-A885-AE1D171A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0645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06455"/>
                </a:solidFill>
                <a:latin typeface="Aptos Display"/>
                <a:ea typeface="Aptos Display"/>
                <a:cs typeface="Aptos Display"/>
              </a:rPr>
              <a:t>Successful actors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190E8C-0F16-402E-9398-A84A40D9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1460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128"/>
          </a:bodyPr>
          <a:lstStyle xmlns:a="http://schemas.openxmlformats.org/drawingml/2006/main"/>
          <a:p xmlns:a="http://schemas.openxmlformats.org/drawingml/2006/main">
            <a:pPr algn="l">
              <a:defRPr sz="735" b="0" i="0">
                <a:solidFill>
                  <a:srgbClr val="D6E4DE"/>
                </a:solidFill>
                <a:latin typeface="Aptos"/>
                <a:ea typeface="Aptos"/>
                <a:cs typeface="Aptos"/>
              </a:defRPr>
            </a:pPr>
            <a:r>
              <a:rPr sz="735" b="0" i="0">
                <a:solidFill>
                  <a:srgbClr val="D6E4DE"/>
                </a:solidFill>
                <a:latin typeface="Aptos"/>
                <a:ea typeface="Aptos"/>
                <a:cs typeface="Aptos"/>
              </a:rPr>
              <a:t>Success is visible through habit, repertoire, trust, reach, utility and momentum; app-performance ranking requires Appfigures.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DBE0E2-A188-4E0E-A211-C2698285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4343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CADC64-68EA-47C4-A7A4-768648EC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9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381528-763A-4602-91BA-0120C7DD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862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BF3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FBF3F"/>
                </a:solidFill>
                <a:latin typeface="Aptos Display"/>
                <a:ea typeface="Aptos Display"/>
                <a:cs typeface="Aptos Display"/>
              </a:rPr>
              <a:t>Music as a hobby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9D555F-552F-4EA4-BD6F-BAB906EC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6715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179"/>
          </a:bodyPr>
          <a:lstStyle xmlns:a="http://schemas.openxmlformats.org/drawingml/2006/main"/>
          <a:p xmlns:a="http://schemas.openxmlformats.org/drawingml/2006/main">
            <a:pPr algn="l">
              <a:defRPr sz="735" b="0" i="0">
                <a:solidFill>
                  <a:srgbClr val="D6E4DE"/>
                </a:solidFill>
                <a:latin typeface="Aptos"/>
                <a:ea typeface="Aptos"/>
                <a:cs typeface="Aptos"/>
              </a:defRPr>
            </a:pPr>
            <a:r>
              <a:rPr sz="735" b="0" i="0">
                <a:solidFill>
                  <a:srgbClr val="D6E4DE"/>
                </a:solidFill>
                <a:latin typeface="Aptos"/>
                <a:ea typeface="Aptos"/>
                <a:cs typeface="Aptos"/>
              </a:rPr>
              <a:t>Attention platforms, song libraries, creator tools, artists and cultural moments shape demand around learning.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4CA686-F09F-4226-9645-AF71BFAC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95700"/>
            <a:ext cx="4343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5E75F4-3DC3-425F-AF08-A564416F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95700"/>
            <a:ext cx="9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637C31-6E44-4278-A5CC-DE295DC4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862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942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4C8DF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4C8DF6"/>
                </a:solidFill>
                <a:latin typeface="Aptos Display"/>
                <a:ea typeface="Aptos Display"/>
                <a:cs typeface="Aptos Display"/>
              </a:rPr>
              <a:t>Strategic environment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41F8B5-A86A-4316-999C-59DF65A6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6715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defRPr sz="735" b="0" i="0">
                <a:solidFill>
                  <a:srgbClr val="D6E4DE"/>
                </a:solidFill>
                <a:latin typeface="Aptos"/>
                <a:ea typeface="Aptos"/>
                <a:cs typeface="Aptos"/>
              </a:defRPr>
            </a:pPr>
            <a:r>
              <a:rPr sz="735" b="0" i="0">
                <a:solidFill>
                  <a:srgbClr val="D6E4DE"/>
                </a:solidFill>
                <a:latin typeface="Aptos"/>
                <a:ea typeface="Aptos"/>
                <a:cs typeface="Aptos"/>
              </a:rPr>
              <a:t>AI companies, rights owners, hardware brands, media, investors, awards, funding bodies and education standards define the wider field.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75DAEF-AEA2-446C-9C87-736F60EC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91150"/>
            <a:ext cx="9448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EF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EF26A1-D431-4EDC-B69C-9FF1AC6D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81650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1" i="0">
                <a:solidFill>
                  <a:srgbClr val="11A392"/>
                </a:solidFill>
                <a:latin typeface="Aptos"/>
                <a:ea typeface="Aptos"/>
                <a:cs typeface="Aptos"/>
              </a:defRPr>
            </a:pPr>
            <a:r>
              <a:rPr sz="765" b="1" i="0">
                <a:solidFill>
                  <a:srgbClr val="11A392"/>
                </a:solidFill>
                <a:latin typeface="Aptos"/>
                <a:ea typeface="Aptos"/>
                <a:cs typeface="Aptos"/>
              </a:rPr>
              <a:t>Only open inputs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8E5219-77A5-4461-BF7F-A95C72AD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495925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3774"/>
          </a:bodyPr>
          <a:lstStyle xmlns:a="http://schemas.openxmlformats.org/drawingml/2006/main"/>
          <a:p xmlns:a="http://schemas.openxmlformats.org/drawingml/2006/main">
            <a:pPr algn="l">
              <a:defRPr sz="945" b="1" i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945" b="1" i="0">
                <a:solidFill>
                  <a:srgbClr val="10231F"/>
                </a:solidFill>
                <a:latin typeface="Aptos"/>
                <a:ea typeface="Aptos"/>
                <a:cs typeface="Aptos"/>
              </a:rPr>
              <a:t>App-performance ranking needs Appfigures; relationship status remains for Yousician owner input. The market map itself is ready for first read.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DBE917-9CB5-44AF-B584-C742F54D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8" b="0" i="0">
                <a:solidFill>
                  <a:srgbClr val="819A93"/>
                </a:solidFill>
                <a:latin typeface="Aptos"/>
                <a:ea typeface="Aptos"/>
                <a:cs typeface="Aptos"/>
              </a:defRPr>
            </a:pPr>
            <a:r>
              <a:rPr sz="548" b="0" i="0">
                <a:solidFill>
                  <a:srgbClr val="819A93"/>
                </a:solidFill>
                <a:latin typeface="Aptos"/>
                <a:ea typeface="Aptos"/>
                <a:cs typeface="Aptos"/>
              </a:rPr>
              <a:t>Source: executive synthesis and brief-aligned category coverage.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0885C4-93C0-41D8-8D31-53A796C5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48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48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Yousician Strategic Environment Mapping</a:t>
            </a:r>
          </a:p>
        </p:txBody>
      </p:sp>
    </p:spTree>
    <p:extLst>
      <p:ext uri="{BB962C8B-B14F-4D97-AF65-F5344CB8AC3E}">
        <p14:creationId xmlns:p14="http://schemas.microsoft.com/office/powerpoint/2010/main" val="8456326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2026-06-14T13:06:45.5710000Z</dcterms:created>
  <dcterms:modified xsi:type="dcterms:W3CDTF">2026-06-14T13:06:45.5710000Z</dcterms:modified>
</coreProperties>
</file>