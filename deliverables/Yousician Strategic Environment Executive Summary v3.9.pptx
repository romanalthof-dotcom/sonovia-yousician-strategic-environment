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21f694ea19a4c42" /><Relationship Type="http://schemas.openxmlformats.org/officeDocument/2006/relationships/extended-properties" Target="/docProps/app.xml" Id="R087dd97ee8e04fa9" /><Relationship Type="http://schemas.openxmlformats.org/officeDocument/2006/relationships/officeDocument" Target="/ppt/presentation.xml" Id="R9cde6ac9b0f941f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925ef147e84786"/>
  </p:sldMasterIdLst>
  <p:notesMasterIdLst>
    <p:notesMasterId xmlns:r="http://schemas.openxmlformats.org/officeDocument/2006/relationships" r:id="R42ba6d573eaf4d57"/>
  </p:notesMasterIdLst>
  <p:sldIdLst>
    <p:sldId xmlns:r="http://schemas.openxmlformats.org/officeDocument/2006/relationships" id="256" r:id="R71aea22183e7469d"/>
    <p:sldId xmlns:r="http://schemas.openxmlformats.org/officeDocument/2006/relationships" id="257" r:id="R8ac3234caeba4d9d"/>
    <p:sldId xmlns:r="http://schemas.openxmlformats.org/officeDocument/2006/relationships" id="258" r:id="R5acf813f6e5a43d6"/>
    <p:sldId xmlns:r="http://schemas.openxmlformats.org/officeDocument/2006/relationships" id="259" r:id="Ra3b48b0268d5445a"/>
    <p:sldId xmlns:r="http://schemas.openxmlformats.org/officeDocument/2006/relationships" id="260" r:id="R26fb308cc8214fe2"/>
    <p:sldId xmlns:r="http://schemas.openxmlformats.org/officeDocument/2006/relationships" id="261" r:id="R82315240c6ab4710"/>
    <p:sldId xmlns:r="http://schemas.openxmlformats.org/officeDocument/2006/relationships" id="262" r:id="Reab61715264d4d35"/>
    <p:sldId xmlns:r="http://schemas.openxmlformats.org/officeDocument/2006/relationships" id="263" r:id="R33388674b9b94500"/>
    <p:sldId xmlns:r="http://schemas.openxmlformats.org/officeDocument/2006/relationships" id="264" r:id="Rdd86dfe8897d4216"/>
    <p:sldId xmlns:r="http://schemas.openxmlformats.org/officeDocument/2006/relationships" id="265" r:id="R2ee20d4a37fc465c"/>
    <p:sldId xmlns:r="http://schemas.openxmlformats.org/officeDocument/2006/relationships" id="266" r:id="R76ddf496c8e54653"/>
    <p:sldId xmlns:r="http://schemas.openxmlformats.org/officeDocument/2006/relationships" id="267" r:id="R4ab9d342283b48d0"/>
    <p:sldId xmlns:r="http://schemas.openxmlformats.org/officeDocument/2006/relationships" id="268" r:id="Rcff01d2d1d18404f"/>
    <p:sldId xmlns:r="http://schemas.openxmlformats.org/officeDocument/2006/relationships" id="269" r:id="R7f8191ace9bf45aa"/>
    <p:sldId xmlns:r="http://schemas.openxmlformats.org/officeDocument/2006/relationships" id="270" r:id="R570993cce3d44eb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45107386ae4699" /><Relationship Type="http://schemas.openxmlformats.org/officeDocument/2006/relationships/slideMaster" Target="/ppt/slideMasters/slideMaster1.xml" Id="R77925ef147e84786" /><Relationship Type="http://schemas.openxmlformats.org/officeDocument/2006/relationships/notesMaster" Target="/ppt/notesMasters/notesMaster1.xml" Id="R42ba6d573eaf4d57" /><Relationship Type="http://schemas.openxmlformats.org/officeDocument/2006/relationships/presProps" Target="/ppt/presProps.xml" Id="R1e59868959e346ab" /><Relationship Type="http://schemas.openxmlformats.org/officeDocument/2006/relationships/tableStyles" Target="/ppt/tableStyles.xml" Id="Rca8e6dca2f5a4c4c" /><Relationship Type="http://schemas.openxmlformats.org/officeDocument/2006/relationships/slide" Target="/ppt/slides/slide1.xml" Id="R71aea22183e7469d" /><Relationship Type="http://schemas.openxmlformats.org/officeDocument/2006/relationships/slide" Target="/ppt/slides/slide2.xml" Id="R8ac3234caeba4d9d" /><Relationship Type="http://schemas.openxmlformats.org/officeDocument/2006/relationships/slide" Target="/ppt/slides/slide3.xml" Id="R5acf813f6e5a43d6" /><Relationship Type="http://schemas.openxmlformats.org/officeDocument/2006/relationships/slide" Target="/ppt/slides/slide4.xml" Id="Ra3b48b0268d5445a" /><Relationship Type="http://schemas.openxmlformats.org/officeDocument/2006/relationships/slide" Target="/ppt/slides/slide5.xml" Id="R26fb308cc8214fe2" /><Relationship Type="http://schemas.openxmlformats.org/officeDocument/2006/relationships/slide" Target="/ppt/slides/slide6.xml" Id="R82315240c6ab4710" /><Relationship Type="http://schemas.openxmlformats.org/officeDocument/2006/relationships/slide" Target="/ppt/slides/slide7.xml" Id="Reab61715264d4d35" /><Relationship Type="http://schemas.openxmlformats.org/officeDocument/2006/relationships/slide" Target="/ppt/slides/slide8.xml" Id="R33388674b9b94500" /><Relationship Type="http://schemas.openxmlformats.org/officeDocument/2006/relationships/slide" Target="/ppt/slides/slide9.xml" Id="Rdd86dfe8897d4216" /><Relationship Type="http://schemas.openxmlformats.org/officeDocument/2006/relationships/slide" Target="/ppt/slides/slide10.xml" Id="R2ee20d4a37fc465c" /><Relationship Type="http://schemas.openxmlformats.org/officeDocument/2006/relationships/slide" Target="/ppt/slides/slide11.xml" Id="R76ddf496c8e54653" /><Relationship Type="http://schemas.openxmlformats.org/officeDocument/2006/relationships/slide" Target="/ppt/slides/slide12.xml" Id="R4ab9d342283b48d0" /><Relationship Type="http://schemas.openxmlformats.org/officeDocument/2006/relationships/slide" Target="/ppt/slides/slide13.xml" Id="Rcff01d2d1d18404f" /><Relationship Type="http://schemas.openxmlformats.org/officeDocument/2006/relationships/slide" Target="/ppt/slides/slide14.xml" Id="R7f8191ace9bf45aa" /><Relationship Type="http://schemas.openxmlformats.org/officeDocument/2006/relationships/slide" Target="/ppt/slides/slide15.xml" Id="R570993cce3d44e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79f0671c2a46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5e1332eea347ea" /><Relationship Type="http://schemas.openxmlformats.org/officeDocument/2006/relationships/notesMaster" Target="/ppt/notesMasters/notesMaster1.xml" Id="R2de7568bcb7641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9af5ab0faf4801" /><Relationship Type="http://schemas.openxmlformats.org/officeDocument/2006/relationships/notesMaster" Target="/ppt/notesMasters/notesMaster1.xml" Id="R94613012037c4ca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1b74005c884e3f" /><Relationship Type="http://schemas.openxmlformats.org/officeDocument/2006/relationships/notesMaster" Target="/ppt/notesMasters/notesMaster1.xml" Id="R46d50726f9e040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9d8a6bd7e3471d" /><Relationship Type="http://schemas.openxmlformats.org/officeDocument/2006/relationships/notesMaster" Target="/ppt/notesMasters/notesMaster1.xml" Id="Ra64e37166eef46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4c9969bc624bfa" /><Relationship Type="http://schemas.openxmlformats.org/officeDocument/2006/relationships/notesMaster" Target="/ppt/notesMasters/notesMaster1.xml" Id="R51f8b191c5f447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a66420476f4982" /><Relationship Type="http://schemas.openxmlformats.org/officeDocument/2006/relationships/notesMaster" Target="/ppt/notesMasters/notesMaster1.xml" Id="R39ede8ff2b4f4b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1b5dd7ddc1465b" /><Relationship Type="http://schemas.openxmlformats.org/officeDocument/2006/relationships/notesMaster" Target="/ppt/notesMasters/notesMaster1.xml" Id="R29ad0a835ed64e3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db44fbd7664f8a" /><Relationship Type="http://schemas.openxmlformats.org/officeDocument/2006/relationships/notesMaster" Target="/ppt/notesMasters/notesMaster1.xml" Id="R7adbec1012b04e4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beefead0ac43b2" /><Relationship Type="http://schemas.openxmlformats.org/officeDocument/2006/relationships/notesMaster" Target="/ppt/notesMasters/notesMaster1.xml" Id="Ree402f286044461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aef6c5ea224430" /><Relationship Type="http://schemas.openxmlformats.org/officeDocument/2006/relationships/notesMaster" Target="/ppt/notesMasters/notesMaster1.xml" Id="R46f3f3a7e7af4e8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717fa77e5b14015" /><Relationship Type="http://schemas.openxmlformats.org/officeDocument/2006/relationships/notesMaster" Target="/ppt/notesMasters/notesMaster1.xml" Id="R069e9834cbbf43d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72a3a5351024e1f" /><Relationship Type="http://schemas.openxmlformats.org/officeDocument/2006/relationships/notesMaster" Target="/ppt/notesMasters/notesMaster1.xml" Id="R5ab2b4363e16478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029adc53047456f" /><Relationship Type="http://schemas.openxmlformats.org/officeDocument/2006/relationships/notesMaster" Target="/ppt/notesMasters/notesMaster1.xml" Id="Rf7730bc6686d4fb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26a62b3ee724bb4" /><Relationship Type="http://schemas.openxmlformats.org/officeDocument/2006/relationships/notesMaster" Target="/ppt/notesMasters/notesMaster1.xml" Id="Rd3397d388c5a40e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1ff6785d4ba4e9e" /><Relationship Type="http://schemas.openxmlformats.org/officeDocument/2006/relationships/notesMaster" Target="/ppt/notesMasters/notesMaster1.xml" Id="R70279b57240c41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4e115d11b542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e5075ddbec490a" /><Relationship Type="http://schemas.openxmlformats.org/officeDocument/2006/relationships/slideLayout" Target="/ppt/slideLayouts/slideLayout1.xml" Id="Re5642dd0eed54e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642dd0eed54e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a143aa98ee4bad" /><Relationship Type="http://schemas.openxmlformats.org/officeDocument/2006/relationships/notesSlide" Target="/ppt/notesSlides/notesSlide1.xml" Id="Rdd1f99d7330944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e61af8320c4eeb" /><Relationship Type="http://schemas.openxmlformats.org/officeDocument/2006/relationships/notesSlide" Target="/ppt/notesSlides/notesSlide2.xml" Id="Reb0b6d2e4cec48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d5b19481414b61" /><Relationship Type="http://schemas.openxmlformats.org/officeDocument/2006/relationships/notesSlide" Target="/ppt/notesSlides/notesSlide3.xml" Id="R67e33ef330654e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f3c61908834da5" /><Relationship Type="http://schemas.openxmlformats.org/officeDocument/2006/relationships/notesSlide" Target="/ppt/notesSlides/notesSlide4.xml" Id="R0e862ce68bfe40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a0d65e38c54693" /><Relationship Type="http://schemas.openxmlformats.org/officeDocument/2006/relationships/notesSlide" Target="/ppt/notesSlides/notesSlide5.xml" Id="R0d5bc78f4c9d4b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c8f7d7a8d64de6" /><Relationship Type="http://schemas.openxmlformats.org/officeDocument/2006/relationships/notesSlide" Target="/ppt/notesSlides/notesSlide6.xml" Id="R62b806d016d24e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87d688094e457b" /><Relationship Type="http://schemas.openxmlformats.org/officeDocument/2006/relationships/notesSlide" Target="/ppt/notesSlides/notesSlide7.xml" Id="Re9820463a42d4e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97bfa21412454f" /><Relationship Type="http://schemas.openxmlformats.org/officeDocument/2006/relationships/notesSlide" Target="/ppt/notesSlides/notesSlide8.xml" Id="Rce7f73a89aeb457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419a1682b431a" /><Relationship Type="http://schemas.openxmlformats.org/officeDocument/2006/relationships/notesSlide" Target="/ppt/notesSlides/notesSlide9.xml" Id="R14e40002bcf94e2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0b1e34f21245ce" /><Relationship Type="http://schemas.openxmlformats.org/officeDocument/2006/relationships/notesSlide" Target="/ppt/notesSlides/notesSlide10.xml" Id="R3c958a191e2d45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1f7c52eb904a06" /><Relationship Type="http://schemas.openxmlformats.org/officeDocument/2006/relationships/notesSlide" Target="/ppt/notesSlides/notesSlide11.xml" Id="R98e1a88fcc954d4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3af71884fe4330" /><Relationship Type="http://schemas.openxmlformats.org/officeDocument/2006/relationships/notesSlide" Target="/ppt/notesSlides/notesSlide12.xml" Id="R13fa8870d6a74db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11406cfee4d0e" /><Relationship Type="http://schemas.openxmlformats.org/officeDocument/2006/relationships/notesSlide" Target="/ppt/notesSlides/notesSlide13.xml" Id="Rf6baa7bef75746e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073a69b339447d" /><Relationship Type="http://schemas.openxmlformats.org/officeDocument/2006/relationships/notesSlide" Target="/ppt/notesSlides/notesSlide14.xml" Id="R19cfa39474ba491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d82c43d32a4bf7" /><Relationship Type="http://schemas.openxmlformats.org/officeDocument/2006/relationships/notesSlide" Target="/ppt/notesSlides/notesSlide15.xml" Id="Rf364b10222d84f6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D8A858-8A6C-47EE-B8C0-0C275072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58F26-7E35-416A-9D8C-8A2EDF4C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ED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E47AEF-977D-472C-9DE8-FD38B162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B4AD1-2AAC-4345-9C5C-71C16AC4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173BC-99AE-475C-92A9-3104B926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1AF752-E643-484D-A5EC-6DC79B2BF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C591DF-AA05-4F6D-8A74-08C28868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000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B79404-7D74-4297-BBF6-7C039F3D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086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675AA6-B5D6-4B07-A280-45962662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314D22-12D5-4861-9EE9-B93AA2E9E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9575"/>
            <a:ext cx="9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72"/>
          </a:bodyPr>
          <a:lstStyle xmlns:a="http://schemas.openxmlformats.org/drawingml/2006/main"/>
          <a:p xmlns:a="http://schemas.openxmlformats.org/drawingml/2006/main">
            <a:pPr algn="ctr">
              <a:defRPr sz="62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2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59A814-6A6B-4A13-9B8A-039C105A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31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EXECUTIVE SUMMARY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699B67-003D-4D01-A0FB-8631B1361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31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ED464E-1322-420B-A782-91E0B19AD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781050"/>
            <a:ext cx="4095750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D7424A-C522-4965-8664-9B2EA483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066800"/>
            <a:ext cx="2324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92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992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What this package resolves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7BF2E-3152-4760-BA41-5485AD67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409700"/>
            <a:ext cx="276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6058"/>
          </a:bodyPr>
          <a:lstStyle xmlns:a="http://schemas.openxmlformats.org/drawingml/2006/main"/>
          <a:p xmlns:a="http://schemas.openxmlformats.org/drawingml/2006/main">
            <a:pPr algn="l">
              <a:defRPr sz="2436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436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Board-level reading path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9FBCCD-347E-4586-B4E6-D841A0B8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81200"/>
            <a:ext cx="16954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24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322EEA-DF2E-445E-B0A9-3ACCAF6F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81200"/>
            <a:ext cx="1695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74A42B-78A4-480F-9680-B2FB11B0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526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7996"/>
          </a:bodyPr>
          <a:lstStyle xmlns:a="http://schemas.openxmlformats.org/drawingml/2006/main"/>
          <a:p xmlns:a="http://schemas.openxmlformats.org/drawingml/2006/main">
            <a:pPr algn="l">
              <a:defRPr sz="1148" b="1" i="0">
                <a:solidFill>
                  <a:srgbClr val="00D49A"/>
                </a:solidFill>
                <a:latin typeface="Aptos Display"/>
                <a:ea typeface="Aptos Display"/>
                <a:cs typeface="Aptos Display"/>
              </a:defRPr>
            </a:pPr>
            <a:r>
              <a:rPr sz="1148" b="1" i="0">
                <a:solidFill>
                  <a:srgbClr val="00D49A"/>
                </a:solidFill>
                <a:latin typeface="Aptos Display"/>
                <a:ea typeface="Aptos Display"/>
                <a:cs typeface="Aptos Display"/>
              </a:rPr>
              <a:t>Music learning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3261D9-AFB4-4529-84A9-A71E312A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00300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1516"/>
          </a:bodyPr>
          <a:lstStyle xmlns:a="http://schemas.openxmlformats.org/drawingml/2006/main"/>
          <a:p xmlns:a="http://schemas.openxmlformats.org/drawingml/2006/main">
            <a:pPr algn="l">
              <a:defRPr sz="774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74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Which actors shape beginner habit, guided practice and song-led progression?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A9F406-3AE7-443A-AA90-7D172EE0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00350"/>
            <a:ext cx="1390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9" b="0" i="0">
                <a:solidFill>
                  <a:srgbClr val="C6D8D2"/>
                </a:solidFill>
                <a:latin typeface="Aptos"/>
                <a:ea typeface="Aptos"/>
                <a:cs typeface="Aptos"/>
              </a:defRPr>
            </a:pPr>
            <a:r>
              <a:rPr sz="679" b="0" i="0">
                <a:solidFill>
                  <a:srgbClr val="C6D8D2"/>
                </a:solidFill>
                <a:latin typeface="Aptos"/>
                <a:ea typeface="Aptos"/>
                <a:cs typeface="Aptos"/>
              </a:rPr>
              <a:t>Apps, repertoire, hardware funnels and practice utilities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77E172-C6B8-40A8-B9D8-B7535CA28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81200"/>
            <a:ext cx="16954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24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0171A9-090B-4FD3-84BF-C0322409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81200"/>
            <a:ext cx="1695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02534B-4524-47DB-81EE-15E645FB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526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7996"/>
          </a:bodyPr>
          <a:lstStyle xmlns:a="http://schemas.openxmlformats.org/drawingml/2006/main"/>
          <a:p xmlns:a="http://schemas.openxmlformats.org/drawingml/2006/main">
            <a:pPr algn="l">
              <a:defRPr sz="1148" b="1" i="0">
                <a:solidFill>
                  <a:srgbClr val="FFBF3F"/>
                </a:solidFill>
                <a:latin typeface="Aptos Display"/>
                <a:ea typeface="Aptos Display"/>
                <a:cs typeface="Aptos Display"/>
              </a:defRPr>
            </a:pPr>
            <a:r>
              <a:rPr sz="1148" b="1" i="0">
                <a:solidFill>
                  <a:srgbClr val="FFBF3F"/>
                </a:solidFill>
                <a:latin typeface="Aptos Display"/>
                <a:ea typeface="Aptos Display"/>
                <a:cs typeface="Aptos Display"/>
              </a:rPr>
              <a:t>Music as a hobby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1B413B-B363-43BB-9769-BCA2F8EF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1516"/>
          </a:bodyPr>
          <a:lstStyle xmlns:a="http://schemas.openxmlformats.org/drawingml/2006/main"/>
          <a:p xmlns:a="http://schemas.openxmlformats.org/drawingml/2006/main">
            <a:pPr algn="l">
              <a:defRPr sz="774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74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Which surfaces create demand before and after formal lessons?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3B10BD-3B9D-467D-B30B-AC85B2CA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800350"/>
            <a:ext cx="1390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9" b="0" i="0">
                <a:solidFill>
                  <a:srgbClr val="C6D8D2"/>
                </a:solidFill>
                <a:latin typeface="Aptos"/>
                <a:ea typeface="Aptos"/>
                <a:cs typeface="Aptos"/>
              </a:defRPr>
            </a:pPr>
            <a:r>
              <a:rPr sz="679" b="0" i="0">
                <a:solidFill>
                  <a:srgbClr val="C6D8D2"/>
                </a:solidFill>
                <a:latin typeface="Aptos"/>
                <a:ea typeface="Aptos"/>
                <a:cs typeface="Aptos"/>
              </a:rPr>
              <a:t>Discovery, creators, songs, identity and creation tools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4A204D-CDD0-4F31-A14C-3C78440D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390900"/>
            <a:ext cx="16954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24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C04FBA-65F7-409F-9019-CF2B18CE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390900"/>
            <a:ext cx="1695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E8AADC-F238-409A-9EC9-C6EFFF809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623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6658"/>
          </a:bodyPr>
          <a:lstStyle xmlns:a="http://schemas.openxmlformats.org/drawingml/2006/main"/>
          <a:p xmlns:a="http://schemas.openxmlformats.org/drawingml/2006/main">
            <a:pPr algn="l">
              <a:defRPr sz="1148" b="1" i="0">
                <a:solidFill>
                  <a:srgbClr val="4C8DF6"/>
                </a:solidFill>
                <a:latin typeface="Aptos Display"/>
                <a:ea typeface="Aptos Display"/>
                <a:cs typeface="Aptos Display"/>
              </a:defRPr>
            </a:pPr>
            <a:r>
              <a:rPr sz="1148" b="1" i="0">
                <a:solidFill>
                  <a:srgbClr val="4C8DF6"/>
                </a:solidFill>
                <a:latin typeface="Aptos Display"/>
                <a:ea typeface="Aptos Display"/>
                <a:cs typeface="Aptos Display"/>
              </a:rPr>
              <a:t>Strategic environment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915C9B-8D18-451A-BB0A-896A644F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74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74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Which non-obvious forces matter around Yousician?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32F1D3-6048-46FA-9442-2A88D97A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210050"/>
            <a:ext cx="1390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9" b="0" i="0">
                <a:solidFill>
                  <a:srgbClr val="C6D8D2"/>
                </a:solidFill>
                <a:latin typeface="Aptos"/>
                <a:ea typeface="Aptos"/>
                <a:cs typeface="Aptos"/>
              </a:defRPr>
            </a:pPr>
            <a:r>
              <a:rPr sz="679" b="0" i="0">
                <a:solidFill>
                  <a:srgbClr val="C6D8D2"/>
                </a:solidFill>
                <a:latin typeface="Aptos"/>
                <a:ea typeface="Aptos"/>
                <a:cs typeface="Aptos"/>
              </a:rPr>
              <a:t>AI, rights, investors, media, awards and public funding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378653-2925-4F56-A999-0861ADE2B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90900"/>
            <a:ext cx="16954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24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89A82-6BC8-4815-8FD0-C87C0580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90900"/>
            <a:ext cx="1695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55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05F8D2-7399-4279-A6FA-FF5FA23C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623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7996"/>
          </a:bodyPr>
          <a:lstStyle xmlns:a="http://schemas.openxmlformats.org/drawingml/2006/main"/>
          <a:p xmlns:a="http://schemas.openxmlformats.org/drawingml/2006/main">
            <a:pPr algn="l">
              <a:defRPr sz="1148" b="1" i="0">
                <a:solidFill>
                  <a:srgbClr val="F06455"/>
                </a:solidFill>
                <a:latin typeface="Aptos Display"/>
                <a:ea typeface="Aptos Display"/>
                <a:cs typeface="Aptos Display"/>
              </a:defRPr>
            </a:pPr>
            <a:r>
              <a:rPr sz="1148" b="1" i="0">
                <a:solidFill>
                  <a:srgbClr val="F06455"/>
                </a:solidFill>
                <a:latin typeface="Aptos Display"/>
                <a:ea typeface="Aptos Display"/>
                <a:cs typeface="Aptos Display"/>
              </a:rPr>
              <a:t>Open inputs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715F2A-A7E6-4F74-A753-AD3D314C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810000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74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74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remains incomplete and must stay explicit?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63CDD9-08B0-4043-94AE-31A992C46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210050"/>
            <a:ext cx="1390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9" b="0" i="0">
                <a:solidFill>
                  <a:srgbClr val="C6D8D2"/>
                </a:solidFill>
                <a:latin typeface="Aptos"/>
                <a:ea typeface="Aptos"/>
                <a:cs typeface="Aptos"/>
              </a:defRPr>
            </a:pPr>
            <a:r>
              <a:rPr sz="679" b="0" i="0">
                <a:solidFill>
                  <a:srgbClr val="C6D8D2"/>
                </a:solidFill>
                <a:latin typeface="Aptos"/>
                <a:ea typeface="Aptos"/>
                <a:cs typeface="Aptos"/>
              </a:rPr>
              <a:t>Credentialed Appfigures and internal relationship status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C5BF37-B90C-460B-ACD3-A358A4A2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914900"/>
            <a:ext cx="3486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73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A0D0F3-7066-42EE-833C-14B90BED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914900"/>
            <a:ext cx="1123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459C42-1A2F-48A1-8B0F-9ABC809A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91490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6578F7D-3CF7-42F9-8DD0-31CCB778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91490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FF9078-49C8-493A-8D80-C1D33120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72050"/>
            <a:ext cx="8953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9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09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E2E41A-C7B0-485D-A91B-D040D99D5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972050"/>
            <a:ext cx="609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9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09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hobby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803ACE-1F0B-41CC-BBDD-1FBDFB2C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972050"/>
            <a:ext cx="1181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9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9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environment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DC60326-B6E3-457F-91B7-75266875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9B60F89-CC33-4FEF-AD47-4A4ED252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13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713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EXECUTIVE READOUT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6F45076-27CE-4232-BCDA-57EF8F53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19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6207"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Strategic Environment Mapping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BE4C3A9-7806-48EF-9339-F285444A1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5619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A brief-led read of the ecosystem around Yousician: who shapes music learning, music as a hobby and the strategic environment around the company.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2D1D09C-DA6D-4812-8FC5-D2973CA2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52800"/>
            <a:ext cx="400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0291"/>
          </a:bodyPr>
          <a:lstStyle xmlns:a="http://schemas.openxmlformats.org/drawingml/2006/main"/>
          <a:p xmlns:a="http://schemas.openxmlformats.org/drawingml/2006/main">
            <a:pPr algn="l">
              <a:defRPr sz="2958" b="1" i="0">
                <a:solidFill>
                  <a:srgbClr val="00D49A"/>
                </a:solidFill>
                <a:latin typeface="Aptos Display"/>
                <a:ea typeface="Aptos Display"/>
                <a:cs typeface="Aptos Display"/>
              </a:defRPr>
            </a:pPr>
            <a:r>
              <a:rPr sz="2958" b="1" i="0">
                <a:solidFill>
                  <a:srgbClr val="00D49A"/>
                </a:solidFill>
                <a:latin typeface="Aptos Display"/>
                <a:ea typeface="Aptos Display"/>
                <a:cs typeface="Aptos Display"/>
              </a:rPr>
              <a:t>Not a competitor list.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C3688D-E3DB-4C08-BF14-8347524D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5219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0989"/>
          </a:bodyPr>
          <a:lstStyle xmlns:a="http://schemas.openxmlformats.org/drawingml/2006/main"/>
          <a:p xmlns:a="http://schemas.openxmlformats.org/drawingml/2006/main">
            <a:pPr algn="l">
              <a:defRPr sz="1740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740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A map of stakeholder groups, influence and relevance.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76C5C14-C553-423C-A0AA-95DF578D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29200"/>
            <a:ext cx="1123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5481544-38DE-4044-8FDA-A0DEC949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781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2724"/>
          </a:bodyPr>
          <a:lstStyle xmlns:a="http://schemas.openxmlformats.org/drawingml/2006/main"/>
          <a:p xmlns:a="http://schemas.openxmlformats.org/drawingml/2006/main">
            <a:pPr algn="l">
              <a:defRPr sz="2871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2871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96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96559DA-10CC-4186-9F01-58A023E7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05450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7217"/>
          </a:bodyPr>
          <a:lstStyle xmlns:a="http://schemas.openxmlformats.org/drawingml/2006/main"/>
          <a:p xmlns:a="http://schemas.openxmlformats.org/drawingml/2006/main">
            <a:pPr algn="l">
              <a:defRPr sz="835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35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tracked records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F9FCCF9-1F35-4F9A-8DD9-D4264112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29200"/>
            <a:ext cx="1123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7277529-33C2-422B-AD06-14D64C4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124450"/>
            <a:ext cx="781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2724"/>
          </a:bodyPr>
          <a:lstStyle xmlns:a="http://schemas.openxmlformats.org/drawingml/2006/main"/>
          <a:p xmlns:a="http://schemas.openxmlformats.org/drawingml/2006/main">
            <a:pPr algn="l">
              <a:defRPr sz="2871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2871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532272-8596-4A89-A979-0CA2AAAEE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505450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606"/>
          </a:bodyPr>
          <a:lstStyle xmlns:a="http://schemas.openxmlformats.org/drawingml/2006/main"/>
          <a:p xmlns:a="http://schemas.openxmlformats.org/drawingml/2006/main">
            <a:pPr algn="l">
              <a:defRPr sz="835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35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first-pass profiles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E1C2446-5E25-4DFD-9D7E-0B23C5FA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029200"/>
            <a:ext cx="1123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509A93C-F5B3-4D41-B6BE-117EE268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124450"/>
            <a:ext cx="781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2724"/>
          </a:bodyPr>
          <a:lstStyle xmlns:a="http://schemas.openxmlformats.org/drawingml/2006/main"/>
          <a:p xmlns:a="http://schemas.openxmlformats.org/drawingml/2006/main">
            <a:pPr algn="l">
              <a:defRPr sz="2871" b="1" i="0">
                <a:solidFill>
                  <a:srgbClr val="4C8DF6"/>
                </a:solidFill>
                <a:latin typeface="Aptos"/>
                <a:ea typeface="Aptos"/>
                <a:cs typeface="Aptos"/>
              </a:defRPr>
            </a:pPr>
            <a:r>
              <a:rPr sz="2871" b="1" i="0">
                <a:solidFill>
                  <a:srgbClr val="4C8DF6"/>
                </a:solidFill>
                <a:latin typeface="Aptos"/>
                <a:ea typeface="Aptos"/>
                <a:cs typeface="Aptos"/>
              </a:rPr>
              <a:t>49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C0E4D8B-0AED-4173-8BCA-C5BEE710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505450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2335"/>
          </a:bodyPr>
          <a:lstStyle xmlns:a="http://schemas.openxmlformats.org/drawingml/2006/main"/>
          <a:p xmlns:a="http://schemas.openxmlformats.org/drawingml/2006/main">
            <a:pPr algn="l">
              <a:defRPr sz="835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35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news-grade moves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C31BD11-EF66-40B5-8F37-0A7EB408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29200"/>
            <a:ext cx="1123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2652299-3D48-40A1-904D-AEA28B0E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24450"/>
            <a:ext cx="781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2724"/>
          </a:bodyPr>
          <a:lstStyle xmlns:a="http://schemas.openxmlformats.org/drawingml/2006/main"/>
          <a:p xmlns:a="http://schemas.openxmlformats.org/drawingml/2006/main">
            <a:pPr algn="l">
              <a:defRPr sz="2871" b="1" i="0">
                <a:solidFill>
                  <a:srgbClr val="FFBF3F"/>
                </a:solidFill>
                <a:latin typeface="Aptos"/>
                <a:ea typeface="Aptos"/>
                <a:cs typeface="Aptos"/>
              </a:defRPr>
            </a:pPr>
            <a:r>
              <a:rPr sz="2871" b="1" i="0">
                <a:solidFill>
                  <a:srgbClr val="FFBF3F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CD1AA09-A0C9-4F2A-89E0-EECED667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505450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8250"/>
          </a:bodyPr>
          <a:lstStyle xmlns:a="http://schemas.openxmlformats.org/drawingml/2006/main"/>
          <a:p xmlns:a="http://schemas.openxmlformats.org/drawingml/2006/main">
            <a:pPr algn="l">
              <a:defRPr sz="835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35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brief categories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A7255FA-48BE-4ECD-864E-0A914625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029200"/>
            <a:ext cx="1123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4E57573-7656-4FFD-B8A7-B7306797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124450"/>
            <a:ext cx="781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2724"/>
          </a:bodyPr>
          <a:lstStyle xmlns:a="http://schemas.openxmlformats.org/drawingml/2006/main"/>
          <a:p xmlns:a="http://schemas.openxmlformats.org/drawingml/2006/main">
            <a:pPr algn="l">
              <a:defRPr sz="2871" b="1" i="0">
                <a:solidFill>
                  <a:srgbClr val="7467FF"/>
                </a:solidFill>
                <a:latin typeface="Aptos"/>
                <a:ea typeface="Aptos"/>
                <a:cs typeface="Aptos"/>
              </a:defRPr>
            </a:pPr>
            <a:r>
              <a:rPr sz="2871" b="1" i="0">
                <a:solidFill>
                  <a:srgbClr val="7467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A9A65D7-B319-4A9E-9EA8-DE2B6A16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505450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6879"/>
          </a:bodyPr>
          <a:lstStyle xmlns:a="http://schemas.openxmlformats.org/drawingml/2006/main"/>
          <a:p xmlns:a="http://schemas.openxmlformats.org/drawingml/2006/main">
            <a:pPr algn="l">
              <a:defRPr sz="835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35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guiding questions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ABABEC0-7735-41C6-B604-86D4A5432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5" b="0" i="0">
                <a:solidFill>
                  <a:srgbClr val="74837C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74837C"/>
                </a:solidFill>
                <a:latin typeface="Aptos"/>
                <a:ea typeface="Aptos"/>
                <a:cs typeface="Aptos"/>
              </a:rPr>
              <a:t>Prepared 2026-06-13. Appfigures performance and internal relationship fields are marked as open inputs, not treated as missing market narrative.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E2836DE-ACA5-4B45-932E-A0ABA395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Yousician Strategic Environment Mapping</a:t>
            </a:r>
          </a:p>
        </p:txBody>
      </p:sp>
    </p:spTree>
    <p:extLst>
      <p:ext uri="{BB962C8B-B14F-4D97-AF65-F5344CB8AC3E}">
        <p14:creationId xmlns:p14="http://schemas.microsoft.com/office/powerpoint/2010/main" val="6800822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564EDF-20DD-4964-B0AB-89B4E9CB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2B9F69-DAA9-46E3-AED0-BA4066F2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ED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177C93-A7CF-43CC-9B84-24B09A43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008B2-3381-4F48-909E-062348AD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9283C5-5405-4943-AC22-1A01A7EB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66CEB5-64B7-40DE-850C-B31EA361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F1D8B8-8A5C-4A8D-A801-1C2C7139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000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A2F1D7-7B80-41D1-9682-02D6D439B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086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D85F1F-3403-4547-9634-99337C71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1CA1BC-93A4-48FB-9BD3-B4046BAD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9575"/>
            <a:ext cx="9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72"/>
          </a:bodyPr>
          <a:lstStyle xmlns:a="http://schemas.openxmlformats.org/drawingml/2006/main"/>
          <a:p xmlns:a="http://schemas.openxmlformats.org/drawingml/2006/main">
            <a:pPr algn="ctr">
              <a:defRPr sz="62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2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1DD316-CA78-4446-BCCA-4662E76F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31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GUIDING QUESTIONS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C4F6A9-DE4B-4B30-89DA-12945C0F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31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684028-5048-4123-9AD9-6D407593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763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4734"/>
          </a:bodyPr>
          <a:lstStyle xmlns:a="http://schemas.openxmlformats.org/drawingml/2006/main"/>
          <a:p xmlns:a="http://schemas.openxmlformats.org/drawingml/2006/main">
            <a:pPr algn="l">
              <a:defRPr sz="3393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393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The three guiding questions are answered directly.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B45620-144C-4025-B3E5-D29D5D0E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885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The rest of the deck shows the evidence: category coverage, ecosystem map, priority actors, direct learning apps and the 24-month market layer.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59272D-54B1-4C43-B1D9-1AE9F9C2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29908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E39AFA-833E-4FD8-8E57-62DE3FBB9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29908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306A5B-36F8-48D1-BD45-48562FF6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552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0819"/>
          </a:bodyPr>
          <a:lstStyle xmlns:a="http://schemas.openxmlformats.org/drawingml/2006/main"/>
          <a:p xmlns:a="http://schemas.openxmlformats.org/drawingml/2006/main">
            <a:pPr algn="l">
              <a:defRPr sz="2784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2784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08C015-90C0-4428-B2E4-34CE05D3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7768"/>
          </a:bodyPr>
          <a:lstStyle xmlns:a="http://schemas.openxmlformats.org/drawingml/2006/main"/>
          <a:p xmlns:a="http://schemas.openxmlformats.org/drawingml/2006/main">
            <a:pPr algn="l">
              <a:defRPr sz="1914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914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Future of music learning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E2C20E-55F6-42C7-81FE-C76AE39A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1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0069"/>
          </a:bodyPr>
          <a:lstStyle xmlns:a="http://schemas.openxmlformats.org/drawingml/2006/main"/>
          <a:p xmlns:a="http://schemas.openxmlformats.org/drawingml/2006/main">
            <a:pPr algn="l">
              <a:defRPr sz="1001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001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Learning apps, song/practice systems, AI practice utilities, teachers, creators, education standards and hardware funnels all shape the next learning field.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6843AD-ED60-48F5-AA71-4A356817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86000"/>
            <a:ext cx="29908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8B5F65-45F1-4D8A-B84E-3D6AB540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86000"/>
            <a:ext cx="29908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B56414-7C70-4589-B259-6BB11FB6D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628900"/>
            <a:ext cx="552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0819"/>
          </a:bodyPr>
          <a:lstStyle xmlns:a="http://schemas.openxmlformats.org/drawingml/2006/main"/>
          <a:p xmlns:a="http://schemas.openxmlformats.org/drawingml/2006/main">
            <a:pPr algn="l">
              <a:defRPr sz="2784" b="1" i="0">
                <a:solidFill>
                  <a:srgbClr val="FFBF3F"/>
                </a:solidFill>
                <a:latin typeface="Aptos"/>
                <a:ea typeface="Aptos"/>
                <a:cs typeface="Aptos"/>
              </a:defRPr>
            </a:pPr>
            <a:r>
              <a:rPr sz="2784" b="1" i="0">
                <a:solidFill>
                  <a:srgbClr val="FFBF3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BF4C38-AC7B-4956-99DE-B3E7E9C2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1813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9826"/>
          </a:bodyPr>
          <a:lstStyle xmlns:a="http://schemas.openxmlformats.org/drawingml/2006/main"/>
          <a:p xmlns:a="http://schemas.openxmlformats.org/drawingml/2006/main">
            <a:pPr algn="l">
              <a:defRPr sz="1914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914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Future of music as a hobby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9E7D59-2939-4C21-8AF7-E4337F68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481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8790"/>
          </a:bodyPr>
          <a:lstStyle xmlns:a="http://schemas.openxmlformats.org/drawingml/2006/main"/>
          <a:p xmlns:a="http://schemas.openxmlformats.org/drawingml/2006/main">
            <a:pPr algn="l">
              <a:defRPr sz="1001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001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Discovery platforms, song libraries, artists, creator tools, instruments and AI creation tools shape demand before and after formal lessons.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D5C3D3-A61D-4911-8E66-2B7A2004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86000"/>
            <a:ext cx="29908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4A7074-F9E1-452E-9F6E-7E596D30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86000"/>
            <a:ext cx="29908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CA0133-C4B0-4AD2-9612-5A0BFF91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28900"/>
            <a:ext cx="552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0819"/>
          </a:bodyPr>
          <a:lstStyle xmlns:a="http://schemas.openxmlformats.org/drawingml/2006/main"/>
          <a:p xmlns:a="http://schemas.openxmlformats.org/drawingml/2006/main">
            <a:pPr algn="l">
              <a:defRPr sz="2784" b="1" i="0">
                <a:solidFill>
                  <a:srgbClr val="4C8DF6"/>
                </a:solidFill>
                <a:latin typeface="Aptos"/>
                <a:ea typeface="Aptos"/>
                <a:cs typeface="Aptos"/>
              </a:defRPr>
            </a:pPr>
            <a:r>
              <a:rPr sz="2784" b="1" i="0">
                <a:solidFill>
                  <a:srgbClr val="4C8DF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655949-3AC6-442F-9E08-E1EEAF9D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813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8574"/>
          </a:bodyPr>
          <a:lstStyle xmlns:a="http://schemas.openxmlformats.org/drawingml/2006/main"/>
          <a:p xmlns:a="http://schemas.openxmlformats.org/drawingml/2006/main">
            <a:pPr algn="l">
              <a:defRPr sz="1914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914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Strategic environment around Yousician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86E0C7-8B5A-408F-B439-F15A102D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481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0998"/>
          </a:bodyPr>
          <a:lstStyle xmlns:a="http://schemas.openxmlformats.org/drawingml/2006/main"/>
          <a:p xmlns:a="http://schemas.openxmlformats.org/drawingml/2006/main">
            <a:pPr algn="l">
              <a:defRPr sz="1001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001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AI companies, rights owners, app competitors, hardware brands, creators, publishers, investors, awards and funding bodies set the broader context.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89ECC3-7EC0-436B-9A8D-8B605C410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314950"/>
            <a:ext cx="802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450044-C595-4B12-8711-AE4A4680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31495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55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C85468F-6AD4-44A0-8EDF-B8F233EC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467350"/>
            <a:ext cx="1371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01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01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Ranking note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417181-6B4F-413B-945A-0D552085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400675"/>
            <a:ext cx="5962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7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87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Current actor ranking is ecosystem-influence-based. App-performance ranking remains pending until credentialed Appfigures data is imported.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5C6D7C-3F15-48A1-8073-B6614A77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5" b="0" i="0">
                <a:solidFill>
                  <a:srgbClr val="74837C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74837C"/>
                </a:solidFill>
                <a:latin typeface="Aptos"/>
                <a:ea typeface="Aptos"/>
                <a:cs typeface="Aptos"/>
              </a:rPr>
              <a:t>Source: original brief, executive synthesis and category coverage.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6A4014-BD31-40B9-BF7F-2828AA39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Yousician Strategic Environment Mapping</a:t>
            </a:r>
          </a:p>
        </p:txBody>
      </p:sp>
    </p:spTree>
    <p:extLst>
      <p:ext uri="{BB962C8B-B14F-4D97-AF65-F5344CB8AC3E}">
        <p14:creationId xmlns:p14="http://schemas.microsoft.com/office/powerpoint/2010/main" val="69275866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D9C787-1094-4546-8ACC-BC1B69CE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F23341-F9FB-42A5-A1E6-D58B7C84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ED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16DEDC-89F3-4901-A720-27F0CD20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C908A-FF8B-4A60-8D1E-9D633D94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A8DAC2-88D7-48E5-B989-75352969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EC1169-E753-41C8-AFDA-7B2379B4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FD55F9-87A9-4054-878E-01DCFCB9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000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C8B3BD-57F4-4DEF-B925-AF7843A1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086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5A4A87-0E41-44D4-AF6D-A6D7CE4E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1C308C-3DA0-404C-B265-2DC8B1648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9575"/>
            <a:ext cx="9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72"/>
          </a:bodyPr>
          <a:lstStyle xmlns:a="http://schemas.openxmlformats.org/drawingml/2006/main"/>
          <a:p xmlns:a="http://schemas.openxmlformats.org/drawingml/2006/main">
            <a:pPr algn="ctr">
              <a:defRPr sz="62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2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CCBE1C-B122-4E7C-927F-581AD455E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31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INTERNAL 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630495-4A8F-4BE1-A396-20502769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31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AB7BE6-A78A-4067-AEB1-7BB2A0C92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763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049"/>
          </a:bodyPr>
          <a:lstStyle xmlns:a="http://schemas.openxmlformats.org/drawingml/2006/main"/>
          <a:p xmlns:a="http://schemas.openxmlformats.org/drawingml/2006/main">
            <a:pPr algn="l">
              <a:defRPr sz="3393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393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Yousician's own user context sharpens which market signals matter.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746602-076D-409F-8F29-5AF3FDA5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Static User Insights grounding points to beginner guidance, song intent, confidence and self-guided practice as key filters for the ecosystem.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6D36AD-6092-4F5A-B1D8-1A012EAE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31623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9DC90C-5D83-4B5F-B74A-0FC160C8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6207"/>
          </a:bodyPr>
          <a:lstStyle xmlns:a="http://schemas.openxmlformats.org/drawingml/2006/main"/>
          <a:p xmlns:a="http://schemas.openxmlformats.org/drawingml/2006/main">
            <a:pPr algn="l">
              <a:defRPr sz="1740" b="1" i="0">
                <a:solidFill>
                  <a:srgbClr val="00D49A"/>
                </a:solidFill>
                <a:latin typeface="Aptos Display"/>
                <a:ea typeface="Aptos Display"/>
                <a:cs typeface="Aptos Display"/>
              </a:defRPr>
            </a:pPr>
            <a:r>
              <a:rPr sz="1740" b="1" i="0">
                <a:solidFill>
                  <a:srgbClr val="00D49A"/>
                </a:solidFill>
                <a:latin typeface="Aptos Display"/>
                <a:ea typeface="Aptos Display"/>
                <a:cs typeface="Aptos Display"/>
              </a:rPr>
              <a:t>Executive filter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5A87A7-7C7A-4CB3-A540-A7B284A2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76550"/>
            <a:ext cx="2324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0243"/>
          </a:bodyPr>
          <a:lstStyle xmlns:a="http://schemas.openxmlformats.org/drawingml/2006/main"/>
          <a:p xmlns:a="http://schemas.openxmlformats.org/drawingml/2006/main">
            <a:pPr algn="l">
              <a:defRPr sz="261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61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Judge the market by habit formation, not by feature depth.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4ADD28-D8F4-4F44-9671-FFCD3C9E4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1866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677595-67DF-4823-8477-7B3E03A2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29100"/>
            <a:ext cx="21336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0282"/>
          </a:bodyPr>
          <a:lstStyle xmlns:a="http://schemas.openxmlformats.org/drawingml/2006/main"/>
          <a:p xmlns:a="http://schemas.openxmlformats.org/drawingml/2006/main">
            <a:pPr algn="l">
              <a:defRPr sz="1523" b="1" i="0">
                <a:solidFill>
                  <a:srgbClr val="D6E4DE"/>
                </a:solidFill>
                <a:latin typeface="Aptos"/>
                <a:ea typeface="Aptos"/>
                <a:cs typeface="Aptos"/>
              </a:defRPr>
            </a:pPr>
            <a:r>
              <a:rPr sz="1523" b="1" i="0">
                <a:solidFill>
                  <a:srgbClr val="D6E4DE"/>
                </a:solidFill>
                <a:latin typeface="Aptos"/>
                <a:ea typeface="Aptos"/>
                <a:cs typeface="Aptos"/>
              </a:rPr>
              <a:t>Guidance wins first.</a:t>
            </a:r>
          </a:p>
          <a:p xmlns:a="http://schemas.openxmlformats.org/drawingml/2006/main">
            <a:pPr algn="l">
              <a:defRPr sz="1523" b="1" i="0">
                <a:solidFill>
                  <a:srgbClr val="D6E4DE"/>
                </a:solidFill>
                <a:latin typeface="Aptos"/>
                <a:ea typeface="Aptos"/>
                <a:cs typeface="Aptos"/>
              </a:defRPr>
            </a:pPr>
            <a:r>
              <a:rPr sz="1523" b="1" i="0">
                <a:solidFill>
                  <a:srgbClr val="D6E4DE"/>
                </a:solidFill>
                <a:latin typeface="Aptos"/>
                <a:ea typeface="Aptos"/>
                <a:cs typeface="Aptos"/>
              </a:rPr>
              <a:t>Songs create return.</a:t>
            </a:r>
          </a:p>
          <a:p xmlns:a="http://schemas.openxmlformats.org/drawingml/2006/main">
            <a:pPr algn="l">
              <a:defRPr sz="1523" b="1" i="0">
                <a:solidFill>
                  <a:srgbClr val="D6E4DE"/>
                </a:solidFill>
                <a:latin typeface="Aptos"/>
                <a:ea typeface="Aptos"/>
                <a:cs typeface="Aptos"/>
              </a:defRPr>
            </a:pPr>
            <a:r>
              <a:rPr sz="1523" b="1" i="0">
                <a:solidFill>
                  <a:srgbClr val="D6E4DE"/>
                </a:solidFill>
                <a:latin typeface="Aptos"/>
                <a:ea typeface="Aptos"/>
                <a:cs typeface="Aptos"/>
              </a:rPr>
              <a:t>Trust comes before breadth.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B68EB0-E7E9-45E4-8757-0F5D07AF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71700"/>
            <a:ext cx="7067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677CD3-FFED-4211-84E2-577AFDCE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71700"/>
            <a:ext cx="114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D870FD-FDE7-4817-A807-98412031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431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7826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Beginner confidence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B4B9E2-AC23-441E-AED7-3625349F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3431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59875"/>
          </a:bodyPr>
          <a:lstStyle xmlns:a="http://schemas.openxmlformats.org/drawingml/2006/main"/>
          <a:p xmlns:a="http://schemas.openxmlformats.org/drawingml/2006/main">
            <a:pPr algn="l">
              <a:defRPr sz="1357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57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Users want a guided early journey with timely feedback.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9A7671-19C4-4F97-ACCC-D23A7FCDE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431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531"/>
          </a:bodyPr>
          <a:lstStyle xmlns:a="http://schemas.openxmlformats.org/drawingml/2006/main"/>
          <a:p xmlns:a="http://schemas.openxmlformats.org/drawingml/2006/main">
            <a:pPr algn="l">
              <a:defRPr sz="12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Clarity and reduced friction matter more than feature count.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E2C03D-A653-4C7D-949F-50319014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276600"/>
            <a:ext cx="7067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36945F-D116-4504-A8D7-F83163DD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276600"/>
            <a:ext cx="114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80A16C-5EF0-402B-BF5E-DA3B9377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480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7826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Song-led motivation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506EE7-A0CC-41A6-8657-91046BE1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4480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59875"/>
          </a:bodyPr>
          <a:lstStyle xmlns:a="http://schemas.openxmlformats.org/drawingml/2006/main"/>
          <a:p xmlns:a="http://schemas.openxmlformats.org/drawingml/2006/main">
            <a:pPr algn="l">
              <a:defRPr sz="1357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57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Song intent and chord progress create repeat use.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5ED23B-BD84-4170-A96D-4EDD16B0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480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6032"/>
          </a:bodyPr>
          <a:lstStyle xmlns:a="http://schemas.openxmlformats.org/drawingml/2006/main"/>
          <a:p xmlns:a="http://schemas.openxmlformats.org/drawingml/2006/main">
            <a:pPr algn="l">
              <a:defRPr sz="12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Repertoire and song-practice tools are core habit surfaces.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3D19C1-C19F-4EC7-A74D-00903F27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381500"/>
            <a:ext cx="7067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662B3A-29DD-49DD-9FA5-2F2D54DC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381500"/>
            <a:ext cx="114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0AAE17-EE3B-4EE6-A9D8-C08E8C27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529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7826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Start / trust route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71D5EF-5447-44F9-AD4A-8A2F616D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5529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59875"/>
          </a:bodyPr>
          <a:lstStyle xmlns:a="http://schemas.openxmlformats.org/drawingml/2006/main"/>
          <a:p xmlns:a="http://schemas.openxmlformats.org/drawingml/2006/main">
            <a:pPr algn="l">
              <a:defRPr sz="1357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57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Instruments, creators and teachers often trigger entry before app search.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B7CC3B-010C-4BD7-9B37-51513F24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529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756"/>
          </a:bodyPr>
          <a:lstStyle xmlns:a="http://schemas.openxmlformats.org/drawingml/2006/main"/>
          <a:p xmlns:a="http://schemas.openxmlformats.org/drawingml/2006/main">
            <a:pPr algn="l">
              <a:defRPr sz="12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Hardware and creator trust belong in the core market story.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143F12C-7ED8-4474-9815-E19CCAFA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657850"/>
            <a:ext cx="7067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9C9BED-7289-4864-82DA-EADF0C63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657850"/>
            <a:ext cx="762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392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B648F1-F2B1-43F8-B646-AC75CFD4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819775"/>
            <a:ext cx="1371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01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01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Strategic implication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D69838-C052-4DCB-8214-2F3C8021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743575"/>
            <a:ext cx="501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7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87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The opportunity is broader than beating one app rival: confidence, repertoire access, practice habit and trust formation all matter.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61DAFA-5106-40FC-9C41-3CCF3193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5" b="0" i="0">
                <a:solidFill>
                  <a:srgbClr val="74837C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74837C"/>
                </a:solidFill>
                <a:latin typeface="Aptos"/>
                <a:ea typeface="Aptos"/>
                <a:cs typeface="Aptos"/>
              </a:rPr>
              <a:t>Source: static Yousician users and market context by User Insights; live Confluence database not queried in this pass.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F6524C9-7737-4104-ACDC-A8A9864B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Yousician Strategic Environment Mapping</a:t>
            </a:r>
          </a:p>
        </p:txBody>
      </p:sp>
    </p:spTree>
    <p:extLst>
      <p:ext uri="{BB962C8B-B14F-4D97-AF65-F5344CB8AC3E}">
        <p14:creationId xmlns:p14="http://schemas.microsoft.com/office/powerpoint/2010/main" val="131154217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8C79AF-3458-4D2F-ADB5-D49796F5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D1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ED583F-7BF8-4C33-A5F1-3B4E450E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33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53F97E-B051-4457-B608-E43FF291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33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0372D9-36A4-4248-B570-4158478A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33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B30BF8-BEE1-41BA-BB44-9B098F11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33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1BF766-AD2B-4400-B6C5-1BFD8486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33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7F3804-9A79-44CE-8AFF-E00695E4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F82AD4-CF2E-4155-A995-A2D22F2D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9575"/>
            <a:ext cx="9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72"/>
          </a:bodyPr>
          <a:lstStyle xmlns:a="http://schemas.openxmlformats.org/drawingml/2006/main"/>
          <a:p xmlns:a="http://schemas.openxmlformats.org/drawingml/2006/main">
            <a:pPr algn="ctr">
              <a:defRPr sz="62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2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673FCD-0936-42AA-9F6F-B71B6171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31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ECOSYSTEM MAP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2FC642-ED35-4DED-A13C-F5ECF3A5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31" b="1" i="0">
                <a:solidFill>
                  <a:srgbClr val="B8CCC5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B8CCC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693DBF-D58D-4541-866B-46057B59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1794"/>
          </a:bodyPr>
          <a:lstStyle xmlns:a="http://schemas.openxmlformats.org/drawingml/2006/main"/>
          <a:p xmlns:a="http://schemas.openxmlformats.org/drawingml/2006/main">
            <a:pPr algn="l">
              <a:defRPr sz="3132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32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Yousician sits inside a wider hobby ecosystem, not a narrow app category.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D131A8-9FC0-4B9B-B30D-82C88D50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838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BED1CA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BED1CA"/>
                </a:solidFill>
                <a:latin typeface="Aptos"/>
                <a:ea typeface="Aptos"/>
                <a:cs typeface="Aptos"/>
              </a:rPr>
              <a:t>The map separates close product surfaces from broader influence, infrastructure and cultural demand.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731D0B-129B-435C-A461-9709E2BB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7315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E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17E482-BD26-4D6B-B240-D1FFC52DD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1333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E56C6-8071-476F-9A52-0520E89B2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1839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00D49A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00D49A"/>
                </a:solidFill>
                <a:latin typeface="Aptos Display"/>
                <a:ea typeface="Aptos Display"/>
                <a:cs typeface="Aptos Display"/>
              </a:rPr>
              <a:t>Core habit field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CF6E70-E0E7-4929-8279-F14DA5EE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43200"/>
            <a:ext cx="2343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09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09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Direct learning and practice apps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381A7F-60D8-46E4-B2FE-8C984EB3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193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59876"/>
          </a:bodyPr>
          <a:lstStyle xmlns:a="http://schemas.openxmlformats.org/drawingml/2006/main"/>
          <a:p xmlns:a="http://schemas.openxmlformats.org/drawingml/2006/main">
            <a:pPr algn="l">
              <a:defRPr sz="1183" b="1" i="0">
                <a:solidFill>
                  <a:srgbClr val="D6E4DE"/>
                </a:solidFill>
                <a:latin typeface="Aptos"/>
                <a:ea typeface="Aptos"/>
                <a:cs typeface="Aptos"/>
              </a:defRPr>
            </a:pPr>
            <a:r>
              <a:rPr sz="1183" b="1" i="0">
                <a:solidFill>
                  <a:srgbClr val="D6E4DE"/>
                </a:solidFill>
                <a:latin typeface="Aptos"/>
                <a:ea typeface="Aptos"/>
                <a:cs typeface="Aptos"/>
              </a:rPr>
              <a:t>Closest product pressure: learning apps, practice utilities and song systems define the repeat-use habit.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A02B2A-22C7-4E87-BD23-AFC96731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19350"/>
            <a:ext cx="1485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5197"/>
          </a:bodyPr>
          <a:lstStyle xmlns:a="http://schemas.openxmlformats.org/drawingml/2006/main"/>
          <a:p xmlns:a="http://schemas.openxmlformats.org/drawingml/2006/main">
            <a:pPr algn="l">
              <a:defRPr sz="1061" b="0" i="0">
                <a:solidFill>
                  <a:srgbClr val="A9C7BE"/>
                </a:solidFill>
                <a:latin typeface="Aptos"/>
                <a:ea typeface="Aptos"/>
                <a:cs typeface="Aptos"/>
              </a:defRPr>
            </a:pPr>
            <a:r>
              <a:rPr sz="1061" b="0" i="0">
                <a:solidFill>
                  <a:srgbClr val="A9C7BE"/>
                </a:solidFill>
                <a:latin typeface="Aptos"/>
                <a:ea typeface="Aptos"/>
                <a:cs typeface="Aptos"/>
              </a:rPr>
              <a:t>Learning apps, repertoire systems and practice utilities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ED8669-0295-4C24-A53E-636645E4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7315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E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C6F775-964E-4A82-A993-73CCFBFA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1333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F3EC91-B5F5-4152-9308-5284A719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195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1839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FFBF3F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FFBF3F"/>
                </a:solidFill>
                <a:latin typeface="Aptos Display"/>
                <a:ea typeface="Aptos Display"/>
                <a:cs typeface="Aptos Display"/>
              </a:rPr>
              <a:t>Route and trust field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E2BDEE-EE2B-416C-AB0D-A39254D72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43350"/>
            <a:ext cx="2343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7085"/>
          </a:bodyPr>
          <a:lstStyle xmlns:a="http://schemas.openxmlformats.org/drawingml/2006/main"/>
          <a:p xmlns:a="http://schemas.openxmlformats.org/drawingml/2006/main">
            <a:pPr algn="l">
              <a:defRPr sz="1009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09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Hardware, creators, schools and demand sources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8C8B3B-3664-4EFB-A317-4F29660B8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61950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59876"/>
          </a:bodyPr>
          <a:lstStyle xmlns:a="http://schemas.openxmlformats.org/drawingml/2006/main"/>
          <a:p xmlns:a="http://schemas.openxmlformats.org/drawingml/2006/main">
            <a:pPr algn="l">
              <a:defRPr sz="1183" b="1" i="0">
                <a:solidFill>
                  <a:srgbClr val="D6E4DE"/>
                </a:solidFill>
                <a:latin typeface="Aptos"/>
                <a:ea typeface="Aptos"/>
                <a:cs typeface="Aptos"/>
              </a:defRPr>
            </a:pPr>
            <a:r>
              <a:rPr sz="1183" b="1" i="0">
                <a:solidFill>
                  <a:srgbClr val="D6E4DE"/>
                </a:solidFill>
                <a:latin typeface="Aptos"/>
                <a:ea typeface="Aptos"/>
                <a:cs typeface="Aptos"/>
              </a:rPr>
              <a:t>Beginners often arrive through instruments, teachers, creators and songs rather than app search alone.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B5B022-3719-4E16-B4FA-1C089568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19500"/>
            <a:ext cx="1485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8542"/>
          </a:bodyPr>
          <a:lstStyle xmlns:a="http://schemas.openxmlformats.org/drawingml/2006/main"/>
          <a:p xmlns:a="http://schemas.openxmlformats.org/drawingml/2006/main">
            <a:pPr algn="l">
              <a:defRPr sz="1061" b="0" i="0">
                <a:solidFill>
                  <a:srgbClr val="A9C7BE"/>
                </a:solidFill>
                <a:latin typeface="Aptos"/>
                <a:ea typeface="Aptos"/>
                <a:cs typeface="Aptos"/>
              </a:defRPr>
            </a:pPr>
            <a:r>
              <a:rPr sz="1061" b="0" i="0">
                <a:solidFill>
                  <a:srgbClr val="A9C7BE"/>
                </a:solidFill>
                <a:latin typeface="Aptos"/>
                <a:ea typeface="Aptos"/>
                <a:cs typeface="Aptos"/>
              </a:rPr>
              <a:t>Hardware brands, creators, schools, media and cultural demand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0583FD-DEFF-407F-BECB-368AF3C2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48200"/>
            <a:ext cx="7315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E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CF761C-3365-4E6A-A4AA-DFC5D08A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48200"/>
            <a:ext cx="1333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9F3DAE-806F-471A-A838-600BB68E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96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1839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4C8DF6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4C8DF6"/>
                </a:solidFill>
                <a:latin typeface="Aptos Display"/>
                <a:ea typeface="Aptos Display"/>
                <a:cs typeface="Aptos Display"/>
              </a:rPr>
              <a:t>Infrastructure field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7C72FB-7F50-45E6-A8EF-F30DB421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43500"/>
            <a:ext cx="2343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09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09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AI, rights, capital and recognition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8D1592-60DF-41BE-A3D5-7DA41F19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8196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59876"/>
          </a:bodyPr>
          <a:lstStyle xmlns:a="http://schemas.openxmlformats.org/drawingml/2006/main"/>
          <a:p xmlns:a="http://schemas.openxmlformats.org/drawingml/2006/main">
            <a:pPr algn="l">
              <a:defRPr sz="1183" b="1" i="0">
                <a:solidFill>
                  <a:srgbClr val="D6E4DE"/>
                </a:solidFill>
                <a:latin typeface="Aptos"/>
                <a:ea typeface="Aptos"/>
                <a:cs typeface="Aptos"/>
              </a:defRPr>
            </a:pPr>
            <a:r>
              <a:rPr sz="1183" b="1" i="0">
                <a:solidFill>
                  <a:srgbClr val="D6E4DE"/>
                </a:solidFill>
                <a:latin typeface="Aptos"/>
                <a:ea typeface="Aptos"/>
                <a:cs typeface="Aptos"/>
              </a:rPr>
              <a:t>These actors change the rules, economics and timing of the category without looking like direct app competitors.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CD62EF-3DC5-4FE9-82C1-A9BB5434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19650"/>
            <a:ext cx="1485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9381"/>
          </a:bodyPr>
          <a:lstStyle xmlns:a="http://schemas.openxmlformats.org/drawingml/2006/main"/>
          <a:p xmlns:a="http://schemas.openxmlformats.org/drawingml/2006/main">
            <a:pPr algn="l">
              <a:defRPr sz="1061" b="0" i="0">
                <a:solidFill>
                  <a:srgbClr val="A9C7BE"/>
                </a:solidFill>
                <a:latin typeface="Aptos"/>
                <a:ea typeface="Aptos"/>
                <a:cs typeface="Aptos"/>
              </a:defRPr>
            </a:pPr>
            <a:r>
              <a:rPr sz="1061" b="0" i="0">
                <a:solidFill>
                  <a:srgbClr val="A9C7BE"/>
                </a:solidFill>
                <a:latin typeface="Aptos"/>
                <a:ea typeface="Aptos"/>
                <a:cs typeface="Aptos"/>
              </a:rPr>
              <a:t>AI utilities, labels, investors, awards and funding bodies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21FC34-4D8F-4ABD-A48E-D7A16ABA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24100"/>
            <a:ext cx="13144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25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42B2E8-BC3D-49C8-9776-89A43C73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24100"/>
            <a:ext cx="1314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17125E-5B23-4B3C-B3BA-C0AECEBC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4955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48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48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Direct learning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C28E65-4DD0-40FA-B96F-D25CC74A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57500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35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835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Closest field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292986-47F5-4636-A690-3F479154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324100"/>
            <a:ext cx="13144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25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AC5289-4AED-4C7B-BA48-7C6D7A07D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324100"/>
            <a:ext cx="1314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A45A096-CE2D-4F35-BEDB-5EAA1472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955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9248"/>
          </a:bodyPr>
          <a:lstStyle xmlns:a="http://schemas.openxmlformats.org/drawingml/2006/main"/>
          <a:p xmlns:a="http://schemas.openxmlformats.org/drawingml/2006/main">
            <a:pPr algn="l">
              <a:defRPr sz="1148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48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Hobby demand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465F76-BF15-422C-8283-A1270942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857500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35" b="1" i="0">
                <a:solidFill>
                  <a:srgbClr val="FFBF3F"/>
                </a:solidFill>
                <a:latin typeface="Aptos"/>
                <a:ea typeface="Aptos"/>
                <a:cs typeface="Aptos"/>
              </a:defRPr>
            </a:pPr>
            <a:r>
              <a:rPr sz="835" b="1" i="0">
                <a:solidFill>
                  <a:srgbClr val="FFBF3F"/>
                </a:solidFill>
                <a:latin typeface="Aptos"/>
                <a:ea typeface="Aptos"/>
                <a:cs typeface="Aptos"/>
              </a:rPr>
              <a:t>Adjacency field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18396F-547C-4312-AB12-5F1625E7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90900"/>
            <a:ext cx="13144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25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7CBB3D-6694-4350-845B-E39A76DD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90900"/>
            <a:ext cx="1314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392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55A0C3E-4CD3-4CF3-BC0D-E2AE8B8FF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5623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48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48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Route + trust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ADFE063-E867-4A98-8906-30AEB743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24300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35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835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Partner field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38EC9A8-C239-4859-BE52-B3EBD8C1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90900"/>
            <a:ext cx="13144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25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36B113-DBFD-4250-BDEE-C1CB6C54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90900"/>
            <a:ext cx="1314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55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E43E995-372B-4B05-878E-5A65B32B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5623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48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48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AI + rights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2D02882-804B-4C6B-8D98-F32CFF3A5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924300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35" b="1" i="0">
                <a:solidFill>
                  <a:srgbClr val="F06455"/>
                </a:solidFill>
                <a:latin typeface="Aptos"/>
                <a:ea typeface="Aptos"/>
                <a:cs typeface="Aptos"/>
              </a:defRPr>
            </a:pPr>
            <a:r>
              <a:rPr sz="835" b="1" i="0">
                <a:solidFill>
                  <a:srgbClr val="F06455"/>
                </a:solidFill>
                <a:latin typeface="Aptos"/>
                <a:ea typeface="Aptos"/>
                <a:cs typeface="Aptos"/>
              </a:rPr>
              <a:t>Pressure field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7B751CC-BFEB-4909-89A4-D44A5540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57700"/>
            <a:ext cx="13144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25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247AA1-5999-47AC-8F32-61B86087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57700"/>
            <a:ext cx="1314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67F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1B3CE78-D051-4A48-BCBE-AEE58122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291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9768"/>
          </a:bodyPr>
          <a:lstStyle xmlns:a="http://schemas.openxmlformats.org/drawingml/2006/main"/>
          <a:p xmlns:a="http://schemas.openxmlformats.org/drawingml/2006/main">
            <a:pPr algn="l">
              <a:defRPr sz="1148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48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Capital + awards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CE23BA2-A45F-4EBA-AAB8-362FC55E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91100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35" b="1" i="0">
                <a:solidFill>
                  <a:srgbClr val="7467FF"/>
                </a:solidFill>
                <a:latin typeface="Aptos"/>
                <a:ea typeface="Aptos"/>
                <a:cs typeface="Aptos"/>
              </a:defRPr>
            </a:pPr>
            <a:r>
              <a:rPr sz="835" b="1" i="0">
                <a:solidFill>
                  <a:srgbClr val="7467FF"/>
                </a:solidFill>
                <a:latin typeface="Aptos"/>
                <a:ea typeface="Aptos"/>
                <a:cs typeface="Aptos"/>
              </a:rPr>
              <a:t>Timing field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2B74D6F-89F3-412E-8095-4F6FFBB5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457700"/>
            <a:ext cx="13144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25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794D25E-502F-4856-9910-E3B1E4B43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457700"/>
            <a:ext cx="1314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43278F-A780-4FAA-8230-87EB1211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6291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1676"/>
          </a:bodyPr>
          <a:lstStyle xmlns:a="http://schemas.openxmlformats.org/drawingml/2006/main"/>
          <a:p xmlns:a="http://schemas.openxmlformats.org/drawingml/2006/main">
            <a:pPr algn="l">
              <a:defRPr sz="1148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48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Funding + policy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3928966-C0D9-44CD-A52C-F30DD689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91100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35" b="1" i="0">
                <a:solidFill>
                  <a:srgbClr val="4C8DF6"/>
                </a:solidFill>
                <a:latin typeface="Aptos"/>
                <a:ea typeface="Aptos"/>
                <a:cs typeface="Aptos"/>
              </a:defRPr>
            </a:pPr>
            <a:r>
              <a:rPr sz="835" b="1" i="0">
                <a:solidFill>
                  <a:srgbClr val="4C8DF6"/>
                </a:solidFill>
                <a:latin typeface="Aptos"/>
                <a:ea typeface="Aptos"/>
                <a:cs typeface="Aptos"/>
              </a:rPr>
              <a:t>Support field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F031093-1A02-4C3C-9A1E-6A8E35DA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5" b="0" i="0">
                <a:solidFill>
                  <a:srgbClr val="819A93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819A93"/>
                </a:solidFill>
                <a:latin typeface="Aptos"/>
                <a:ea typeface="Aptos"/>
                <a:cs typeface="Aptos"/>
              </a:rPr>
              <a:t>Source: ecosystem map table. Placement is a synthesis of proximity, influence and momentum.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0D7C9DE-5CBB-4022-B8EA-4227A94A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5" b="0" i="0">
                <a:solidFill>
                  <a:srgbClr val="9BB5AC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9BB5AC"/>
                </a:solidFill>
                <a:latin typeface="Aptos"/>
                <a:ea typeface="Aptos"/>
                <a:cs typeface="Aptos"/>
              </a:rPr>
              <a:t>Yousician Strategic Environment Mapping</a:t>
            </a:r>
          </a:p>
        </p:txBody>
      </p:sp>
    </p:spTree>
    <p:extLst>
      <p:ext uri="{BB962C8B-B14F-4D97-AF65-F5344CB8AC3E}">
        <p14:creationId xmlns:p14="http://schemas.microsoft.com/office/powerpoint/2010/main" val="199757917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C99114-AC6C-40FD-9891-D7F870FB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95CF21-A146-4A72-9272-A53F0283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ED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1BA8C7-0A09-4F21-AA23-A8905A10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E0192B-949D-4C82-90D1-913DDC64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DE99A3-4A6D-44A6-9979-83FC0FD9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6B8F5F-0064-4D6E-A619-1267E21A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D36A86-AC4C-4561-8D62-88208D71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000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719D1B-C61C-45C1-A788-B695F30B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086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19D4F3-678A-46A4-BE51-A0521993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D0AB57-2D18-43BA-9E07-23D20E2D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9575"/>
            <a:ext cx="9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72"/>
          </a:bodyPr>
          <a:lstStyle xmlns:a="http://schemas.openxmlformats.org/drawingml/2006/main"/>
          <a:p xmlns:a="http://schemas.openxmlformats.org/drawingml/2006/main">
            <a:pPr algn="ctr">
              <a:defRPr sz="62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2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7721D6-FF18-4DFD-8A6E-127309C9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31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BRIEF COVERAGE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8C5946-5ACA-42F3-B5EA-07044008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31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131967-A724-4BAB-8792-DDD7BB50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763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3182"/>
          </a:bodyPr>
          <a:lstStyle xmlns:a="http://schemas.openxmlformats.org/drawingml/2006/main"/>
          <a:p xmlns:a="http://schemas.openxmlformats.org/drawingml/2006/main">
            <a:pPr algn="l">
              <a:defRPr sz="330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30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The ecosystem map covers the full category set from the brief.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3206C7-B63B-4BE0-B0D7-E570213E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885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This page makes the assignment logic explicit: broad market context around Yousician, not a narrow competitor list.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985D89-1568-425E-88E4-CCCE160B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4876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DA249E-0B67-4C0B-8E3A-65A7B2286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1143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4B3A6-3A13-45A0-8F15-39914C02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38400"/>
            <a:ext cx="2400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1839"/>
          </a:bodyPr>
          <a:lstStyle xmlns:a="http://schemas.openxmlformats.org/drawingml/2006/main"/>
          <a:p xmlns:a="http://schemas.openxmlformats.org/drawingml/2006/main">
            <a:pPr algn="l">
              <a:defRPr sz="2262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262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Core product field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33CDAD-3C6C-4545-A7AC-4EC4790F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00350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1305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Learning apps, repertoire and practice systems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953206-A3DB-4D86-A10C-E94E7075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4325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Simply, Flowkey, Skoove, Fender Play, Ultimate Guitar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C8CC23-3232-4AE3-85EA-BF5043BB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47900"/>
            <a:ext cx="4876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986023-BFEB-4EFB-848A-71D3F366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47900"/>
            <a:ext cx="1143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9004FE-F788-433E-AEC7-AC64A470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38400"/>
            <a:ext cx="2400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1839"/>
          </a:bodyPr>
          <a:lstStyle xmlns:a="http://schemas.openxmlformats.org/drawingml/2006/main"/>
          <a:p xmlns:a="http://schemas.openxmlformats.org/drawingml/2006/main">
            <a:pPr algn="l">
              <a:defRPr sz="2262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262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Route and trust field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AA715F-9013-4809-ABDE-DD5DEADAB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0350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1" i="0">
                <a:solidFill>
                  <a:srgbClr val="4C8DF6"/>
                </a:solidFill>
                <a:latin typeface="Aptos"/>
                <a:ea typeface="Aptos"/>
                <a:cs typeface="Aptos"/>
              </a:defRPr>
            </a:pPr>
            <a:r>
              <a:rPr sz="1305" b="1" i="0">
                <a:solidFill>
                  <a:srgbClr val="4C8DF6"/>
                </a:solidFill>
                <a:latin typeface="Aptos"/>
                <a:ea typeface="Aptos"/>
                <a:cs typeface="Aptos"/>
              </a:rPr>
              <a:t>Hardware, teachers, institutions and creators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55D69A-0DED-403F-84F5-59632A2B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6341"/>
          </a:bodyPr>
          <a:lstStyle xmlns:a="http://schemas.openxmlformats.org/drawingml/2006/main"/>
          <a:p xmlns:a="http://schemas.openxmlformats.org/drawingml/2006/main">
            <a:pPr algn="l">
              <a:defRPr sz="12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Fender, Yamaha, ABRSM, Trinity, School of Rock, creator educators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78B755-5382-4FD8-A7B8-BB108CCF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24300"/>
            <a:ext cx="4876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46B81A-A1F3-4447-B2D6-0142BAF37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24300"/>
            <a:ext cx="1143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657DA0-39AF-4B25-A91D-39719C0D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14800"/>
            <a:ext cx="2400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9750"/>
          </a:bodyPr>
          <a:lstStyle xmlns:a="http://schemas.openxmlformats.org/drawingml/2006/main"/>
          <a:p xmlns:a="http://schemas.openxmlformats.org/drawingml/2006/main">
            <a:pPr algn="l">
              <a:defRPr sz="2262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262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Demand and culture field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B2E8F3-7EAA-4130-8ED4-D249C114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76750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1" i="0">
                <a:solidFill>
                  <a:srgbClr val="FFBF3F"/>
                </a:solidFill>
                <a:latin typeface="Aptos"/>
                <a:ea typeface="Aptos"/>
                <a:cs typeface="Aptos"/>
              </a:defRPr>
            </a:pPr>
            <a:r>
              <a:rPr sz="1305" b="1" i="0">
                <a:solidFill>
                  <a:srgbClr val="FFBF3F"/>
                </a:solidFill>
                <a:latin typeface="Aptos"/>
                <a:ea typeface="Aptos"/>
                <a:cs typeface="Aptos"/>
              </a:rPr>
              <a:t>Discovery platforms, media and hobby software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461A27-0E5B-44BF-B71E-ED40CF49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1965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9183"/>
          </a:bodyPr>
          <a:lstStyle xmlns:a="http://schemas.openxmlformats.org/drawingml/2006/main"/>
          <a:p xmlns:a="http://schemas.openxmlformats.org/drawingml/2006/main">
            <a:pPr algn="l">
              <a:defRPr sz="12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TikTok, YouTube, Spotify, MuseScore, Songsterr, BandLab, Splice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2CD7EF-D874-4357-84CB-D5129080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24300"/>
            <a:ext cx="4876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10CE0F-F2CC-4DD0-B04E-CF918395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24300"/>
            <a:ext cx="1143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55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935408-93BD-4FB2-8CF3-881D0C43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14800"/>
            <a:ext cx="2400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1839"/>
          </a:bodyPr>
          <a:lstStyle xmlns:a="http://schemas.openxmlformats.org/drawingml/2006/main"/>
          <a:p xmlns:a="http://schemas.openxmlformats.org/drawingml/2006/main">
            <a:pPr algn="l">
              <a:defRPr sz="2262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262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Infrastructure field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CD8FB0-93C6-46F6-A160-479C7C26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76750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0014"/>
          </a:bodyPr>
          <a:lstStyle xmlns:a="http://schemas.openxmlformats.org/drawingml/2006/main"/>
          <a:p xmlns:a="http://schemas.openxmlformats.org/drawingml/2006/main">
            <a:pPr algn="l">
              <a:defRPr sz="1305" b="1" i="0">
                <a:solidFill>
                  <a:srgbClr val="F06455"/>
                </a:solidFill>
                <a:latin typeface="Aptos"/>
                <a:ea typeface="Aptos"/>
                <a:cs typeface="Aptos"/>
              </a:defRPr>
            </a:pPr>
            <a:r>
              <a:rPr sz="1305" b="1" i="0">
                <a:solidFill>
                  <a:srgbClr val="F06455"/>
                </a:solidFill>
                <a:latin typeface="Aptos"/>
                <a:ea typeface="Aptos"/>
                <a:cs typeface="Aptos"/>
              </a:rPr>
              <a:t>AI, rights, capital, awards, funding and market-proof layer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463D25-3BBE-49F3-8DA7-9EA0DAF0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1965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6032"/>
          </a:bodyPr>
          <a:lstStyle xmlns:a="http://schemas.openxmlformats.org/drawingml/2006/main"/>
          <a:p xmlns:a="http://schemas.openxmlformats.org/drawingml/2006/main">
            <a:pPr algn="l">
              <a:defRPr sz="12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Suno, Udio, Moises, publishers, investors, awards, funding, 49 curated moves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C68F16-4142-466D-ABA0-7F849D42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924550"/>
            <a:ext cx="7962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4520E2-70D7-40AC-95BD-60E997D2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9245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392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A4FF5D-ADE4-4EF4-80BB-43D81E39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6124575"/>
            <a:ext cx="1371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01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01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Coverage read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ED592E-F3E9-4AF5-8766-9110880A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6010275"/>
            <a:ext cx="590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7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87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This slide names the four fields that matter. The detailed category inventory stays in the workbook, not on the presentation surface.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3ED92A4-510A-4AD6-938B-F430D49B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5" b="0" i="0">
                <a:solidFill>
                  <a:srgbClr val="74837C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74837C"/>
                </a:solidFill>
                <a:latin typeface="Aptos"/>
                <a:ea typeface="Aptos"/>
                <a:cs typeface="Aptos"/>
              </a:rPr>
              <a:t>Source: brief-aligned category coverage, player database and curated market moves.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2E559C-2F44-4064-8512-DF73C944A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Yousician Strategic Environment Mapping</a:t>
            </a:r>
          </a:p>
        </p:txBody>
      </p:sp>
    </p:spTree>
    <p:extLst>
      <p:ext uri="{BB962C8B-B14F-4D97-AF65-F5344CB8AC3E}">
        <p14:creationId xmlns:p14="http://schemas.microsoft.com/office/powerpoint/2010/main" val="170500954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0A05A6-36A0-4B3F-A64E-4B1E46F8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3B8FE3-BA7F-477B-A689-0DFF42FB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ED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1EF4DD-BE1F-4715-B46C-3A9AF7F9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EA8A73-0105-48FA-B7D3-77B7CA5A5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D51C4C-3206-40FA-ACE8-9CAABEEC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20D28-A7EA-4566-9675-464E519F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DCD8F0-BE23-4E51-8D83-8796FD0C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000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0DACD8-54C3-429D-9319-C8BB44E5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086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DF4444-8B09-45B9-8C2E-33FA7750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4BE0EF-F8AE-4AEE-8C97-D5171B5E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9575"/>
            <a:ext cx="9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72"/>
          </a:bodyPr>
          <a:lstStyle xmlns:a="http://schemas.openxmlformats.org/drawingml/2006/main"/>
          <a:p xmlns:a="http://schemas.openxmlformats.org/drawingml/2006/main">
            <a:pPr algn="ctr">
              <a:defRPr sz="62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2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FF2EFE-114C-4961-9EC5-462CBBC5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31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PRIORITY ACTORS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76FF96-F897-4586-8D47-58583B6E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31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AE5240-D43C-4753-AF90-66785640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763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3182"/>
          </a:bodyPr>
          <a:lstStyle xmlns:a="http://schemas.openxmlformats.org/drawingml/2006/main"/>
          <a:p xmlns:a="http://schemas.openxmlformats.org/drawingml/2006/main">
            <a:pPr algn="l">
              <a:defRPr sz="330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30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Start with four priority actors, not a swollen watchlist.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E0B6CD-D613-4221-A986-8835D811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942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The long tail stays in the database. These four profiles are the first-pass read before board and LST triage expands scope.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3426F1-981D-47AF-824E-31BB5FBB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50673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BE5616-16C4-419D-AA63-1904D0DE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50673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1D8471-6DC5-4921-AB38-FD7F8B7B8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765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1839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2088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2968B6-669E-4921-BFA6-D2907AE3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1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01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Simply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167864-177B-4E43-ACE1-8F2B55C1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19450"/>
            <a:ext cx="2971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27" b="1" i="0">
                <a:solidFill>
                  <a:srgbClr val="B9D4CB"/>
                </a:solidFill>
                <a:latin typeface="Aptos"/>
                <a:ea typeface="Aptos"/>
                <a:cs typeface="Aptos"/>
              </a:defRPr>
            </a:pPr>
            <a:r>
              <a:rPr sz="1027" b="1" i="0">
                <a:solidFill>
                  <a:srgbClr val="B9D4CB"/>
                </a:solidFill>
                <a:latin typeface="Aptos"/>
                <a:ea typeface="Aptos"/>
                <a:cs typeface="Aptos"/>
              </a:rPr>
              <a:t>Direct learning benchmark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2F23B4-9F47-4EFC-931F-58484EC8F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9000"/>
            <a:ext cx="411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3896"/>
          </a:bodyPr>
          <a:lstStyle xmlns:a="http://schemas.openxmlformats.org/drawingml/2006/main"/>
          <a:p xmlns:a="http://schemas.openxmlformats.org/drawingml/2006/main">
            <a:pPr algn="l">
              <a:defRPr sz="1235" b="0" i="0">
                <a:solidFill>
                  <a:srgbClr val="C9D8D2"/>
                </a:solidFill>
                <a:latin typeface="Aptos"/>
                <a:ea typeface="Aptos"/>
                <a:cs typeface="Aptos"/>
              </a:defRPr>
            </a:pPr>
            <a:r>
              <a:rPr sz="1235" b="0" i="0">
                <a:solidFill>
                  <a:srgbClr val="C9D8D2"/>
                </a:solidFill>
                <a:latin typeface="Aptos"/>
                <a:ea typeface="Aptos"/>
                <a:cs typeface="Aptos"/>
              </a:rPr>
              <a:t>Closest app-learning comparison for onboarding, motivation, pricing and subscription habit.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E30030-FDF4-4CA7-BE37-D8F9F9F7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50673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8DA415-08A8-49BA-A90C-646C01A06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50673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7AD07E-969E-46C2-BB4E-0D226A4F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765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1839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FFBF3F"/>
                </a:solidFill>
                <a:latin typeface="Aptos"/>
                <a:ea typeface="Aptos"/>
                <a:cs typeface="Aptos"/>
              </a:defRPr>
            </a:pPr>
            <a:r>
              <a:rPr sz="2088" b="1" i="0">
                <a:solidFill>
                  <a:srgbClr val="FFBF3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AEFA7E-7F9B-4BED-B3AC-5FFC19E2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0035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1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01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Ultimate Guitar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9FCB16-F3BD-4811-AE55-6229C502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19450"/>
            <a:ext cx="2971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27" b="1" i="0">
                <a:solidFill>
                  <a:srgbClr val="FFBF3F"/>
                </a:solidFill>
                <a:latin typeface="Aptos"/>
                <a:ea typeface="Aptos"/>
                <a:cs typeface="Aptos"/>
              </a:defRPr>
            </a:pPr>
            <a:r>
              <a:rPr sz="1027" b="1" i="0">
                <a:solidFill>
                  <a:srgbClr val="FFBF3F"/>
                </a:solidFill>
                <a:latin typeface="Aptos"/>
                <a:ea typeface="Aptos"/>
                <a:cs typeface="Aptos"/>
              </a:rPr>
              <a:t>Repertoire and practice power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8BC0A0-DEFF-4E82-B2D2-7FF44209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29000"/>
            <a:ext cx="411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8635"/>
          </a:bodyPr>
          <a:lstStyle xmlns:a="http://schemas.openxmlformats.org/drawingml/2006/main"/>
          <a:p xmlns:a="http://schemas.openxmlformats.org/drawingml/2006/main">
            <a:pPr algn="l">
              <a:defRPr sz="12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Owns song intent, tabs/chords and repeat-practice behavior around guitar.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5F88BC-0444-4BEB-A84F-554CE4A1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50673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1E3926-ADA5-4DA6-A636-51179287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50673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9E3D4B-4D31-4A9B-B9BE-64B49DBA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00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1839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4C8DF6"/>
                </a:solidFill>
                <a:latin typeface="Aptos"/>
                <a:ea typeface="Aptos"/>
                <a:cs typeface="Aptos"/>
              </a:defRPr>
            </a:pPr>
            <a:r>
              <a:rPr sz="2088" b="1" i="0">
                <a:solidFill>
                  <a:srgbClr val="4C8DF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CCE7F8-96C3-4861-9DAC-D7A5FCAE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3390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1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01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Duolingo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1268DC-17EA-45C5-A702-52B33500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53000"/>
            <a:ext cx="2971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27" b="1" i="0">
                <a:solidFill>
                  <a:srgbClr val="4C8DF6"/>
                </a:solidFill>
                <a:latin typeface="Aptos"/>
                <a:ea typeface="Aptos"/>
                <a:cs typeface="Aptos"/>
              </a:defRPr>
            </a:pPr>
            <a:r>
              <a:rPr sz="1027" b="1" i="0">
                <a:solidFill>
                  <a:srgbClr val="4C8DF6"/>
                </a:solidFill>
                <a:latin typeface="Aptos"/>
                <a:ea typeface="Aptos"/>
                <a:cs typeface="Aptos"/>
              </a:rPr>
              <a:t>Learning mechanics benchmark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A57FB9-EF63-4DD3-82A1-06822329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62550"/>
            <a:ext cx="411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0729"/>
          </a:bodyPr>
          <a:lstStyle xmlns:a="http://schemas.openxmlformats.org/drawingml/2006/main"/>
          <a:p xmlns:a="http://schemas.openxmlformats.org/drawingml/2006/main">
            <a:pPr algn="l">
              <a:defRPr sz="12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Reference point for consumer learning loops, gamification, subscription behavior and AI education.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57B660-98FA-4BCD-80D0-5E70648A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81450"/>
            <a:ext cx="50673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4B2411-D839-402E-9584-3D1D47B4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81450"/>
            <a:ext cx="50673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55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52C5E17-1D05-472C-9AB8-26FA98C1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100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1839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F06455"/>
                </a:solidFill>
                <a:latin typeface="Aptos"/>
                <a:ea typeface="Aptos"/>
                <a:cs typeface="Aptos"/>
              </a:defRPr>
            </a:pPr>
            <a:r>
              <a:rPr sz="2088" b="1" i="0">
                <a:solidFill>
                  <a:srgbClr val="F0645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0A8F5D-5406-4CDB-92B3-4F9C3A5D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3390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1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01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Fender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CE8FDCB-7962-450D-B350-5596A642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53000"/>
            <a:ext cx="2971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27" b="1" i="0">
                <a:solidFill>
                  <a:srgbClr val="F06455"/>
                </a:solidFill>
                <a:latin typeface="Aptos"/>
                <a:ea typeface="Aptos"/>
                <a:cs typeface="Aptos"/>
              </a:defRPr>
            </a:pPr>
            <a:r>
              <a:rPr sz="1027" b="1" i="0">
                <a:solidFill>
                  <a:srgbClr val="F06455"/>
                </a:solidFill>
                <a:latin typeface="Aptos"/>
                <a:ea typeface="Aptos"/>
                <a:cs typeface="Aptos"/>
              </a:rPr>
              <a:t>Hardware trust and route option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C30512-B7C7-47ED-84EB-D96BD929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162550"/>
            <a:ext cx="411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0729"/>
          </a:bodyPr>
          <a:lstStyle xmlns:a="http://schemas.openxmlformats.org/drawingml/2006/main"/>
          <a:p xmlns:a="http://schemas.openxmlformats.org/drawingml/2006/main">
            <a:pPr algn="l">
              <a:defRPr sz="12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Instrument-brand reach shapes beginner confidence, gear routes, bundles and possible distribution paths.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04C955-293C-4B56-AC5A-0CC236434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886450"/>
            <a:ext cx="883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445F1E-BBAF-4DFE-8BC2-79F6C3EE4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88645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55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D126059-D28A-430F-9AA2-457A4970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038850"/>
            <a:ext cx="1371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01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01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Triage rule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6238156-FFBF-483E-A667-915327CEF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972175"/>
            <a:ext cx="6781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7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87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Add Kahoot, AI tools, platforms or other actors only after board/LST feedback confirms the next priority layer.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20EE7E-AA1A-4E1E-AEA8-E60B64A9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5" b="0" i="0">
                <a:solidFill>
                  <a:srgbClr val="74837C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74837C"/>
                </a:solidFill>
                <a:latin typeface="Aptos"/>
                <a:ea typeface="Aptos"/>
                <a:cs typeface="Aptos"/>
              </a:rPr>
              <a:t>Source: executive top-actor ranking and brief-aligned key-player profiles.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06F8DB5-57B5-4B26-8600-C4BA8E35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Yousician Strategic Environment Mapping</a:t>
            </a:r>
          </a:p>
        </p:txBody>
      </p:sp>
    </p:spTree>
    <p:extLst>
      <p:ext uri="{BB962C8B-B14F-4D97-AF65-F5344CB8AC3E}">
        <p14:creationId xmlns:p14="http://schemas.microsoft.com/office/powerpoint/2010/main" val="147955477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D6A248-B75B-4A18-821F-CC461844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93DBB5-65C3-40D1-94DA-D316C0748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ED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081AC8-370F-4BD6-9A73-0107C405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4BBA10-2BA0-4F5D-8F84-0CE334E6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14F2BB-89FA-4BEE-A5FF-40924F80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B23FBA-F805-4617-B63F-5A8B064C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B458A3-BE41-4A7B-A076-37230F15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000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C91862-68DA-4CF7-BD3B-9E61D05E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086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A4BC61-A30B-4814-B85B-EF8D14F7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68974C-AD3F-4664-B0F9-5C8932F0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9575"/>
            <a:ext cx="9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72"/>
          </a:bodyPr>
          <a:lstStyle xmlns:a="http://schemas.openxmlformats.org/drawingml/2006/main"/>
          <a:p xmlns:a="http://schemas.openxmlformats.org/drawingml/2006/main">
            <a:pPr algn="ctr">
              <a:defRPr sz="62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2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AB28D7-F41B-4D62-BA94-AE3B0315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31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WHO IS SUCCESSFUL?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CA6A7B-28C8-45C6-96A8-29E414BA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31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57D929-F816-436D-9057-B0B74637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76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292"/>
          </a:bodyPr>
          <a:lstStyle xmlns:a="http://schemas.openxmlformats.org/drawingml/2006/main"/>
          <a:p xmlns:a="http://schemas.openxmlformats.org/drawingml/2006/main">
            <a:pPr algn="l">
              <a:defRPr sz="330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30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Success is visible across influence surfaces, not only app revenue.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547BAD-3D09-4F8F-99DC-338594D1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857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The strongest actors win different parts of the journey: app onboarding, repertoire, practice utility, creation, community, trust, hardware and discovery.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F594B9-D73E-4F48-8F2A-1649F29A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48958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00742B-A1E0-4B0C-90DE-B4B28F37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48958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82CD00-AAE7-4687-A446-E7AD44CB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7175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2661"/>
          </a:bodyPr>
          <a:lstStyle xmlns:a="http://schemas.openxmlformats.org/drawingml/2006/main"/>
          <a:p xmlns:a="http://schemas.openxmlformats.org/drawingml/2006/main">
            <a:pPr algn="l">
              <a:defRPr sz="1349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1349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Direct learning winner logic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D100D6-5F93-4287-ACBB-B6BBC995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38450"/>
            <a:ext cx="3810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233"/>
          </a:bodyPr>
          <a:lstStyle xmlns:a="http://schemas.openxmlformats.org/drawingml/2006/main"/>
          <a:p xmlns:a="http://schemas.openxmlformats.org/drawingml/2006/main">
            <a:pPr algn="l">
              <a:defRPr sz="243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43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Simply / JoyTunes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D91F22-0E5E-45C9-83CA-92BE5F92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8888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Onboarding, guided practice and subscription learning quality.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546C1A-ABFF-474C-8741-2889DC83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43150"/>
            <a:ext cx="48958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C0D353-198F-46C1-8276-41929F9E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43150"/>
            <a:ext cx="48958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B06096-427C-41DC-82BC-AC9810C1A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7175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2661"/>
          </a:bodyPr>
          <a:lstStyle xmlns:a="http://schemas.openxmlformats.org/drawingml/2006/main"/>
          <a:p xmlns:a="http://schemas.openxmlformats.org/drawingml/2006/main">
            <a:pPr algn="l">
              <a:defRPr sz="1349" b="1" i="0">
                <a:solidFill>
                  <a:srgbClr val="FFBF3F"/>
                </a:solidFill>
                <a:latin typeface="Aptos"/>
                <a:ea typeface="Aptos"/>
                <a:cs typeface="Aptos"/>
              </a:defRPr>
            </a:pPr>
            <a:r>
              <a:rPr sz="1349" b="1" i="0">
                <a:solidFill>
                  <a:srgbClr val="FFBF3F"/>
                </a:solidFill>
                <a:latin typeface="Aptos"/>
                <a:ea typeface="Aptos"/>
                <a:cs typeface="Aptos"/>
              </a:rPr>
              <a:t>Song and repertoire power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257501-5B63-4A55-9132-F5879DDC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38450"/>
            <a:ext cx="3810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233"/>
          </a:bodyPr>
          <a:lstStyle xmlns:a="http://schemas.openxmlformats.org/drawingml/2006/main"/>
          <a:p xmlns:a="http://schemas.openxmlformats.org/drawingml/2006/main">
            <a:pPr algn="l">
              <a:defRPr sz="243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43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Ultimate Guitar / Muse Group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E3E659-664F-43F8-ACEC-D777E62C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766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Who owns the reason to practice and return.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C6B3AA-652C-40D4-8D89-CF121EB0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48958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EA6D8D-E6FF-4E6E-AAF5-81B54D2B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48958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DDDDAF-E642-4687-9944-6BDB33EE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2661"/>
          </a:bodyPr>
          <a:lstStyle xmlns:a="http://schemas.openxmlformats.org/drawingml/2006/main"/>
          <a:p xmlns:a="http://schemas.openxmlformats.org/drawingml/2006/main">
            <a:pPr algn="l">
              <a:defRPr sz="1349" b="1" i="0">
                <a:solidFill>
                  <a:srgbClr val="4C8DF6"/>
                </a:solidFill>
                <a:latin typeface="Aptos"/>
                <a:ea typeface="Aptos"/>
                <a:cs typeface="Aptos"/>
              </a:defRPr>
            </a:pPr>
            <a:r>
              <a:rPr sz="1349" b="1" i="0">
                <a:solidFill>
                  <a:srgbClr val="4C8DF6"/>
                </a:solidFill>
                <a:latin typeface="Aptos"/>
                <a:ea typeface="Aptos"/>
                <a:cs typeface="Aptos"/>
              </a:rPr>
              <a:t>AI and utility power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C1EEAE-84FD-4BAE-8CEE-CA75B289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57700"/>
            <a:ext cx="3810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233"/>
          </a:bodyPr>
          <a:lstStyle xmlns:a="http://schemas.openxmlformats.org/drawingml/2006/main"/>
          <a:p xmlns:a="http://schemas.openxmlformats.org/drawingml/2006/main">
            <a:pPr algn="l">
              <a:defRPr sz="243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43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Moises / Music.AI / Suno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8D613E-E7A9-4081-B474-5465343E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95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4474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Who changes effort, speed and participation expectations.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1D773D-8505-4E7F-87F3-4AFEC555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48958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2BABB4-A092-4975-AAE3-1827AC76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48958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55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07E44E-B6FF-4781-A74A-D2CE06E3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910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2661"/>
          </a:bodyPr>
          <a:lstStyle xmlns:a="http://schemas.openxmlformats.org/drawingml/2006/main"/>
          <a:p xmlns:a="http://schemas.openxmlformats.org/drawingml/2006/main">
            <a:pPr algn="l">
              <a:defRPr sz="1349" b="1" i="0">
                <a:solidFill>
                  <a:srgbClr val="F06455"/>
                </a:solidFill>
                <a:latin typeface="Aptos"/>
                <a:ea typeface="Aptos"/>
                <a:cs typeface="Aptos"/>
              </a:defRPr>
            </a:pPr>
            <a:r>
              <a:rPr sz="1349" b="1" i="0">
                <a:solidFill>
                  <a:srgbClr val="F06455"/>
                </a:solidFill>
                <a:latin typeface="Aptos"/>
                <a:ea typeface="Aptos"/>
                <a:cs typeface="Aptos"/>
              </a:rPr>
              <a:t>Demand and trust power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F4FAC0-B54D-4EB8-BBBC-F878A779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57700"/>
            <a:ext cx="3810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233"/>
          </a:bodyPr>
          <a:lstStyle xmlns:a="http://schemas.openxmlformats.org/drawingml/2006/main"/>
          <a:p xmlns:a="http://schemas.openxmlformats.org/drawingml/2006/main">
            <a:pPr algn="l">
              <a:defRPr sz="243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43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Fender / creators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0EED4E-C2B9-4B08-A182-D3B6A7D2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95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6537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Who decides whether a learner arrives confident and motivated.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991BB7-480A-49F8-B6F1-0ADFB0F4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769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715EBAF-F7D7-4220-BB1F-640B2A50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76900"/>
            <a:ext cx="76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55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2374D5-1EFA-4218-8134-748632AD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857875"/>
            <a:ext cx="1371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0753"/>
          </a:bodyPr>
          <a:lstStyle xmlns:a="http://schemas.openxmlformats.org/drawingml/2006/main"/>
          <a:p xmlns:a="http://schemas.openxmlformats.org/drawingml/2006/main">
            <a:pPr algn="l">
              <a:defRPr sz="1001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01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App-performance caveat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A58F1E-B2D6-48CF-9C2E-00D2A322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762625"/>
            <a:ext cx="5753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7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87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This slide shows where success appears. Final performance winners still require credentialed Appfigures export.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F55E4E7-FB81-4B43-95BB-1589708C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5" b="0" i="0">
                <a:solidFill>
                  <a:srgbClr val="74837C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74837C"/>
                </a:solidFill>
                <a:latin typeface="Aptos"/>
                <a:ea typeface="Aptos"/>
                <a:cs typeface="Aptos"/>
              </a:rPr>
              <a:t>Source: executive synthesis, key-player profiles and direct learning snapshot.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C5936CF-FFD7-45A5-94F8-63DAC4FE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Yousician Strategic Environment Mapping</a:t>
            </a:r>
          </a:p>
        </p:txBody>
      </p:sp>
    </p:spTree>
    <p:extLst>
      <p:ext uri="{BB962C8B-B14F-4D97-AF65-F5344CB8AC3E}">
        <p14:creationId xmlns:p14="http://schemas.microsoft.com/office/powerpoint/2010/main" val="17470699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055258-C376-421B-A704-F2121E08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B5BCD-8475-4A42-BC56-49015A0A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ED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F04389-2202-4791-A104-BEA0055B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E1E208-D530-4F8E-970C-694EBA09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AA4F88-5BCF-4E56-89A2-05A2C17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D52334-CDC9-460B-847E-567196B5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FFC10D-9588-4C65-BC88-A4A7C0A3E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000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360BEF-6301-4BC1-8D62-561E0C18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086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0BCF48-5BE8-4823-9544-7650AE50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6E2FFB-3AAE-4E89-8BCB-B6029203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9575"/>
            <a:ext cx="9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72"/>
          </a:bodyPr>
          <a:lstStyle xmlns:a="http://schemas.openxmlformats.org/drawingml/2006/main"/>
          <a:p xmlns:a="http://schemas.openxmlformats.org/drawingml/2006/main">
            <a:pPr algn="ctr">
              <a:defRPr sz="62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2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923427-11E5-4AE3-97D7-C34F1B44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31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DIRECT LEARNING APPS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19B2D2-3136-4DEF-B029-8A622DAC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31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375B57-510F-439C-B84C-45866181D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76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292"/>
          </a:bodyPr>
          <a:lstStyle xmlns:a="http://schemas.openxmlformats.org/drawingml/2006/main"/>
          <a:p xmlns:a="http://schemas.openxmlformats.org/drawingml/2006/main">
            <a:pPr algn="l">
              <a:defRPr sz="330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30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Direct learning apps are present as a field; performance ranking waits for Appfigures.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1BD9E5-9A0D-42D8-8E80-F87820C8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885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Public sources show who belongs in the landscape. Revenue, downloads, rankings and country mix should only be ranked after credentialed data import.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5B8F1B-7488-4696-AEAD-B0574397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28850"/>
            <a:ext cx="10363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466205-07F6-4AEF-87B4-478D40AA2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28850"/>
            <a:ext cx="1143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FBB44A-7801-47DA-8A59-138FB11C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00300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8966"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Mobile-first app benchmarks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693E49-FAF5-403D-A313-86588A80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00300"/>
            <a:ext cx="2724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8779"/>
          </a:bodyPr>
          <a:lstStyle xmlns:a="http://schemas.openxmlformats.org/drawingml/2006/main"/>
          <a:p xmlns:a="http://schemas.openxmlformats.org/drawingml/2006/main">
            <a:pPr algn="l">
              <a:defRPr sz="1392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92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Simply, Flowkey, Skoove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CF2355-0F2B-47AC-B9A6-6F058113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05100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2307"/>
          </a:bodyPr>
          <a:lstStyle xmlns:a="http://schemas.openxmlformats.org/drawingml/2006/main"/>
          <a:p xmlns:a="http://schemas.openxmlformats.org/drawingml/2006/main">
            <a:pPr algn="l">
              <a:defRPr sz="1201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01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Closest consumer-learning comparison set for onboarding, motivation and subscription learning.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A9B920-6926-43EC-84F6-2E9AC04B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336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BF7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EB2E48-4177-4AC4-8F56-DE0549C7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600325"/>
            <a:ext cx="1676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70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870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Pending Appfigures export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57C3C2-DDE8-478A-ABB0-78B55332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0363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2BBA45-4B9B-4141-8111-56FE1E52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143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60B19B-4684-4D1C-B1DB-62E8D0BF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24250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8966"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Brand and hardware funnels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56EAB4-988B-4DB2-A3DD-A95E76D95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24250"/>
            <a:ext cx="2724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8779"/>
          </a:bodyPr>
          <a:lstStyle xmlns:a="http://schemas.openxmlformats.org/drawingml/2006/main"/>
          <a:p xmlns:a="http://schemas.openxmlformats.org/drawingml/2006/main">
            <a:pPr algn="l">
              <a:defRPr sz="1392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92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Fender Play, Gibson App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026E86-BBE3-449B-9379-C7E2E37C9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29050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5902"/>
          </a:bodyPr>
          <a:lstStyle xmlns:a="http://schemas.openxmlformats.org/drawingml/2006/main"/>
          <a:p xmlns:a="http://schemas.openxmlformats.org/drawingml/2006/main">
            <a:pPr algn="l">
              <a:defRPr sz="1201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01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Shows how instrument brands convert purchase intent into structured practice.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4F7707-B1F9-4B00-AB5A-67A08D29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5760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BF7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EF5A36-0E8F-4CBA-B7FD-2F4AD898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724275"/>
            <a:ext cx="1676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70" b="1" i="0">
                <a:solidFill>
                  <a:srgbClr val="4C8DF6"/>
                </a:solidFill>
                <a:latin typeface="Aptos"/>
                <a:ea typeface="Aptos"/>
                <a:cs typeface="Aptos"/>
              </a:defRPr>
            </a:pPr>
            <a:r>
              <a:rPr sz="870" b="1" i="0">
                <a:solidFill>
                  <a:srgbClr val="4C8DF6"/>
                </a:solidFill>
                <a:latin typeface="Aptos"/>
                <a:ea typeface="Aptos"/>
                <a:cs typeface="Aptos"/>
              </a:rPr>
              <a:t>Pending Appfigures export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5CF764-16A8-4D04-827A-A4E89CC19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10363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E25B2F-344C-4C48-957A-BF0CD583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1143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B94A9E-E260-433C-95F6-D9E1FE91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48200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3860"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Song and adjacent practice field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358101-B61E-4B6F-B941-C0EC6CDC8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48200"/>
            <a:ext cx="2724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8429"/>
          </a:bodyPr>
          <a:lstStyle xmlns:a="http://schemas.openxmlformats.org/drawingml/2006/main"/>
          <a:p xmlns:a="http://schemas.openxmlformats.org/drawingml/2006/main">
            <a:pPr algn="l">
              <a:defRPr sz="1392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92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Rocksmith+, Musora, GuitarTuna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E2022F-802D-4662-83B2-34D958E8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953000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8406"/>
          </a:bodyPr>
          <a:lstStyle xmlns:a="http://schemas.openxmlformats.org/drawingml/2006/main"/>
          <a:p xmlns:a="http://schemas.openxmlformats.org/drawingml/2006/main">
            <a:pPr algn="l">
              <a:defRPr sz="1201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01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Captures higher-intent practice, repertoire pull and adjacent demand signals.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292DA5-E35C-49D6-BE1E-7A39AED2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815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BF7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58F3D5-8D33-49DC-893A-30FF17E6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848225"/>
            <a:ext cx="1676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70" b="1" i="0">
                <a:solidFill>
                  <a:srgbClr val="FFBF3F"/>
                </a:solidFill>
                <a:latin typeface="Aptos"/>
                <a:ea typeface="Aptos"/>
                <a:cs typeface="Aptos"/>
              </a:defRPr>
            </a:pPr>
            <a:r>
              <a:rPr sz="870" b="1" i="0">
                <a:solidFill>
                  <a:srgbClr val="FFBF3F"/>
                </a:solidFill>
                <a:latin typeface="Aptos"/>
                <a:ea typeface="Aptos"/>
                <a:cs typeface="Aptos"/>
              </a:rPr>
              <a:t>Pending Appfigures export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BBCCF5-660C-4732-AF5D-56929345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72150"/>
            <a:ext cx="10363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BF7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3022384-AC91-423A-B646-AFE34363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943600"/>
            <a:ext cx="2095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5785"/>
          </a:bodyPr>
          <a:lstStyle xmlns:a="http://schemas.openxmlformats.org/drawingml/2006/main"/>
          <a:p xmlns:a="http://schemas.openxmlformats.org/drawingml/2006/main">
            <a:pPr algn="l">
              <a:defRPr sz="1044" b="1" i="0">
                <a:solidFill>
                  <a:srgbClr val="F06455"/>
                </a:solidFill>
                <a:latin typeface="Aptos"/>
                <a:ea typeface="Aptos"/>
                <a:cs typeface="Aptos"/>
              </a:defRPr>
            </a:pPr>
            <a:r>
              <a:rPr sz="1044" b="1" i="0">
                <a:solidFill>
                  <a:srgbClr val="F06455"/>
                </a:solidFill>
                <a:latin typeface="Aptos"/>
                <a:ea typeface="Aptos"/>
                <a:cs typeface="Aptos"/>
              </a:rPr>
              <a:t>What is missing on purpose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D6421F-7E37-4D00-8644-C5D9CBF7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9055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5828"/>
          </a:bodyPr>
          <a:lstStyle xmlns:a="http://schemas.openxmlformats.org/drawingml/2006/main"/>
          <a:p xmlns:a="http://schemas.openxmlformats.org/drawingml/2006/main">
            <a:pPr algn="l">
              <a:defRPr sz="1218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218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Revenue, downloads, country mix and ranking order stay out of the deck until credentialed Appfigures is imported.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AD3F5D-4A9A-4C9D-8F06-BD86CD6E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5" b="0" i="0">
                <a:solidFill>
                  <a:srgbClr val="74837C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74837C"/>
                </a:solidFill>
                <a:latin typeface="Aptos"/>
                <a:ea typeface="Aptos"/>
                <a:cs typeface="Aptos"/>
              </a:rPr>
              <a:t>Source: direct learning apps snapshot and Appfigures data request.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9F7D59D-E215-4EE4-BFCB-035494F2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Yousician Strategic Environment Mapping</a:t>
            </a:r>
          </a:p>
        </p:txBody>
      </p:sp>
    </p:spTree>
    <p:extLst>
      <p:ext uri="{BB962C8B-B14F-4D97-AF65-F5344CB8AC3E}">
        <p14:creationId xmlns:p14="http://schemas.microsoft.com/office/powerpoint/2010/main" val="194684966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FFEC6E-E951-44A0-AF15-4A1E2EE3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58DD73-8E1D-4B21-BAB3-E06BC448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ED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FF88E5-D80C-4961-8634-4AA8C90F7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099C51-5E23-4E96-8B0B-A31D0CEA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131051-9071-4108-BFDD-14DC60D1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9D6D2E-73B4-4ABB-ABA5-0F19A144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C8D9A9-EE8F-4B3D-A285-107E5CFA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000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236F99-2C38-4B81-B5CC-3099C39D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086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F0333A-A307-433D-811F-2B55EF28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CC2CE3-87B4-41D5-931B-48414FB9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9575"/>
            <a:ext cx="9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72"/>
          </a:bodyPr>
          <a:lstStyle xmlns:a="http://schemas.openxmlformats.org/drawingml/2006/main"/>
          <a:p xmlns:a="http://schemas.openxmlformats.org/drawingml/2006/main">
            <a:pPr algn="ctr">
              <a:defRPr sz="62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2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AC828F-7703-40D5-973C-79C5C64A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31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LAST 24 MONTHS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CAAF0-A6D2-4EC1-8BE5-0139F3EF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31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3593B5-AF14-4FC3-A082-14BEAD9A6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763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023"/>
          </a:bodyPr>
          <a:lstStyle xmlns:a="http://schemas.openxmlformats.org/drawingml/2006/main"/>
          <a:p xmlns:a="http://schemas.openxmlformats.org/drawingml/2006/main">
            <a:pPr algn="l">
              <a:defRPr sz="3480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480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The market narrative is being rewritten by AI, rights and capital.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F70C64-EBEA-4962-BCFB-4C94D854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This page keeps only the few developments that change executive understanding of the field.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445581-6570-43AF-ABB2-3A8A2BD1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24003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C0A45B-7BF8-4B54-A9E8-EAA76745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95550"/>
            <a:ext cx="819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4234"/>
          </a:bodyPr>
          <a:lstStyle xmlns:a="http://schemas.openxmlformats.org/drawingml/2006/main"/>
          <a:p xmlns:a="http://schemas.openxmlformats.org/drawingml/2006/main">
            <a:pPr algn="l">
              <a:defRPr sz="5220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5220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49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562198-AA5F-4FF3-8399-529E94DE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575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2102"/>
          </a:bodyPr>
          <a:lstStyle xmlns:a="http://schemas.openxmlformats.org/drawingml/2006/main"/>
          <a:p xmlns:a="http://schemas.openxmlformats.org/drawingml/2006/main">
            <a:pPr algn="l">
              <a:defRPr sz="1827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27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news-grade</a:t>
            </a:r>
          </a:p>
          <a:p xmlns:a="http://schemas.openxmlformats.org/drawingml/2006/main">
            <a:pPr algn="l">
              <a:defRPr sz="1827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27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market moves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18FACF-D489-4A5B-A3D1-9771387C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1485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B65FE5-0780-4223-A03A-81EAC134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71950"/>
            <a:ext cx="1485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324"/>
          </a:bodyPr>
          <a:lstStyle xmlns:a="http://schemas.openxmlformats.org/drawingml/2006/main"/>
          <a:p xmlns:a="http://schemas.openxmlformats.org/drawingml/2006/main">
            <a:pPr algn="l">
              <a:defRPr sz="1044" b="1" i="0">
                <a:solidFill>
                  <a:srgbClr val="FFBF3F"/>
                </a:solidFill>
                <a:latin typeface="Aptos"/>
                <a:ea typeface="Aptos"/>
                <a:cs typeface="Aptos"/>
              </a:defRPr>
            </a:pPr>
            <a:r>
              <a:rPr sz="1044" b="1" i="0">
                <a:solidFill>
                  <a:srgbClr val="FFBF3F"/>
                </a:solidFill>
                <a:latin typeface="Aptos"/>
                <a:ea typeface="Aptos"/>
                <a:cs typeface="Aptos"/>
              </a:rPr>
              <a:t>Three executive trend lines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1429D6-70E6-43D8-AA42-43407193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1960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2F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525055-1780-49E8-BC50-0BDDC178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19600"/>
            <a:ext cx="76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55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04C41E-7BC0-4F19-A267-DBFEE70A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7675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6028"/>
          </a:bodyPr>
          <a:lstStyle xmlns:a="http://schemas.openxmlformats.org/drawingml/2006/main"/>
          <a:p xmlns:a="http://schemas.openxmlformats.org/drawingml/2006/main">
            <a:pPr algn="l">
              <a:defRPr sz="748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48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 is moving from novelty to infrastructure.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5940C6-4844-4922-9818-CF380029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43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2F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B349E1-38DF-46FB-9130-EAC6A8E9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43450"/>
            <a:ext cx="76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67F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D15460-86AD-42B0-9877-CF06B9D5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006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3581"/>
          </a:bodyPr>
          <a:lstStyle xmlns:a="http://schemas.openxmlformats.org/drawingml/2006/main"/>
          <a:p xmlns:a="http://schemas.openxmlformats.org/drawingml/2006/main">
            <a:pPr algn="l">
              <a:defRPr sz="748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48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Rights disputes now shape trust and timing.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8D160A-D7FB-494E-BE1A-DE854717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6730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2F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3F20C9-A5C5-48DB-A5AF-7704044E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67300"/>
            <a:ext cx="76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E25EF6-D3D0-4183-AF6D-A46CAC4C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2445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3143"/>
          </a:bodyPr>
          <a:lstStyle xmlns:a="http://schemas.openxmlformats.org/drawingml/2006/main"/>
          <a:p xmlns:a="http://schemas.openxmlformats.org/drawingml/2006/main">
            <a:pPr algn="l">
              <a:defRPr sz="748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48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Capital is concentrating around utility and creators.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30E134-CA20-4F61-9C5B-5CFD19D4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09800"/>
            <a:ext cx="7581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6034FC-4D54-4459-88FF-FDA5D522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09800"/>
            <a:ext cx="114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55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5F9369-4AAB-47ED-BA6E-D2C037AC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381250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9767"/>
          </a:bodyPr>
          <a:lstStyle xmlns:a="http://schemas.openxmlformats.org/drawingml/2006/main"/>
          <a:p xmlns:a="http://schemas.openxmlformats.org/drawingml/2006/main">
            <a:pPr algn="l">
              <a:defRPr sz="1114" b="1" i="0">
                <a:solidFill>
                  <a:srgbClr val="F06455"/>
                </a:solidFill>
                <a:latin typeface="Aptos"/>
                <a:ea typeface="Aptos"/>
                <a:cs typeface="Aptos"/>
              </a:defRPr>
            </a:pPr>
            <a:r>
              <a:rPr sz="1114" b="1" i="0">
                <a:solidFill>
                  <a:srgbClr val="F06455"/>
                </a:solidFill>
                <a:latin typeface="Aptos"/>
                <a:ea typeface="Aptos"/>
                <a:cs typeface="Aptos"/>
              </a:rPr>
              <a:t>Jun 2026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D587DE-AEB7-4055-9A65-365E042C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177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5852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Suno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6F3AED-3ADB-4D7A-A405-B8ECD177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81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5322"/>
          </a:bodyPr>
          <a:lstStyle xmlns:a="http://schemas.openxmlformats.org/drawingml/2006/main"/>
          <a:p xmlns:a="http://schemas.openxmlformats.org/drawingml/2006/main">
            <a:pPr algn="l">
              <a:defRPr sz="1340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40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Series D above $400M at $5.4B valuation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4882B6-559D-4A81-BA1F-74379998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381250"/>
            <a:ext cx="133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1314"/>
          </a:bodyPr>
          <a:lstStyle xmlns:a="http://schemas.openxmlformats.org/drawingml/2006/main"/>
          <a:p xmlns:a="http://schemas.openxmlformats.org/drawingml/2006/main">
            <a:pPr algn="l">
              <a:defRPr sz="1201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01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AI creation is now venture-scale consumer infrastructure.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EEA6F4-BC0A-4F81-858D-08B282AF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90900"/>
            <a:ext cx="7581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79780B-376D-46A2-BBC9-34CFFC85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90900"/>
            <a:ext cx="114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F4F904-6620-4E45-B055-C5E4864C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562350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9767"/>
          </a:bodyPr>
          <a:lstStyle xmlns:a="http://schemas.openxmlformats.org/drawingml/2006/main"/>
          <a:p xmlns:a="http://schemas.openxmlformats.org/drawingml/2006/main">
            <a:pPr algn="l">
              <a:defRPr sz="1114" b="1" i="0">
                <a:solidFill>
                  <a:srgbClr val="4C8DF6"/>
                </a:solidFill>
                <a:latin typeface="Aptos"/>
                <a:ea typeface="Aptos"/>
                <a:cs typeface="Aptos"/>
              </a:defRPr>
            </a:pPr>
            <a:r>
              <a:rPr sz="1114" b="1" i="0">
                <a:solidFill>
                  <a:srgbClr val="4C8DF6"/>
                </a:solidFill>
                <a:latin typeface="Aptos"/>
                <a:ea typeface="Aptos"/>
                <a:cs typeface="Aptos"/>
              </a:rPr>
              <a:t>Jun 2026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D01F1F3-36ED-495F-ADCE-22DBB0B6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62350"/>
            <a:ext cx="177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5852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Fender + Moises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A8671A7-DFDA-42D2-A69C-C494081B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55970"/>
          </a:bodyPr>
          <a:lstStyle xmlns:a="http://schemas.openxmlformats.org/drawingml/2006/main"/>
          <a:p xmlns:a="http://schemas.openxmlformats.org/drawingml/2006/main">
            <a:pPr algn="l">
              <a:defRPr sz="1340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40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Studio Pro added stem separation and smart-assistant tooling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5FE3EE-4A59-4AC0-AF47-521D0FFB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562350"/>
            <a:ext cx="133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6548"/>
          </a:bodyPr>
          <a:lstStyle xmlns:a="http://schemas.openxmlformats.org/drawingml/2006/main"/>
          <a:p xmlns:a="http://schemas.openxmlformats.org/drawingml/2006/main">
            <a:pPr algn="l">
              <a:defRPr sz="1201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01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Instrument brands are moving into AI practice utility.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2F3C63E-94FB-4088-8D88-373BB759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572000"/>
            <a:ext cx="7581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EA80095-F08A-4F1D-BFB3-6EF1113B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572000"/>
            <a:ext cx="114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67F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0EC837E-7BA5-4700-BD85-E6CF5F56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743450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9767"/>
          </a:bodyPr>
          <a:lstStyle xmlns:a="http://schemas.openxmlformats.org/drawingml/2006/main"/>
          <a:p xmlns:a="http://schemas.openxmlformats.org/drawingml/2006/main">
            <a:pPr algn="l">
              <a:defRPr sz="1114" b="1" i="0">
                <a:solidFill>
                  <a:srgbClr val="7467FF"/>
                </a:solidFill>
                <a:latin typeface="Aptos"/>
                <a:ea typeface="Aptos"/>
                <a:cs typeface="Aptos"/>
              </a:defRPr>
            </a:pPr>
            <a:r>
              <a:rPr sz="1114" b="1" i="0">
                <a:solidFill>
                  <a:srgbClr val="7467FF"/>
                </a:solidFill>
                <a:latin typeface="Aptos"/>
                <a:ea typeface="Aptos"/>
                <a:cs typeface="Aptos"/>
              </a:rPr>
              <a:t>Jun 2026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2C3E9D3-36BF-47E3-B1BD-B05A2163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743450"/>
            <a:ext cx="177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5852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Google / Lyria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78EE414-1F9B-40E4-829B-4360D643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7434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55970"/>
          </a:bodyPr>
          <a:lstStyle xmlns:a="http://schemas.openxmlformats.org/drawingml/2006/main"/>
          <a:p xmlns:a="http://schemas.openxmlformats.org/drawingml/2006/main">
            <a:pPr algn="l">
              <a:defRPr sz="1340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40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Musicians sued over alleged YouTube music use for AI training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AEFE783-9A47-43B0-B1F3-91E3AA7B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43450"/>
            <a:ext cx="133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0351"/>
          </a:bodyPr>
          <a:lstStyle xmlns:a="http://schemas.openxmlformats.org/drawingml/2006/main"/>
          <a:p xmlns:a="http://schemas.openxmlformats.org/drawingml/2006/main">
            <a:pPr algn="l">
              <a:defRPr sz="1201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201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Creator-platform data rights now affect music-AI trust.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B8C3210-88C4-4D7A-BA8E-48AB0043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829300"/>
            <a:ext cx="7581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FF7E82E-4960-4292-8D84-A5853B18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829300"/>
            <a:ext cx="76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392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3CA052C-A730-44DA-9DC6-DCD65F69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943600"/>
            <a:ext cx="1371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01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01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Curation rule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C07E128-2778-4223-923E-65B9C886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915025"/>
            <a:ext cx="552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4555"/>
          </a:bodyPr>
          <a:lstStyle xmlns:a="http://schemas.openxmlformats.org/drawingml/2006/main"/>
          <a:p xmlns:a="http://schemas.openxmlformats.org/drawingml/2006/main">
            <a:pPr algn="l">
              <a:defRPr sz="887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87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The deck carries only the moves that change board understanding. The broader move library stays in the workbook and report appendix.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9166442-37AB-48F8-B9FA-0D43A817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5" b="0" i="0">
                <a:solidFill>
                  <a:srgbClr val="74837C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74837C"/>
                </a:solidFill>
                <a:latin typeface="Aptos"/>
                <a:ea typeface="Aptos"/>
                <a:cs typeface="Aptos"/>
              </a:rPr>
              <a:t>Source: curated 24-month market moves.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CE71B92-AEAE-4979-8E58-9A7C79FDC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Yousician Strategic Environment Mapping</a:t>
            </a:r>
          </a:p>
        </p:txBody>
      </p:sp>
    </p:spTree>
    <p:extLst>
      <p:ext uri="{BB962C8B-B14F-4D97-AF65-F5344CB8AC3E}">
        <p14:creationId xmlns:p14="http://schemas.microsoft.com/office/powerpoint/2010/main" val="30058014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DC97F2-8F42-41CF-876E-F72DF8C2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D1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D6BAE8-F3E8-4D1C-BACE-C40F393F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33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22E8E-68D0-4065-A157-8AD775E9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33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068A25-5591-4F48-BD35-20A87912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33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05EBD2-835E-47A5-A73F-EB451AEB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33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939A34-93FA-407F-8F2B-E9041901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33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C679A5-8A21-4A02-A615-2C21C89D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4E1B4D-3CCE-4BFF-A70D-3C0246CD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9575"/>
            <a:ext cx="9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72"/>
          </a:bodyPr>
          <a:lstStyle xmlns:a="http://schemas.openxmlformats.org/drawingml/2006/main"/>
          <a:p xmlns:a="http://schemas.openxmlformats.org/drawingml/2006/main">
            <a:pPr algn="ctr">
              <a:defRPr sz="62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2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EECADC-CFF9-4D6F-B0D5-CEA72BAF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31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AI AND RIGHTS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CB10EF-A7F4-459B-A025-6EB5DC83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31" b="1" i="0">
                <a:solidFill>
                  <a:srgbClr val="B8CCC5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B8CCC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236BDA-0AF0-4F5A-BAF7-92AB8E849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763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372"/>
          </a:bodyPr>
          <a:lstStyle xmlns:a="http://schemas.openxmlformats.org/drawingml/2006/main"/>
          <a:p xmlns:a="http://schemas.openxmlformats.org/drawingml/2006/main">
            <a:pPr algn="l">
              <a:defRPr sz="3219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219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AI changes the shape of participation and the rules around it.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0E3C50-2008-4E0A-89C2-E0227EF3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876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BED1CA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BED1CA"/>
                </a:solidFill>
                <a:latin typeface="Aptos"/>
                <a:ea typeface="Aptos"/>
                <a:cs typeface="Aptos"/>
              </a:rPr>
              <a:t>The relevant map is not a feature checklist: it is creation, practice utility and rights governance moving together.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2BD1F6-F7AC-44AC-BF26-A68E67EB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0325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E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503A90-FF13-41F0-957A-A6634653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14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DF032A-A949-4A05-8F4D-48ED9206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765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3812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00D49A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00D49A"/>
                </a:solidFill>
                <a:latin typeface="Aptos Display"/>
                <a:ea typeface="Aptos Display"/>
                <a:cs typeface="Aptos Display"/>
              </a:rPr>
              <a:t>Creation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FEF9B5-41FC-4F3C-B742-8C1EF9A9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00350"/>
            <a:ext cx="2705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6484"/>
          </a:bodyPr>
          <a:lstStyle xmlns:a="http://schemas.openxmlformats.org/drawingml/2006/main"/>
          <a:p xmlns:a="http://schemas.openxmlformats.org/drawingml/2006/main">
            <a:pPr algn="l">
              <a:defRPr sz="1166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66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Suno, Udio, BandLab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3E7310-3816-4448-A1E8-EF563880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76500"/>
            <a:ext cx="289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664"/>
          </a:bodyPr>
          <a:lstStyle xmlns:a="http://schemas.openxmlformats.org/drawingml/2006/main"/>
          <a:p xmlns:a="http://schemas.openxmlformats.org/drawingml/2006/main">
            <a:pPr algn="l">
              <a:defRPr sz="1148" b="0" i="0">
                <a:solidFill>
                  <a:srgbClr val="D5E4DE"/>
                </a:solidFill>
                <a:latin typeface="Aptos"/>
                <a:ea typeface="Aptos"/>
                <a:cs typeface="Aptos"/>
              </a:defRPr>
            </a:pPr>
            <a:r>
              <a:rPr sz="1148" b="0" i="0">
                <a:solidFill>
                  <a:srgbClr val="D5E4DE"/>
                </a:solidFill>
                <a:latin typeface="Aptos"/>
                <a:ea typeface="Aptos"/>
                <a:cs typeface="Aptos"/>
              </a:rPr>
              <a:t>Prompt-to-song changes what casual participation can mean.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19DCDA-ADD4-4B59-B514-23DD604D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76500"/>
            <a:ext cx="3143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108"/>
          </a:bodyPr>
          <a:lstStyle xmlns:a="http://schemas.openxmlformats.org/drawingml/2006/main"/>
          <a:p xmlns:a="http://schemas.openxmlformats.org/drawingml/2006/main">
            <a:pPr algn="l">
              <a:defRPr sz="1148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48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Competes with learning time; expands hobby expectations.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248BC8-986F-4609-A838-F9DAB42E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9950"/>
            <a:ext cx="10325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E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DADC85-EF6B-4492-B3AC-F87DE88D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9950"/>
            <a:ext cx="114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35A22B-B4C9-4B38-9B76-934DF8FB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0045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3812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FFBF3F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FFBF3F"/>
                </a:solidFill>
                <a:latin typeface="Aptos Display"/>
                <a:ea typeface="Aptos Display"/>
                <a:cs typeface="Aptos Display"/>
              </a:rPr>
              <a:t>Practice utility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9EDC7D-552C-46D5-A7FF-00FB7B89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924300"/>
            <a:ext cx="2705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6484"/>
          </a:bodyPr>
          <a:lstStyle xmlns:a="http://schemas.openxmlformats.org/drawingml/2006/main"/>
          <a:p xmlns:a="http://schemas.openxmlformats.org/drawingml/2006/main">
            <a:pPr algn="l">
              <a:defRPr sz="1166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66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Moises, Chord ai, transcription tools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0FC79F-6792-45A2-B2D1-04F2575E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00450"/>
            <a:ext cx="289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664"/>
          </a:bodyPr>
          <a:lstStyle xmlns:a="http://schemas.openxmlformats.org/drawingml/2006/main"/>
          <a:p xmlns:a="http://schemas.openxmlformats.org/drawingml/2006/main">
            <a:pPr algn="l">
              <a:defRPr sz="1148" b="0" i="0">
                <a:solidFill>
                  <a:srgbClr val="D5E4DE"/>
                </a:solidFill>
                <a:latin typeface="Aptos"/>
                <a:ea typeface="Aptos"/>
                <a:cs typeface="Aptos"/>
              </a:defRPr>
            </a:pPr>
            <a:r>
              <a:rPr sz="1148" b="0" i="0">
                <a:solidFill>
                  <a:srgbClr val="D5E4DE"/>
                </a:solidFill>
                <a:latin typeface="Aptos"/>
                <a:ea typeface="Aptos"/>
                <a:cs typeface="Aptos"/>
              </a:rPr>
              <a:t>Turns songs into stems, chords, loops and practice assets faster.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780042-7F7B-435A-8BFD-5CD07524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00450"/>
            <a:ext cx="3143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4642"/>
          </a:bodyPr>
          <a:lstStyle xmlns:a="http://schemas.openxmlformats.org/drawingml/2006/main"/>
          <a:p xmlns:a="http://schemas.openxmlformats.org/drawingml/2006/main">
            <a:pPr algn="l">
              <a:defRPr sz="1148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48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Raises the bar for guided practice convenience.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950D80-72B0-4A44-95C8-1401EECB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10325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E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F81B64-FC2F-4265-BDB9-961A1EE9F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114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55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337BDA-1D51-49E2-9458-1D1ADFB9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244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3812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F06455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F06455"/>
                </a:solidFill>
                <a:latin typeface="Aptos Display"/>
                <a:ea typeface="Aptos Display"/>
                <a:cs typeface="Aptos Display"/>
              </a:rPr>
              <a:t>Rights + 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007647-9329-4BA2-91F7-62F2BEA1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48250"/>
            <a:ext cx="2705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6484"/>
          </a:bodyPr>
          <a:lstStyle xmlns:a="http://schemas.openxmlformats.org/drawingml/2006/main"/>
          <a:p xmlns:a="http://schemas.openxmlformats.org/drawingml/2006/main">
            <a:pPr algn="l">
              <a:defRPr sz="1166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66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labels, publishers, litigation, policy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82C29A-BCD0-4AC1-8A6D-FD04C65E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24400"/>
            <a:ext cx="289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664"/>
          </a:bodyPr>
          <a:lstStyle xmlns:a="http://schemas.openxmlformats.org/drawingml/2006/main"/>
          <a:p xmlns:a="http://schemas.openxmlformats.org/drawingml/2006/main">
            <a:pPr algn="l">
              <a:defRPr sz="1148" b="0" i="0">
                <a:solidFill>
                  <a:srgbClr val="D5E4DE"/>
                </a:solidFill>
                <a:latin typeface="Aptos"/>
                <a:ea typeface="Aptos"/>
                <a:cs typeface="Aptos"/>
              </a:defRPr>
            </a:pPr>
            <a:r>
              <a:rPr sz="1148" b="0" i="0">
                <a:solidFill>
                  <a:srgbClr val="D5E4DE"/>
                </a:solidFill>
                <a:latin typeface="Aptos"/>
                <a:ea typeface="Aptos"/>
                <a:cs typeface="Aptos"/>
              </a:rPr>
              <a:t>Defines what can be trained, distributed or licensed safely.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537C2A-D4F9-43D5-B68B-735ACCD2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724400"/>
            <a:ext cx="3143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4119"/>
          </a:bodyPr>
          <a:lstStyle xmlns:a="http://schemas.openxmlformats.org/drawingml/2006/main"/>
          <a:p xmlns:a="http://schemas.openxmlformats.org/drawingml/2006/main">
            <a:pPr algn="l">
              <a:defRPr sz="1148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48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Changes timing, partnerships and category risk.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2602EA-F1B6-4B4F-A68F-8E1B7FA6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886450"/>
            <a:ext cx="9220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E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B70E0C-2C88-48D3-9311-A8B4E070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88645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55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B67490-BF8E-43B7-B488-86860ED2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076950"/>
            <a:ext cx="1371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01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01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Strategic read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F7966A-55B6-4706-A8D3-641C0BC5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972175"/>
            <a:ext cx="7162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7" b="0" i="0">
                <a:solidFill>
                  <a:srgbClr val="BFD1CB"/>
                </a:solidFill>
                <a:latin typeface="Aptos"/>
                <a:ea typeface="Aptos"/>
                <a:cs typeface="Aptos"/>
              </a:defRPr>
            </a:pPr>
            <a:r>
              <a:rPr sz="887" b="0" i="0">
                <a:solidFill>
                  <a:srgbClr val="BFD1CB"/>
                </a:solidFill>
                <a:latin typeface="Aptos"/>
                <a:ea typeface="Aptos"/>
                <a:cs typeface="Aptos"/>
              </a:rPr>
              <a:t>The board question is not whether AI exists. It is where AI resets learner expectations, compresses practice effort, or raises licensing risk first.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F571D9-ADBB-4F30-AC61-884EFD2B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5" b="0" i="0">
                <a:solidFill>
                  <a:srgbClr val="819A93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819A93"/>
                </a:solidFill>
                <a:latin typeface="Aptos"/>
                <a:ea typeface="Aptos"/>
                <a:cs typeface="Aptos"/>
              </a:rPr>
              <a:t>Source: AI rows in market moves and source audit.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61CAAE7-3B5E-4936-AABA-5EFCC8392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5" b="0" i="0">
                <a:solidFill>
                  <a:srgbClr val="9BB5AC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9BB5AC"/>
                </a:solidFill>
                <a:latin typeface="Aptos"/>
                <a:ea typeface="Aptos"/>
                <a:cs typeface="Aptos"/>
              </a:rPr>
              <a:t>Yousician Strategic Environment Mapping</a:t>
            </a:r>
          </a:p>
        </p:txBody>
      </p:sp>
    </p:spTree>
    <p:extLst>
      <p:ext uri="{BB962C8B-B14F-4D97-AF65-F5344CB8AC3E}">
        <p14:creationId xmlns:p14="http://schemas.microsoft.com/office/powerpoint/2010/main" val="87653198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406C1A-6BAE-4A25-AED1-D71463B4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B1FAD3-3471-458E-9254-91307E53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ED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7760A9-89D8-45C4-9CE7-5B62CFB26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496EED-86DB-45C3-88E4-1C5EB99B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BCF4CC-4971-4F41-995B-908A23D9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A141CD-D841-4E1E-ABB5-EFE09D4D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21CDB4-95B8-427F-A2EA-23EA3704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000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8BFADA-7152-4F91-AD9E-8920A572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086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E5E0F0-311A-4AB3-AC7B-E704E98F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E1DF26-5C62-4DF3-81AC-C39597BC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9575"/>
            <a:ext cx="9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72"/>
          </a:bodyPr>
          <a:lstStyle xmlns:a="http://schemas.openxmlformats.org/drawingml/2006/main"/>
          <a:p xmlns:a="http://schemas.openxmlformats.org/drawingml/2006/main">
            <a:pPr algn="ctr">
              <a:defRPr sz="62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2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C60684-2637-4257-8294-B8861F49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31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MUSIC AS A HOBBY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328EE5-BA63-494D-802E-C24A0AEF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31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244FF6-D222-419E-84DF-B4E86B68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763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5430"/>
          </a:bodyPr>
          <a:lstStyle xmlns:a="http://schemas.openxmlformats.org/drawingml/2006/main"/>
          <a:p xmlns:a="http://schemas.openxmlformats.org/drawingml/2006/main">
            <a:pPr algn="l">
              <a:defRPr sz="3219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219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Music-as-a-hobby influence starts before a learner opens a lesson app.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CB0530-6C0F-49E9-802E-A618C3F4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885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Discovery, instrument choice, repertoire and creation tools all shape demand around Yousician.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505F49-1186-4459-9FAE-BF437C20F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100203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CC83EB-4E54-4BDB-92B6-0615A26E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1143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AB9F43-9204-434F-9F66-52D86F1B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19350"/>
            <a:ext cx="1543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3812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Discover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1BE297-755E-4B1A-90E7-AC0A6A76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4765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92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92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Songs and creators create the desire to start.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FDDD0C-6B29-4D70-9D39-C10211CB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95550"/>
            <a:ext cx="2114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7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D1DF9-8C7B-4EAE-9417-6EE334AC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62225"/>
            <a:ext cx="1885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00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800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Demand creation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B0A7D7-1E16-49DE-811B-6DC6B874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100203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9E0522-D516-43AE-A974-5CAF6564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1143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E0D589-D539-4DA3-9B8E-3DD9D44E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33750"/>
            <a:ext cx="1543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3812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Choose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052F53-9B99-4544-82CD-2F4D8266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3909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8408"/>
          </a:bodyPr>
          <a:lstStyle xmlns:a="http://schemas.openxmlformats.org/drawingml/2006/main"/>
          <a:p xmlns:a="http://schemas.openxmlformats.org/drawingml/2006/main">
            <a:pPr algn="l">
              <a:defRPr sz="1392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92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Instruments and setup decide whether intent becomes action.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4C9F87-B737-4C39-92C2-3C32CAD7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09950"/>
            <a:ext cx="2114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7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336D53-7CF9-49D3-A71E-ED549163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76625"/>
            <a:ext cx="1885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00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800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Route into product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0BA757-A852-4D52-AF83-F943D0A3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100203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7D46A3-BF82-4B03-A406-83826902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1143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A180B6-615B-4A90-A367-21EBF566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48150"/>
            <a:ext cx="1543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3812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Learn + play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614AB1-DD86-4653-808B-A2E7C2C6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053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5633"/>
          </a:bodyPr>
          <a:lstStyle xmlns:a="http://schemas.openxmlformats.org/drawingml/2006/main"/>
          <a:p xmlns:a="http://schemas.openxmlformats.org/drawingml/2006/main">
            <a:pPr algn="l">
              <a:defRPr sz="1392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92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Guidance and repertoire decide whether the habit sticks.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BE4EF8-E18D-4324-A16C-C0628CF4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24350"/>
            <a:ext cx="2114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AF1"/>
          </a:solidFill>
          <a:ln xmlns:a="http://schemas.openxmlformats.org/drawingml/2006/main" w="9525">
            <a:solidFill>
              <a:srgbClr val="B7F6D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10D1F4-73A1-4F91-8CD9-675E120C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91025"/>
            <a:ext cx="1885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00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800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Highest pressure for Yousician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707CDE-D115-4D65-9380-EBE39FC1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0203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991331-0BEA-44B2-AF1F-1F184FC8E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143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55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74632F-1F7D-4BFE-99CA-AF4D0E8C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162550"/>
            <a:ext cx="1543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3235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Create + share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6307CC-330B-436D-A923-6FA3E9C71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6263"/>
          </a:bodyPr>
          <a:lstStyle xmlns:a="http://schemas.openxmlformats.org/drawingml/2006/main"/>
          <a:p xmlns:a="http://schemas.openxmlformats.org/drawingml/2006/main">
            <a:pPr algn="l">
              <a:defRPr sz="1392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92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Creation extends the hobby into identity and expression.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2EC81BB-EF56-41B7-8981-0F6D6168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238750"/>
            <a:ext cx="2114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7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E1E26E-F0D3-4D99-A731-6E8C1348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05425"/>
            <a:ext cx="1885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00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800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Adjacency expansion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FE4F3F-83B2-404B-A6E2-FD1AE347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43550"/>
            <a:ext cx="10020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CF9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FECBF0-CA90-45DE-8305-080D55FB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95950"/>
            <a:ext cx="1047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8647"/>
          </a:bodyPr>
          <a:lstStyle xmlns:a="http://schemas.openxmlformats.org/drawingml/2006/main"/>
          <a:p xmlns:a="http://schemas.openxmlformats.org/drawingml/2006/main">
            <a:pPr algn="l">
              <a:defRPr sz="887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887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Executive read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8481B1C-C2F2-402E-9922-6FE4EC07F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619750"/>
            <a:ext cx="803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9836"/>
          </a:bodyPr>
          <a:lstStyle xmlns:a="http://schemas.openxmlformats.org/drawingml/2006/main"/>
          <a:p xmlns:a="http://schemas.openxmlformats.org/drawingml/2006/main">
            <a:pPr algn="l">
              <a:defRPr sz="974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974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The strategic mistake would be to treat hobby demand as only app competition. Demand is created upstream, then retained through guidance, repertoire and identity.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2CB77F-9D20-46E5-8948-34C1FBD7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5" b="0" i="0">
                <a:solidFill>
                  <a:srgbClr val="74837C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74837C"/>
                </a:solidFill>
                <a:latin typeface="Aptos"/>
                <a:ea typeface="Aptos"/>
                <a:cs typeface="Aptos"/>
              </a:rPr>
              <a:t>Source: media/cultural drivers, hobby software ecosystem and executive synthesis.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8C1EC8C-0990-4BEB-9B04-04F84D0C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Yousician Strategic Environment Mapping</a:t>
            </a:r>
          </a:p>
        </p:txBody>
      </p:sp>
    </p:spTree>
    <p:extLst>
      <p:ext uri="{BB962C8B-B14F-4D97-AF65-F5344CB8AC3E}">
        <p14:creationId xmlns:p14="http://schemas.microsoft.com/office/powerpoint/2010/main" val="144465495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65C3D1-61C1-4A94-A29B-CD6A53B5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189E6B-CEB6-4B5F-A90A-D1105C50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ED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BE5FD3-24AE-40E3-9D88-94A711C6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F1677-D23B-4256-81FA-83C2A0C1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93C77D-E9E1-4055-B724-12D81ED6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C90EF-4D63-4C31-83B5-4F146959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F7B970-91CE-47F2-B9A3-CE6A5E6B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000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C3CE9C-8895-4E37-B7E7-308A2881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086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E1CEE1-E9BC-4DB2-9BB9-D6F113CA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503B5F-14B4-4A6D-A379-BCAF8B79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9575"/>
            <a:ext cx="9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72"/>
          </a:bodyPr>
          <a:lstStyle xmlns:a="http://schemas.openxmlformats.org/drawingml/2006/main"/>
          <a:p xmlns:a="http://schemas.openxmlformats.org/drawingml/2006/main">
            <a:pPr algn="ctr">
              <a:defRPr sz="62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2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5D6F63-82F7-4BBA-ACE6-1E000766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31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TRUST INFRASTRUCTURE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539F85-CF1E-4AB1-9639-7D39A647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31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3B673E-ECD7-4CF5-AAAB-D4467EBF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763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049"/>
          </a:bodyPr>
          <a:lstStyle xmlns:a="http://schemas.openxmlformats.org/drawingml/2006/main"/>
          <a:p xmlns:a="http://schemas.openxmlformats.org/drawingml/2006/main">
            <a:pPr algn="l">
              <a:defRPr sz="3393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393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Teachers, creators and media are trust infrastructure.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76CA73-1520-4109-95C5-0BED5D6B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They are visible in the executive story because the brief explicitly asks for schools, education organizations, creators and cultural drivers.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04C57-0898-4887-A640-0492BD2F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29527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50356F-9F0B-4431-88E7-FDD0893C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2952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392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D8A7D7-FD06-4363-86A2-60A813606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86050"/>
            <a:ext cx="781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4500"/>
          </a:bodyPr>
          <a:lstStyle xmlns:a="http://schemas.openxmlformats.org/drawingml/2006/main"/>
          <a:p xmlns:a="http://schemas.openxmlformats.org/drawingml/2006/main">
            <a:pPr algn="l">
              <a:defRPr sz="4698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4698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E3804B-3095-443E-9F49-C1706543C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099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9799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Education bodies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D5AB75-2C18-4042-AF92-468BC848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D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CC491D-5143-4F4F-8768-6EE8CCDD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33850"/>
            <a:ext cx="2228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57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957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ABRSM, Trinity, RSL/Rockschool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D34640-16EA-4C63-A4D9-FD3F12B5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8647"/>
          </a:bodyPr>
          <a:lstStyle xmlns:a="http://schemas.openxmlformats.org/drawingml/2006/main"/>
          <a:p xmlns:a="http://schemas.openxmlformats.org/drawingml/2006/main">
            <a:pPr algn="l">
              <a:defRPr sz="887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87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Credentialing, curriculum and teacher/parent confidence.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B18B78-1665-4FFA-A03A-8B3A63A2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86000"/>
            <a:ext cx="29527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2C6487-A40D-4EE7-9409-665E6CB7F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86000"/>
            <a:ext cx="2952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CEF7D3-01A2-40F2-84E9-250C951A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86050"/>
            <a:ext cx="781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4500"/>
          </a:bodyPr>
          <a:lstStyle xmlns:a="http://schemas.openxmlformats.org/drawingml/2006/main"/>
          <a:p xmlns:a="http://schemas.openxmlformats.org/drawingml/2006/main">
            <a:pPr algn="l">
              <a:defRPr sz="4698" b="1" i="0">
                <a:solidFill>
                  <a:srgbClr val="FFBF3F"/>
                </a:solidFill>
                <a:latin typeface="Aptos"/>
                <a:ea typeface="Aptos"/>
                <a:cs typeface="Aptos"/>
              </a:defRPr>
            </a:pPr>
            <a:r>
              <a:rPr sz="4698" b="1" i="0">
                <a:solidFill>
                  <a:srgbClr val="FFBF3F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3F6225-BE9D-42A0-BE97-80DC955F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099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9799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Creator educators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0E0ACC-D060-4ACA-84A8-D5C124FF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9052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D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6E0022-723E-493A-94D0-E8807A25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33850"/>
            <a:ext cx="2228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57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957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JustinGuitar, Marty Music, Rick Beato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3DC8DD-58DA-4F98-8C88-D0935A98B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339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8647"/>
          </a:bodyPr>
          <a:lstStyle xmlns:a="http://schemas.openxmlformats.org/drawingml/2006/main"/>
          <a:p xmlns:a="http://schemas.openxmlformats.org/drawingml/2006/main">
            <a:pPr algn="l">
              <a:defRPr sz="887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87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Beginner trust, aspiration and technique discovery.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3FBE24-A6CA-4030-B27C-AE0CA5695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86000"/>
            <a:ext cx="29527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40A9B0-043B-492E-9290-B40C1022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86000"/>
            <a:ext cx="2952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82BE26-109B-4FAE-ABE5-45B97CD17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86050"/>
            <a:ext cx="781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4500"/>
          </a:bodyPr>
          <a:lstStyle xmlns:a="http://schemas.openxmlformats.org/drawingml/2006/main"/>
          <a:p xmlns:a="http://schemas.openxmlformats.org/drawingml/2006/main">
            <a:pPr algn="l">
              <a:defRPr sz="4698" b="1" i="0">
                <a:solidFill>
                  <a:srgbClr val="4C8DF6"/>
                </a:solidFill>
                <a:latin typeface="Aptos"/>
                <a:ea typeface="Aptos"/>
                <a:cs typeface="Aptos"/>
              </a:defRPr>
            </a:pPr>
            <a:r>
              <a:rPr sz="4698" b="1" i="0">
                <a:solidFill>
                  <a:srgbClr val="4C8DF6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BBCE14-929F-4C67-B013-E1A36E36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099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9799"/>
          </a:bodyPr>
          <a:lstStyle xmlns:a="http://schemas.openxmlformats.org/drawingml/2006/main"/>
          <a:p xmlns:a="http://schemas.openxmlformats.org/drawingml/2006/main">
            <a:pPr algn="l">
              <a:def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08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Media and culture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55EB37-44E5-4FE8-BCE1-C5548140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052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D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2D3313-9056-4B32-AC1A-D3ECA50C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133850"/>
            <a:ext cx="2228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57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957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TikTok, YouTube, Spotify, Guitar World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1CD5E5-B940-43AC-B49F-0DCAADA0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5339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8647"/>
          </a:bodyPr>
          <a:lstStyle xmlns:a="http://schemas.openxmlformats.org/drawingml/2006/main"/>
          <a:p xmlns:a="http://schemas.openxmlformats.org/drawingml/2006/main">
            <a:pPr algn="l">
              <a:defRPr sz="887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87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Demand creation, cultural relevance and repertoire pull.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365966-6EF6-422E-8AFA-8DCFB00DE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81650"/>
            <a:ext cx="857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66F7548-BA33-4DB1-B8F9-EF96EBD6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8165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392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64422BE-ABA2-4466-9AB3-9BDB72F1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734050"/>
            <a:ext cx="1371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01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01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3A762AA-F59D-4B1C-86A3-B328CA15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667375"/>
            <a:ext cx="6515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7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87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Trust often forms outside the app: through teachers, creator educators, cultural media and the songs people already want to play.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645973C-013E-4ACA-92B7-5E5678DA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5" b="0" i="0">
                <a:solidFill>
                  <a:srgbClr val="74837C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74837C"/>
                </a:solidFill>
                <a:latin typeface="Aptos"/>
                <a:ea typeface="Aptos"/>
                <a:cs typeface="Aptos"/>
              </a:rPr>
              <a:t>Source: teachers/schools, influencers/creators and media/cultural-driver tables.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724D8D-DD05-4066-8560-D0483594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Yousician Strategic Environment Mapping</a:t>
            </a:r>
          </a:p>
        </p:txBody>
      </p:sp>
    </p:spTree>
    <p:extLst>
      <p:ext uri="{BB962C8B-B14F-4D97-AF65-F5344CB8AC3E}">
        <p14:creationId xmlns:p14="http://schemas.microsoft.com/office/powerpoint/2010/main" val="100876600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04D4DB-6A20-4D42-A44E-5F4FEE9FD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F092C6-A94B-49F6-8C66-1619AF507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ED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423DC8-D0C8-47F2-9777-AD520206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30E4A-9772-4F27-A685-6F544226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54E06C-02F5-4300-AE7D-E5787962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2678DE-593F-4320-B5F1-066ECBB8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8B2EAF-CDA6-435E-B44C-A6AE2AFD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000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85AD69-6D24-4D75-A344-6CF900EA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086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896712-6378-4742-BB48-43A5B63B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20FFE4-D78B-4EC8-AF6D-A44B890B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9575"/>
            <a:ext cx="9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72"/>
          </a:bodyPr>
          <a:lstStyle xmlns:a="http://schemas.openxmlformats.org/drawingml/2006/main"/>
          <a:p xmlns:a="http://schemas.openxmlformats.org/drawingml/2006/main">
            <a:pPr algn="ctr">
              <a:defRPr sz="62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2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7DA24D-C90F-42E3-9E14-0CCAF21FA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31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CAPITAL AND RECOGNITION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386602-58E3-43E8-827D-047CCF1B6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31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C9B6DF-A67C-4614-A641-9C4CBF5D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763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3182"/>
          </a:bodyPr>
          <a:lstStyle xmlns:a="http://schemas.openxmlformats.org/drawingml/2006/main"/>
          <a:p xmlns:a="http://schemas.openxmlformats.org/drawingml/2006/main">
            <a:pPr algn="l">
              <a:defRPr sz="330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306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Investors, awards and funding are strategic-environment signals.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38BFD4-5770-4DBD-AC1D-B2B8EE98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876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They should not be hidden in the appendix because the brief names them as ecosystem categories.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ABAA89-FC7F-48D3-ABC7-294CA6F4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10477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2AF4C7-50D0-4D9C-8D05-E4C71A8E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1333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77153E-07F9-4B95-B989-01DED637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62200"/>
            <a:ext cx="685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5260"/>
          </a:bodyPr>
          <a:lstStyle xmlns:a="http://schemas.openxmlformats.org/drawingml/2006/main"/>
          <a:p xmlns:a="http://schemas.openxmlformats.org/drawingml/2006/main">
            <a:pPr algn="l">
              <a:defRPr sz="3654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3654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ED96F8-71E1-4958-888B-F2E6AADB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343150"/>
            <a:ext cx="1447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1839"/>
          </a:bodyPr>
          <a:lstStyle xmlns:a="http://schemas.openxmlformats.org/drawingml/2006/main"/>
          <a:p xmlns:a="http://schemas.openxmlformats.org/drawingml/2006/main">
            <a:pPr algn="l">
              <a:defRPr sz="2262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262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Investors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A08AEC-5312-4D2B-A425-6F8E2576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343150"/>
            <a:ext cx="4514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0438"/>
          </a:bodyPr>
          <a:lstStyle xmlns:a="http://schemas.openxmlformats.org/drawingml/2006/main"/>
          <a:p xmlns:a="http://schemas.openxmlformats.org/drawingml/2006/main">
            <a:pPr algn="l">
              <a:defRPr sz="1357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57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Private capital is backing AI, creator tools and consumer-learning momentum.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34E2E5-8C9E-462C-98A9-6EADA584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81250"/>
            <a:ext cx="2266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0649"/>
          </a:bodyPr>
          <a:lstStyle xmlns:a="http://schemas.openxmlformats.org/drawingml/2006/main"/>
          <a:p xmlns:a="http://schemas.openxmlformats.org/drawingml/2006/main">
            <a:pPr algn="l">
              <a:defRPr sz="1096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096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Examples: Menlo, Lightspeed, Matrix, Khosla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7D21DB-B6CD-4176-8E29-00A4C437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10477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F437D5-5B63-4C8A-935E-94D7F9C3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1333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5250CC-161F-4035-81EF-BA388272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24250"/>
            <a:ext cx="685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5260"/>
          </a:bodyPr>
          <a:lstStyle xmlns:a="http://schemas.openxmlformats.org/drawingml/2006/main"/>
          <a:p xmlns:a="http://schemas.openxmlformats.org/drawingml/2006/main">
            <a:pPr algn="l">
              <a:defRPr sz="3654" b="1" i="0">
                <a:solidFill>
                  <a:srgbClr val="FFBF3F"/>
                </a:solidFill>
                <a:latin typeface="Aptos"/>
                <a:ea typeface="Aptos"/>
                <a:cs typeface="Aptos"/>
              </a:defRPr>
            </a:pPr>
            <a:r>
              <a:rPr sz="3654" b="1" i="0">
                <a:solidFill>
                  <a:srgbClr val="FFBF3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ECD0F7-2687-4B82-8956-B70C6DA5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505200"/>
            <a:ext cx="1447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1839"/>
          </a:bodyPr>
          <a:lstStyle xmlns:a="http://schemas.openxmlformats.org/drawingml/2006/main"/>
          <a:p xmlns:a="http://schemas.openxmlformats.org/drawingml/2006/main">
            <a:pPr algn="l">
              <a:defRPr sz="2262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262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Awards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ED4254-010D-42F9-AA99-CD7253C5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505200"/>
            <a:ext cx="4514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4400"/>
          </a:bodyPr>
          <a:lstStyle xmlns:a="http://schemas.openxmlformats.org/drawingml/2006/main"/>
          <a:p xmlns:a="http://schemas.openxmlformats.org/drawingml/2006/main">
            <a:pPr algn="l">
              <a:defRPr sz="1357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57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Recognition now acts as app-craft proof for consumer learning credibility.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588848-8049-4AA5-A9E8-C43D14D9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543300"/>
            <a:ext cx="2266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36"/>
          </a:bodyPr>
          <a:lstStyle xmlns:a="http://schemas.openxmlformats.org/drawingml/2006/main"/>
          <a:p xmlns:a="http://schemas.openxmlformats.org/drawingml/2006/main">
            <a:pPr algn="l">
              <a:defRPr sz="1096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096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Examples: Apple Design, Google Play, Webby, EdTech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AE3A67-2B12-44E1-87A9-DACEF7D2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10477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C77DFA-BEE3-4FDF-B1C7-4874D96B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1333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A6C5DE-B68F-484B-B032-E0CCB2DB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86300"/>
            <a:ext cx="685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5260"/>
          </a:bodyPr>
          <a:lstStyle xmlns:a="http://schemas.openxmlformats.org/drawingml/2006/main"/>
          <a:p xmlns:a="http://schemas.openxmlformats.org/drawingml/2006/main">
            <a:pPr algn="l">
              <a:defRPr sz="3654" b="1" i="0">
                <a:solidFill>
                  <a:srgbClr val="4C8DF6"/>
                </a:solidFill>
                <a:latin typeface="Aptos"/>
                <a:ea typeface="Aptos"/>
                <a:cs typeface="Aptos"/>
              </a:defRPr>
            </a:pPr>
            <a:r>
              <a:rPr sz="3654" b="1" i="0">
                <a:solidFill>
                  <a:srgbClr val="4C8DF6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949306-C4BE-4471-9295-8908A39A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67250"/>
            <a:ext cx="1447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1839"/>
          </a:bodyPr>
          <a:lstStyle xmlns:a="http://schemas.openxmlformats.org/drawingml/2006/main"/>
          <a:p xmlns:a="http://schemas.openxmlformats.org/drawingml/2006/main">
            <a:pPr algn="l">
              <a:defRPr sz="2262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262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Funding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870935-7BBE-4F39-8031-B6BF79B8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667250"/>
            <a:ext cx="4514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9086"/>
          </a:bodyPr>
          <a:lstStyle xmlns:a="http://schemas.openxmlformats.org/drawingml/2006/main"/>
          <a:p xmlns:a="http://schemas.openxmlformats.org/drawingml/2006/main">
            <a:pPr algn="l">
              <a:defRPr sz="1357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1357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Public and EU instruments matter for AI practice, R&amp;D and learning innovation projects.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BAD024-F6A0-40C2-9AE1-016B9697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705350"/>
            <a:ext cx="2266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36"/>
          </a:bodyPr>
          <a:lstStyle xmlns:a="http://schemas.openxmlformats.org/drawingml/2006/main"/>
          <a:p xmlns:a="http://schemas.openxmlformats.org/drawingml/2006/main">
            <a:pPr algn="l">
              <a:defRPr sz="1096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096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Examples: Business Finland, EIC, Horizon Europe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8DF5D0-212C-416A-BBF8-70FE61B1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75310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B3EB11-B4A6-46F1-A28C-0A7C7AEE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753100"/>
            <a:ext cx="76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392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DD22F7-79B1-4ABE-A0AC-442B8DD9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867400"/>
            <a:ext cx="1371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01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01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Strategic read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CCC186-1B26-4B79-8E27-31CF2B2F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838825"/>
            <a:ext cx="6896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8355"/>
          </a:bodyPr>
          <a:lstStyle xmlns:a="http://schemas.openxmlformats.org/drawingml/2006/main"/>
          <a:p xmlns:a="http://schemas.openxmlformats.org/drawingml/2006/main">
            <a:pPr algn="l">
              <a:defRPr sz="887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87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Capital, awards and public funding are not side notes: they show where the market is rewarding AI, consumer learning, app craft and music-tech credibility.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B68F422-5BA2-4F86-AE65-4EF2D9BB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5" b="0" i="0">
                <a:solidFill>
                  <a:srgbClr val="74837C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74837C"/>
                </a:solidFill>
                <a:latin typeface="Aptos"/>
                <a:ea typeface="Aptos"/>
                <a:cs typeface="Aptos"/>
              </a:rPr>
              <a:t>Source: investors, awards and funding tables.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C36162-5ADA-4473-A2E9-ECC4D488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Yousician Strategic Environment Mapping</a:t>
            </a:r>
          </a:p>
        </p:txBody>
      </p:sp>
    </p:spTree>
    <p:extLst>
      <p:ext uri="{BB962C8B-B14F-4D97-AF65-F5344CB8AC3E}">
        <p14:creationId xmlns:p14="http://schemas.microsoft.com/office/powerpoint/2010/main" val="97756740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6AAC53-09AD-4A52-A0C3-3DB6B279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BE2434-0427-41C2-94B5-AE7DC27E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ED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EA33A9-4DCA-4F8C-AF6A-CF5072BC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70D93D-9C75-4258-AD42-DC1B727D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CC82F-5BF2-4411-ACEC-3802C21D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DB96E8-6682-44C8-8C24-9F3021C8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8F36C4-74FB-4318-9B94-717A2256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6000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8E1A5C-C4D5-471B-AE83-0EC5D9663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086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3ADA4E-097A-460E-9D85-1BFBC061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AEA68C-97D7-4E35-909D-CA7E1F2C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9575"/>
            <a:ext cx="9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72"/>
          </a:bodyPr>
          <a:lstStyle xmlns:a="http://schemas.openxmlformats.org/drawingml/2006/main"/>
          <a:p xmlns:a="http://schemas.openxmlformats.org/drawingml/2006/main">
            <a:pPr algn="ctr">
              <a:defRPr sz="62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2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6436FC-2219-410C-B537-953CC9E4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31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KEY-PLAYER ONE-PAGERS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E05BB8-DED0-4405-885E-6AFA4C8EB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31" b="1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714649-1F45-4C05-B45A-726CF4D4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9313"/>
          </a:bodyPr>
          <a:lstStyle xmlns:a="http://schemas.openxmlformats.org/drawingml/2006/main"/>
          <a:p xmlns:a="http://schemas.openxmlformats.org/drawingml/2006/main">
            <a:pPr algn="l">
              <a:defRPr sz="3219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219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Key-player profiles now follow the one-pager logic from the brief.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AC2384-45B4-431E-8435-5E662F6F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9525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Four first-pass profiles are formatted as decision-ready one-pager-style profiles; the full player database stays available for triage.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CBCE1-9F26-42AF-AA83-41D25B7B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476250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906C0F-54F1-46FC-A9F4-115ECB0C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4762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CB99F5-F19B-469D-974C-8F761B62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574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0291"/>
          </a:bodyPr>
          <a:lstStyle xmlns:a="http://schemas.openxmlformats.org/drawingml/2006/main"/>
          <a:p xmlns:a="http://schemas.openxmlformats.org/drawingml/2006/main">
            <a:pPr algn="l">
              <a:defRPr sz="295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95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Simply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1BDF60-F749-4B02-9700-9AC96171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49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1349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Direct learning benchmark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7D3D82-C270-451D-AFDF-48B94ED5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14700"/>
            <a:ext cx="4229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3"/>
          </a:solidFill>
          <a:ln xmlns:a="http://schemas.openxmlformats.org/drawingml/2006/main" w="9525">
            <a:solidFill>
              <a:srgbClr val="E3E8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122B73-1151-47DE-BAA0-AFAB7A5D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09950"/>
            <a:ext cx="112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44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1044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What they are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8632FA-2883-4D04-A174-7D9BE476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099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418"/>
          </a:bodyPr>
          <a:lstStyle xmlns:a="http://schemas.openxmlformats.org/drawingml/2006/main"/>
          <a:p xmlns:a="http://schemas.openxmlformats.org/drawingml/2006/main">
            <a:pPr algn="l">
              <a:defRPr sz="1305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305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Mobile-first beginner music-learning platform.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F393C3-A7D6-46CA-8435-71025396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0"/>
            <a:ext cx="4229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3"/>
          </a:solidFill>
          <a:ln xmlns:a="http://schemas.openxmlformats.org/drawingml/2006/main" w="9525">
            <a:solidFill>
              <a:srgbClr val="E3E8D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EA352F-653A-4E40-A09C-48703D3AA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112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44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1044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B6E651-F24B-4521-86C6-79487DC65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0957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095"/>
          </a:bodyPr>
          <a:lstStyle xmlns:a="http://schemas.openxmlformats.org/drawingml/2006/main"/>
          <a:p xmlns:a="http://schemas.openxmlformats.org/drawingml/2006/main">
            <a:pPr algn="l">
              <a:defRPr sz="1305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305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Best benchmark for onboarding, motivation and subscription learning.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A69735-806C-4EBD-9E12-98933586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86300"/>
            <a:ext cx="4229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3"/>
          </a:solidFill>
          <a:ln xmlns:a="http://schemas.openxmlformats.org/drawingml/2006/main" w="9525">
            <a:solidFill>
              <a:srgbClr val="E3E8D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051CFC-8751-4B1A-8BB2-FB80E61D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81550"/>
            <a:ext cx="112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44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1044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Open input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4B81D2-84DC-423F-B3FC-0060BB17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815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418"/>
          </a:bodyPr>
          <a:lstStyle xmlns:a="http://schemas.openxmlformats.org/drawingml/2006/main"/>
          <a:p xmlns:a="http://schemas.openxmlformats.org/drawingml/2006/main">
            <a:pPr algn="l">
              <a:defRPr sz="1305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305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Exact Appfigures performance remains outside this deck.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062BE8-58F3-4410-9872-CD78C305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52650"/>
            <a:ext cx="476250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F481E0-8220-4E25-A50C-0E2C8C367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52650"/>
            <a:ext cx="4762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55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A95315-FD88-415C-8DBC-08A195B4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574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0291"/>
          </a:bodyPr>
          <a:lstStyle xmlns:a="http://schemas.openxmlformats.org/drawingml/2006/main"/>
          <a:p xmlns:a="http://schemas.openxmlformats.org/drawingml/2006/main">
            <a:pPr algn="l">
              <a:defRPr sz="295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958" b="1" i="0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Fender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2839A4-8931-4D72-B808-50E36BB9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146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49" b="1" i="0">
                <a:solidFill>
                  <a:srgbClr val="F06455"/>
                </a:solidFill>
                <a:latin typeface="Aptos"/>
                <a:ea typeface="Aptos"/>
                <a:cs typeface="Aptos"/>
              </a:defRPr>
            </a:pPr>
            <a:r>
              <a:rPr sz="1349" b="1" i="0">
                <a:solidFill>
                  <a:srgbClr val="F06455"/>
                </a:solidFill>
                <a:latin typeface="Aptos"/>
                <a:ea typeface="Aptos"/>
                <a:cs typeface="Aptos"/>
              </a:rPr>
              <a:t>Hardware trust route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D50F04-814E-4098-B4B3-D429B9CB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14700"/>
            <a:ext cx="4229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3"/>
          </a:solidFill>
          <a:ln xmlns:a="http://schemas.openxmlformats.org/drawingml/2006/main" w="9525">
            <a:solidFill>
              <a:srgbClr val="E3E8D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98A763-CA90-419C-8F95-956845A6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09950"/>
            <a:ext cx="112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44" b="1" i="0">
                <a:solidFill>
                  <a:srgbClr val="F06455"/>
                </a:solidFill>
                <a:latin typeface="Aptos"/>
                <a:ea typeface="Aptos"/>
                <a:cs typeface="Aptos"/>
              </a:defRPr>
            </a:pPr>
            <a:r>
              <a:rPr sz="1044" b="1" i="0">
                <a:solidFill>
                  <a:srgbClr val="F06455"/>
                </a:solidFill>
                <a:latin typeface="Aptos"/>
                <a:ea typeface="Aptos"/>
                <a:cs typeface="Aptos"/>
              </a:rPr>
              <a:t>What they are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906E04-09C7-4E11-B4FE-EC925B25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099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418"/>
          </a:bodyPr>
          <a:lstStyle xmlns:a="http://schemas.openxmlformats.org/drawingml/2006/main"/>
          <a:p xmlns:a="http://schemas.openxmlformats.org/drawingml/2006/main">
            <a:pPr algn="l">
              <a:defRPr sz="1305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305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Instrument brand with beginner trust and software route options.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FBBD7B-7A1F-48C7-8F16-F4FC7A396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00500"/>
            <a:ext cx="4229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3"/>
          </a:solidFill>
          <a:ln xmlns:a="http://schemas.openxmlformats.org/drawingml/2006/main" w="9525">
            <a:solidFill>
              <a:srgbClr val="E3E8D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8E996E-7D48-48D6-B05C-2E8C7AD4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112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44" b="1" i="0">
                <a:solidFill>
                  <a:srgbClr val="F06455"/>
                </a:solidFill>
                <a:latin typeface="Aptos"/>
                <a:ea typeface="Aptos"/>
                <a:cs typeface="Aptos"/>
              </a:defRPr>
            </a:pPr>
            <a:r>
              <a:rPr sz="1044" b="1" i="0">
                <a:solidFill>
                  <a:srgbClr val="F06455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1720B5-923C-4E4C-8AD3-33C89605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957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418"/>
          </a:bodyPr>
          <a:lstStyle xmlns:a="http://schemas.openxmlformats.org/drawingml/2006/main"/>
          <a:p xmlns:a="http://schemas.openxmlformats.org/drawingml/2006/main">
            <a:pPr algn="l">
              <a:defRPr sz="1305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305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Can influence access, confidence, bundles and channel strategy.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918CF82-75B5-45E7-903C-F038E277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86300"/>
            <a:ext cx="4229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3"/>
          </a:solidFill>
          <a:ln xmlns:a="http://schemas.openxmlformats.org/drawingml/2006/main" w="9525">
            <a:solidFill>
              <a:srgbClr val="E3E8D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3D360D3-7F21-46CE-B312-E4C390CB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81550"/>
            <a:ext cx="112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44" b="1" i="0">
                <a:solidFill>
                  <a:srgbClr val="F06455"/>
                </a:solidFill>
                <a:latin typeface="Aptos"/>
                <a:ea typeface="Aptos"/>
                <a:cs typeface="Aptos"/>
              </a:defRPr>
            </a:pPr>
            <a:r>
              <a:rPr sz="1044" b="1" i="0">
                <a:solidFill>
                  <a:srgbClr val="F06455"/>
                </a:solidFill>
                <a:latin typeface="Aptos"/>
                <a:ea typeface="Aptos"/>
                <a:cs typeface="Aptos"/>
              </a:rPr>
              <a:t>Decision read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F89670-6EAE-46E9-8FDE-6DBFFA8F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7815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418"/>
          </a:bodyPr>
          <a:lstStyle xmlns:a="http://schemas.openxmlformats.org/drawingml/2006/main"/>
          <a:p xmlns:a="http://schemas.openxmlformats.org/drawingml/2006/main">
            <a:pPr algn="l">
              <a:defRPr sz="1305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305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Compare route power and fit, not app parity.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DD3324-958F-4AFF-BACE-14B431DF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6197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8F1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B60CEC7-B62B-49C4-BA6C-9EDCB15C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86425"/>
            <a:ext cx="1295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6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826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Simply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8DE0540-BF1D-41A3-BDE8-AC17BAEB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5EE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4067DF-5D09-4C04-B865-34102008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686425"/>
            <a:ext cx="1295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6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826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Ultimate Guitar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CCE6C0E-866B-4021-908B-C02C9413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6197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8F1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01DEEB7-1653-4004-B48C-7425F9FC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86425"/>
            <a:ext cx="1295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6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826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Duolingo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252FAF7-ED11-4861-B8B1-F1D2AC09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6197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5EE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8A1063E-363F-4AE0-A489-1F8D2A38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686425"/>
            <a:ext cx="1295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6" b="1" i="0">
                <a:solidFill>
                  <a:srgbClr val="1F5A4E"/>
                </a:solidFill>
                <a:latin typeface="Aptos"/>
                <a:ea typeface="Aptos"/>
                <a:cs typeface="Aptos"/>
              </a:defRPr>
            </a:pPr>
            <a:r>
              <a:rPr sz="826" b="1" i="0">
                <a:solidFill>
                  <a:srgbClr val="1F5A4E"/>
                </a:solidFill>
                <a:latin typeface="Aptos"/>
                <a:ea typeface="Aptos"/>
                <a:cs typeface="Aptos"/>
              </a:rPr>
              <a:t>Fender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7E698CF-A43D-4186-BCE1-46421317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6000750"/>
            <a:ext cx="8839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8D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8C2AAB4-AD30-49B2-9D7E-83BF9872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6000750"/>
            <a:ext cx="76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A392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B9D6E0F-4C89-4F19-93E8-2FBCFDF7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6115050"/>
            <a:ext cx="1371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01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01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Section design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48CBD81-BA1D-400B-9BB6-3D31EE3E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086475"/>
            <a:ext cx="6781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7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887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Report and workbook: four first-pass profiles. Long-tail records remain visible in the database until triage expands scope.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DAEB409-D54C-4218-9D34-DD923C53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5" b="0" i="0">
                <a:solidFill>
                  <a:srgbClr val="74837C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74837C"/>
                </a:solidFill>
                <a:latin typeface="Aptos"/>
                <a:ea typeface="Aptos"/>
                <a:cs typeface="Aptos"/>
              </a:rPr>
              <a:t>Source: key-player profiles final v3.9 and relationship input template.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FF71F54-51D2-46B0-BCF0-D632861B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5" b="0" i="0">
                <a:solidFill>
                  <a:srgbClr val="5F7068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5F7068"/>
                </a:solidFill>
                <a:latin typeface="Aptos"/>
                <a:ea typeface="Aptos"/>
                <a:cs typeface="Aptos"/>
              </a:rPr>
              <a:t>Yousician Strategic Environment Mapping</a:t>
            </a:r>
          </a:p>
        </p:txBody>
      </p:sp>
    </p:spTree>
    <p:extLst>
      <p:ext uri="{BB962C8B-B14F-4D97-AF65-F5344CB8AC3E}">
        <p14:creationId xmlns:p14="http://schemas.microsoft.com/office/powerpoint/2010/main" val="85588949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B6D5D9-A4FE-4666-AC28-81A77387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D1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B712B6-D94F-4502-9AF0-2F67C9AA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33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F280F0-49F4-40CE-BBC4-B256BFE5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33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5609D2-184D-4F82-B10E-8BBDF33B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33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1466AD-5502-4B0C-909E-F8A88403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33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335127-BE30-4084-84E7-F837F7FB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33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41FE8C-BD0D-407E-A369-B26833BB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D2F6B2-B599-4FE5-82AA-38BF5814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9575"/>
            <a:ext cx="9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872"/>
          </a:bodyPr>
          <a:lstStyle xmlns:a="http://schemas.openxmlformats.org/drawingml/2006/main"/>
          <a:p xmlns:a="http://schemas.openxmlformats.org/drawingml/2006/main">
            <a:pPr algn="ctr">
              <a:defRPr sz="62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62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CE83A0-117E-4FF7-A2FD-B0377E70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31" b="1" i="0">
                <a:solidFill>
                  <a:srgbClr val="00D49A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00D49A"/>
                </a:solidFill>
                <a:latin typeface="Aptos"/>
                <a:ea typeface="Aptos"/>
                <a:cs typeface="Aptos"/>
              </a:rPr>
              <a:t>EXECUTIVE SYNTHESIS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C7789E-4373-44F1-8888-157B38C8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10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31" b="1" i="0">
                <a:solidFill>
                  <a:srgbClr val="B8CCC5"/>
                </a:solidFill>
                <a:latin typeface="Aptos"/>
                <a:ea typeface="Aptos"/>
                <a:cs typeface="Aptos"/>
              </a:defRPr>
            </a:pPr>
            <a:r>
              <a:rPr sz="731" b="1" i="0">
                <a:solidFill>
                  <a:srgbClr val="B8CCC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527DE0-EE70-437E-80DF-6D071A30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2615"/>
          </a:bodyPr>
          <a:lstStyle xmlns:a="http://schemas.openxmlformats.org/drawingml/2006/main"/>
          <a:p xmlns:a="http://schemas.openxmlformats.org/drawingml/2006/main">
            <a:pPr algn="l">
              <a:defRPr sz="348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8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Bottom line: Yousician's environment is broader than the app category.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EC93C8-DC71-4E7E-B1C1-67B502BF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885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5" b="0" i="0">
                <a:solidFill>
                  <a:srgbClr val="BED1CA"/>
                </a:solidFill>
                <a:latin typeface="Aptos"/>
                <a:ea typeface="Aptos"/>
                <a:cs typeface="Aptos"/>
              </a:defRPr>
            </a:pPr>
            <a:r>
              <a:rPr sz="1305" b="0" i="0">
                <a:solidFill>
                  <a:srgbClr val="BED1CA"/>
                </a:solidFill>
                <a:latin typeface="Aptos"/>
                <a:ea typeface="Aptos"/>
                <a:cs typeface="Aptos"/>
              </a:rPr>
              <a:t>The strategic field is shaped by learning apps, song and practice ecosystems, AI utilities, creator trust, hardware funnels, capital and culture.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B981A2-84B3-4C5F-991F-20797B4A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4343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E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F76AEB-30F0-4B09-BD6E-2110C24E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9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9A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CEB60B-44FF-4DC9-9517-FBB2E50B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5336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803"/>
          </a:bodyPr>
          <a:lstStyle xmlns:a="http://schemas.openxmlformats.org/drawingml/2006/main"/>
          <a:p xmlns:a="http://schemas.openxmlformats.org/drawingml/2006/main">
            <a:pPr algn="l">
              <a:defRPr sz="1566" b="1" i="0">
                <a:solidFill>
                  <a:srgbClr val="00D49A"/>
                </a:solidFill>
                <a:latin typeface="Aptos Display"/>
                <a:ea typeface="Aptos Display"/>
                <a:cs typeface="Aptos Display"/>
              </a:defRPr>
            </a:pPr>
            <a:r>
              <a:rPr sz="1566" b="1" i="0">
                <a:solidFill>
                  <a:srgbClr val="00D49A"/>
                </a:solidFill>
                <a:latin typeface="Aptos Display"/>
                <a:ea typeface="Aptos Display"/>
                <a:cs typeface="Aptos Display"/>
              </a:rPr>
              <a:t>Music learning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0711DF-3914-4ED5-ADB9-80F91BB2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514600"/>
            <a:ext cx="1657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6505"/>
          </a:bodyPr>
          <a:lstStyle xmlns:a="http://schemas.openxmlformats.org/drawingml/2006/main"/>
          <a:p xmlns:a="http://schemas.openxmlformats.org/drawingml/2006/main">
            <a:pPr algn="l">
              <a:defRPr sz="853" b="0" i="0">
                <a:solidFill>
                  <a:srgbClr val="D6E4DE"/>
                </a:solidFill>
                <a:latin typeface="Aptos"/>
                <a:ea typeface="Aptos"/>
                <a:cs typeface="Aptos"/>
              </a:defRPr>
            </a:pPr>
            <a:r>
              <a:rPr sz="853" b="0" i="0">
                <a:solidFill>
                  <a:srgbClr val="D6E4DE"/>
                </a:solidFill>
                <a:latin typeface="Aptos"/>
                <a:ea typeface="Aptos"/>
                <a:cs typeface="Aptos"/>
              </a:rPr>
              <a:t>Learning apps, song/practice systems, AI utilities, hardware funnels, teachers and creator educators shape the future.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028A9C-EEF2-4F93-A136-67F356D5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43150"/>
            <a:ext cx="4343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E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5491C6-84CC-45C2-8D4B-5657213E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43150"/>
            <a:ext cx="9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55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88EC3-D473-4883-AD4F-759B7283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336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803"/>
          </a:bodyPr>
          <a:lstStyle xmlns:a="http://schemas.openxmlformats.org/drawingml/2006/main"/>
          <a:p xmlns:a="http://schemas.openxmlformats.org/drawingml/2006/main">
            <a:pPr algn="l">
              <a:defRPr sz="1566" b="1" i="0">
                <a:solidFill>
                  <a:srgbClr val="F06455"/>
                </a:solidFill>
                <a:latin typeface="Aptos Display"/>
                <a:ea typeface="Aptos Display"/>
                <a:cs typeface="Aptos Display"/>
              </a:defRPr>
            </a:pPr>
            <a:r>
              <a:rPr sz="1566" b="1" i="0">
                <a:solidFill>
                  <a:srgbClr val="F06455"/>
                </a:solidFill>
                <a:latin typeface="Aptos Display"/>
                <a:ea typeface="Aptos Display"/>
                <a:cs typeface="Aptos Display"/>
              </a:rPr>
              <a:t>Successful actors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AF034D-C296-49A7-BF01-F67311EB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14600"/>
            <a:ext cx="1657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4222"/>
          </a:bodyPr>
          <a:lstStyle xmlns:a="http://schemas.openxmlformats.org/drawingml/2006/main"/>
          <a:p xmlns:a="http://schemas.openxmlformats.org/drawingml/2006/main">
            <a:pPr algn="l">
              <a:defRPr sz="853" b="0" i="0">
                <a:solidFill>
                  <a:srgbClr val="D6E4DE"/>
                </a:solidFill>
                <a:latin typeface="Aptos"/>
                <a:ea typeface="Aptos"/>
                <a:cs typeface="Aptos"/>
              </a:defRPr>
            </a:pPr>
            <a:r>
              <a:rPr sz="853" b="0" i="0">
                <a:solidFill>
                  <a:srgbClr val="D6E4DE"/>
                </a:solidFill>
                <a:latin typeface="Aptos"/>
                <a:ea typeface="Aptos"/>
                <a:cs typeface="Aptos"/>
              </a:rPr>
              <a:t>Success is visible through habit, repertoire, trust, reach, utility and momentum; app-performance ranking requires Appfigures.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4317A7-2ADC-4376-9D04-90CBAFD2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95700"/>
            <a:ext cx="4343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E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B15B6C-00D3-4B0A-BE1C-B84BAAB2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95700"/>
            <a:ext cx="9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3F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D156FD-85E4-4159-B848-9BA47E91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86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803"/>
          </a:bodyPr>
          <a:lstStyle xmlns:a="http://schemas.openxmlformats.org/drawingml/2006/main"/>
          <a:p xmlns:a="http://schemas.openxmlformats.org/drawingml/2006/main">
            <a:pPr algn="l">
              <a:defRPr sz="1566" b="1" i="0">
                <a:solidFill>
                  <a:srgbClr val="FFBF3F"/>
                </a:solidFill>
                <a:latin typeface="Aptos Display"/>
                <a:ea typeface="Aptos Display"/>
                <a:cs typeface="Aptos Display"/>
              </a:defRPr>
            </a:pPr>
            <a:r>
              <a:rPr sz="1566" b="1" i="0">
                <a:solidFill>
                  <a:srgbClr val="FFBF3F"/>
                </a:solidFill>
                <a:latin typeface="Aptos Display"/>
                <a:ea typeface="Aptos Display"/>
                <a:cs typeface="Aptos Display"/>
              </a:rPr>
              <a:t>Music as a hobby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B123F7-D03E-4C6B-B9D3-E246BF94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867150"/>
            <a:ext cx="1657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2012"/>
          </a:bodyPr>
          <a:lstStyle xmlns:a="http://schemas.openxmlformats.org/drawingml/2006/main"/>
          <a:p xmlns:a="http://schemas.openxmlformats.org/drawingml/2006/main">
            <a:pPr algn="l">
              <a:defRPr sz="853" b="0" i="0">
                <a:solidFill>
                  <a:srgbClr val="D6E4DE"/>
                </a:solidFill>
                <a:latin typeface="Aptos"/>
                <a:ea typeface="Aptos"/>
                <a:cs typeface="Aptos"/>
              </a:defRPr>
            </a:pPr>
            <a:r>
              <a:rPr sz="853" b="0" i="0">
                <a:solidFill>
                  <a:srgbClr val="D6E4DE"/>
                </a:solidFill>
                <a:latin typeface="Aptos"/>
                <a:ea typeface="Aptos"/>
                <a:cs typeface="Aptos"/>
              </a:rPr>
              <a:t>Attention platforms, song libraries, creator tools, artists and cultural moments shape demand around learning.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9B1E13-8C2C-48BB-962F-1E4624CE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343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1E"/>
          </a:solidFill>
          <a:ln xmlns:a="http://schemas.openxmlformats.org/drawingml/2006/main" w="9525">
            <a:solidFill>
              <a:srgbClr val="31574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926B33-F660-45FC-9175-1624AA7A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9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DF6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D5BD95-48EA-449A-AC76-77DCDECF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86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5299"/>
          </a:bodyPr>
          <a:lstStyle xmlns:a="http://schemas.openxmlformats.org/drawingml/2006/main"/>
          <a:p xmlns:a="http://schemas.openxmlformats.org/drawingml/2006/main">
            <a:pPr algn="l">
              <a:defRPr sz="1566" b="1" i="0">
                <a:solidFill>
                  <a:srgbClr val="4C8DF6"/>
                </a:solidFill>
                <a:latin typeface="Aptos Display"/>
                <a:ea typeface="Aptos Display"/>
                <a:cs typeface="Aptos Display"/>
              </a:defRPr>
            </a:pPr>
            <a:r>
              <a:rPr sz="1566" b="1" i="0">
                <a:solidFill>
                  <a:srgbClr val="4C8DF6"/>
                </a:solidFill>
                <a:latin typeface="Aptos Display"/>
                <a:ea typeface="Aptos Display"/>
                <a:cs typeface="Aptos Display"/>
              </a:rPr>
              <a:t>Strategic environment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DB3153-D622-487D-ACB8-7453DD49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67150"/>
            <a:ext cx="1657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3271"/>
          </a:bodyPr>
          <a:lstStyle xmlns:a="http://schemas.openxmlformats.org/drawingml/2006/main"/>
          <a:p xmlns:a="http://schemas.openxmlformats.org/drawingml/2006/main">
            <a:pPr algn="l">
              <a:defRPr sz="853" b="0" i="0">
                <a:solidFill>
                  <a:srgbClr val="D6E4DE"/>
                </a:solidFill>
                <a:latin typeface="Aptos"/>
                <a:ea typeface="Aptos"/>
                <a:cs typeface="Aptos"/>
              </a:defRPr>
            </a:pPr>
            <a:r>
              <a:rPr sz="853" b="0" i="0">
                <a:solidFill>
                  <a:srgbClr val="D6E4DE"/>
                </a:solidFill>
                <a:latin typeface="Aptos"/>
                <a:ea typeface="Aptos"/>
                <a:cs typeface="Aptos"/>
              </a:rPr>
              <a:t>AI companies, rights owners, hardware brands, media, investors, awards, funding bodies and education standards define the wider field.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E8E58B-BD21-48B4-92BB-954509CF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391150"/>
            <a:ext cx="9448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8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881D72-5324-480A-AFB9-F59E20E4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581650"/>
            <a:ext cx="1238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8647"/>
          </a:bodyPr>
          <a:lstStyle xmlns:a="http://schemas.openxmlformats.org/drawingml/2006/main"/>
          <a:p xmlns:a="http://schemas.openxmlformats.org/drawingml/2006/main">
            <a:pPr algn="l">
              <a:defRPr sz="887" b="1" i="0">
                <a:solidFill>
                  <a:srgbClr val="11A392"/>
                </a:solidFill>
                <a:latin typeface="Aptos"/>
                <a:ea typeface="Aptos"/>
                <a:cs typeface="Aptos"/>
              </a:defRPr>
            </a:pPr>
            <a:r>
              <a:rPr sz="887" b="1" i="0">
                <a:solidFill>
                  <a:srgbClr val="11A392"/>
                </a:solidFill>
                <a:latin typeface="Aptos"/>
                <a:ea typeface="Aptos"/>
                <a:cs typeface="Aptos"/>
              </a:rPr>
              <a:t>Only open inputs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5850C4-1433-42A5-A14D-B4CFF0D5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495925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2232"/>
          </a:bodyPr>
          <a:lstStyle xmlns:a="http://schemas.openxmlformats.org/drawingml/2006/main"/>
          <a:p xmlns:a="http://schemas.openxmlformats.org/drawingml/2006/main">
            <a:pPr algn="l">
              <a:defRPr sz="1096" b="1" i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96" b="1" i="0">
                <a:solidFill>
                  <a:srgbClr val="10231F"/>
                </a:solidFill>
                <a:latin typeface="Aptos"/>
                <a:ea typeface="Aptos"/>
                <a:cs typeface="Aptos"/>
              </a:rPr>
              <a:t>App-performance ranking needs Appfigures; relationship status remains for Yousician owner input. The market map itself is ready for first read.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2EBF59-734E-4039-943C-B0A1BEDC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5" b="0" i="0">
                <a:solidFill>
                  <a:srgbClr val="819A93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819A93"/>
                </a:solidFill>
                <a:latin typeface="Aptos"/>
                <a:ea typeface="Aptos"/>
                <a:cs typeface="Aptos"/>
              </a:rPr>
              <a:t>Source: executive synthesis and brief-aligned category coverage.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7E8A1D-995A-4A3D-856F-5F063F9F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5" b="0" i="0">
                <a:solidFill>
                  <a:srgbClr val="9BB5AC"/>
                </a:solidFill>
                <a:latin typeface="Aptos"/>
                <a:ea typeface="Aptos"/>
                <a:cs typeface="Aptos"/>
              </a:defRPr>
            </a:pPr>
            <a:r>
              <a:rPr sz="635" b="0" i="0">
                <a:solidFill>
                  <a:srgbClr val="9BB5AC"/>
                </a:solidFill>
                <a:latin typeface="Aptos"/>
                <a:ea typeface="Aptos"/>
                <a:cs typeface="Aptos"/>
              </a:rPr>
              <a:t>Yousician Strategic Environment Mapping</a:t>
            </a:r>
          </a:p>
        </p:txBody>
      </p:sp>
    </p:spTree>
    <p:extLst>
      <p:ext uri="{BB962C8B-B14F-4D97-AF65-F5344CB8AC3E}">
        <p14:creationId xmlns:p14="http://schemas.microsoft.com/office/powerpoint/2010/main" val="11389456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2026-06-22T10:00:13.8910000Z</dcterms:created>
  <dcterms:modified xsi:type="dcterms:W3CDTF">2026-06-22T10:00:13.8910000Z</dcterms:modified>
</coreProperties>
</file>